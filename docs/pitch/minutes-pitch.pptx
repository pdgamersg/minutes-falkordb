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40db19d-1e01-56a8-8a0f-8c5596e4e018}">
          <p14:sldIdLst>
            <p14:sldId id="256"/>
          </p14:sldIdLst>
        </p14:section>
        <p14:section name="Problem and product" id="{b253f3bd-ad82-799c-ddc8-a9a0bfe9dfea}">
          <p14:sldIdLst>
            <p14:sldId id="257"/>
            <p14:sldId id="258"/>
          </p14:sldIdLst>
        </p14:section>
        <p14:section name="How it works" id="{05a10b3d-93ff-ca40-6eea-bdfa1e739beb}">
          <p14:sldIdLst>
            <p14:sldId id="259"/>
            <p14:sldId id="260"/>
            <p14:sldId id="261"/>
          </p14:sldIdLst>
        </p14:section>
        <p14:section name="Trust and scale" id="{628691ac-46bc-4d48-88f5-0ccc1a0d557c}">
          <p14:sldIdLst>
            <p14:sldId id="262"/>
            <p14:sldId id="263"/>
            <p14:sldId id="264"/>
            <p14:sldId id="265"/>
          </p14:sldIdLst>
        </p14:section>
        <p14:section name="Close" id="{e74a62cd-e02b-1c39-3acb-1324a471f67e}">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82138"/>
                </a:solidFill>
                <a:latin typeface="+mn-lt"/>
              </a:defRPr>
            </a:pPr>
            <a:r>
              <a:rPr sz="1200" b="0" i="0" u="none" strike="noStrike">
                <a:solidFill>
                  <a:srgbClr val="182138"/>
                </a:solidFill>
                <a:latin typeface="+mn-lt"/>
              </a:rPr>
              <a:t>Extraction, strict match (16 files, 108 gold items)</a:t>
            </a:r>
          </a:p>
        </c:rich>
      </c:tx>
      <c:layout/>
      <c:overlay val="0"/>
    </c:title>
    <c:autoTitleDeleted val="0"/>
    <c:plotArea>
      <c:layout/>
      <c:barChart>
        <c:barDir val="col"/>
        <c:grouping val="clustered"/>
        <c:varyColors val="0"/>
        <c:ser>
          <c:idx val="0"/>
          <c:order val="0"/>
          <c:tx>
            <c:strRef>
              <c:f>Sheet1!$B$1</c:f>
              <c:strCache>
                <c:ptCount val="1"/>
                <c:pt idx="0">
                  <c:v>Measured</c:v>
                </c:pt>
              </c:strCache>
            </c:strRef>
          </c:tx>
          <c:spPr>
            <a:solidFill>
              <a:srgbClr val="3155ED"/>
            </a:solidFill>
            <a:effectLst/>
          </c:spPr>
          <c:invertIfNegative val="0"/>
          <c:dLbls>
            <c:numFmt formatCode="0.00;;;" sourceLinked="0"/>
            <c:txPr>
              <a:bodyPr/>
              <a:lstStyle/>
              <a:p>
                <a:pPr>
                  <a:defRPr b="0" i="0" strike="noStrike" sz="1100" u="none">
                    <a:solidFill>
                      <a:srgbClr val="182138"/>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F1</c:v>
                  </c:pt>
                </c:lvl>
              </c:multiLvlStrCache>
            </c:multiLvlStrRef>
          </c:cat>
          <c:val>
            <c:numRef>
              <c:f>Sheet1!$B$2:$B$4</c:f>
              <c:numCache>
                <c:formatCode>General</c:formatCode>
                <c:ptCount val="3"/>
                <c:pt idx="0">
                  <c:v>0.42</c:v>
                </c:pt>
                <c:pt idx="1">
                  <c:v>0.59</c:v>
                </c:pt>
                <c:pt idx="2">
                  <c:v>0.49</c:v>
                </c:pt>
              </c:numCache>
            </c:numRef>
          </c:val>
        </c:ser>
        <c:ser>
          <c:idx val="1"/>
          <c:order val="1"/>
          <c:tx>
            <c:strRef>
              <c:f>Sheet1!$C$1</c:f>
              <c:strCache>
                <c:ptCount val="1"/>
                <c:pt idx="0">
                  <c:v>Goal</c:v>
                </c:pt>
              </c:strCache>
            </c:strRef>
          </c:tx>
          <c:spPr>
            <a:solidFill>
              <a:srgbClr val="B8C6FA"/>
            </a:solidFill>
            <a:effectLst/>
          </c:spPr>
          <c:invertIfNegative val="0"/>
          <c:dLbls>
            <c:numFmt formatCode="0.00;;;" sourceLinked="0"/>
            <c:txPr>
              <a:bodyPr/>
              <a:lstStyle/>
              <a:p>
                <a:pPr>
                  <a:defRPr b="0" i="0" strike="noStrike" sz="1100" u="none">
                    <a:solidFill>
                      <a:srgbClr val="182138"/>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F1</c:v>
                  </c:pt>
                </c:lvl>
              </c:multiLvlStrCache>
            </c:multiLvlStrRef>
          </c:cat>
          <c:val>
            <c:numRef>
              <c:f>Sheet1!$C$2:$C$4</c:f>
              <c:numCache>
                <c:formatCode>General</c:formatCode>
                <c:ptCount val="3"/>
                <c:pt idx="0">
                  <c:v>0.8</c:v>
                </c:pt>
                <c:pt idx="1">
                  <c:v>0.7</c:v>
                </c:pt>
                <c:pt idx="2">
                  <c:v>0</c:v>
                </c:pt>
              </c:numCache>
            </c:numRef>
          </c:val>
        </c:ser>
        <c:dLbls>
          <c:numFmt formatCode="0.00;;;" sourceLinked="0"/>
          <c:txPr>
            <a:bodyPr/>
            <a:lstStyle/>
            <a:p>
              <a:pPr>
                <a:defRPr b="0" i="0" strike="noStrike" sz="1100" u="none">
                  <a:solidFill>
                    <a:srgbClr val="18213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8213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7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6607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6607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a shared, time-aware memory for a team and its agents, built on FalkorDB. Team Vulcan, Graph Hacks 2026, Tracks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agents forget between sessions, facts change across sources, and an answer without provenance is a liability. The UPI example: three different due dates in the Orbit corpus, spoken and written by Priya.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Meetings and emails become episodes. Facts are extracted and stored bi-temporally. Routines become skills. Agents coordinate on the same graph: claim, hand off, wake via Redis pub/sub. Remove FalkorDB and nothing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graph per team, team_&lt;slug&gt;. Episodes chained by NEXT carry speaker attribution. Facts are bi-temporal and superseded, never deleted. Skills learned from recurring standups. Tasks with a version for compare-and-set. All timestamps are epoch milliseconds. Entity and MENTIONS are omitted from the drawing for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subject and predicate, UPI flow due, changes three times: twice in speech, once in email. The old fact is expired with valid_to and expired_at and linked by SUPERSEDES across sources. Belief at Sept 10, 16 and 20 returns the 24th, 25th and 28th; verified after live import of standup 1 mid-chain.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is compare-and-set on the task version in one Cypher write. Zero rows means another agent won. The handoff is an edge that carries the ids of the subgraph the receiver should read, not just a summary string. Agents wake over Redis pub/sub on the same FalkorDB server. Demo: 25 agents race, 1 winner, 24 losers.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Why panel answers: which query ran, how the router decided, and which sources back the answer. Old versions stay visible in the history. Each source opens the email message or jumps to the transcript at its timestamp.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team has its own graph and two ACL users. The demo probe: Orbit's read-only user runs GRAPH.RO_QUERY on team_nimbus and gets NOPERM. The API itself does not authenticate users yet; that is listed as a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packages/hiveboard/bench/harness.py. Same-machine comparison of engines, alternating runs. The single-graph rows show per-graph write serialisation, which is why Minutes uses one graph per team. The 200 by 20 run needed MAX_QUEUED_QUERIES raised to 1000; compose sets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from building on 6.0.1, each with a reproduction captured on 2026-10-03. They are drafts and have not been posted to the FalkorDB repository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quality is the main open problem: the target was 0.80 precision and 0.70 recall. Strict matching counts a rephrased subject as a miss plus a false positive. The canonical subject list was derived from the gold subjects. Free-tier rate limit: 16k input tokens per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Minutes enters Track 2, Agent Memory and Coordination, as primary, and Track 3, Company Brain. Open models: Gemma 4 and EmbeddingGemma. Open-source graph database: FalkorDB.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188720"/>
          </a:xfrm>
          <a:prstGeom prst="rect">
            <a:avLst/>
          </a:prstGeom>
          <a:noFill/>
          <a:ln/>
        </p:spPr>
        <p:txBody>
          <a:bodyPr wrap="square" rtlCol="0"/>
          <a:lstStyle>
            <a:lvl1pPr algn="l" indent="0" marL="0">
              <a:buNone/>
              <a:defRPr lang="en-US" sz="6600" b="1" dirty="0">
                <a:solidFill>
                  <a:schemeClr val="tx1"/>
                </a:solidFill>
              </a:defRPr>
            </a:lvl1pPr>
          </a:lstStyle>
          <a:p>
            <a:pPr algn="l" indent="0" marL="0">
              <a:buNone/>
            </a:pPr>
            <a:endParaRPr lang="en-US" sz="6600" dirty="0"/>
          </a:p>
        </p:txBody>
      </p:sp>
      <p:sp>
        <p:nvSpPr>
          <p:cNvPr id="3" name="Text 0"/>
          <p:cNvSpPr/>
          <p:nvPr>
            <p:ph idx="101" type="body" hasCustomPrompt="1"/>
          </p:nvPr>
        </p:nvSpPr>
        <p:spPr>
          <a:xfrm>
            <a:off x="731520" y="3200400"/>
            <a:ext cx="6766560" cy="1371600"/>
          </a:xfrm>
          <a:prstGeom prst="rect">
            <a:avLst/>
          </a:prstGeom>
          <a:noFill/>
          <a:ln/>
        </p:spPr>
        <p:txBody>
          <a:bodyPr wrap="square" rtlCol="0"/>
          <a:lstStyle>
            <a:lvl1pPr algn="l" indent="0" marL="0">
              <a:buNone/>
              <a:defRPr lang="en-US" sz="2200" dirty="0">
                <a:solidFill>
                  <a:schemeClr val="tx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Minutes · Team Vulcan · Graph Hacks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949440" cy="1188720"/>
          </a:xfrm>
          <a:prstGeom prst="rect">
            <a:avLst/>
          </a:prstGeom>
          <a:noFill/>
          <a:ln/>
        </p:spPr>
        <p:txBody>
          <a:bodyPr wrap="square" lIns="0" tIns="0" rIns="0" bIns="0" rtlCol="0" anchor="b"/>
          <a:lstStyle/>
          <a:p>
            <a:pPr algn="l" indent="0" marL="0">
              <a:buNone/>
            </a:pPr>
            <a:r>
              <a:rPr lang="en-US" sz="6600" b="1" dirty="0">
                <a:solidFill>
                  <a:schemeClr val="tx1"/>
                </a:solidFill>
              </a:rPr>
              <a:t>Minutes</a:t>
            </a:r>
            <a:endParaRPr lang="en-US" sz="6600" dirty="0"/>
          </a:p>
        </p:txBody>
      </p:sp>
      <p:sp>
        <p:nvSpPr>
          <p:cNvPr id="3" name="Text 0"/>
          <p:cNvSpPr/>
          <p:nvPr>
            <p:ph idx="101" type="body" hasCustomPrompt="1"/>
          </p:nvPr>
        </p:nvSpPr>
        <p:spPr>
          <a:xfrm>
            <a:off x="731520" y="3200400"/>
            <a:ext cx="6766560" cy="1371600"/>
          </a:xfrm>
          <a:prstGeom prst="rect">
            <a:avLst/>
          </a:prstGeom>
          <a:noFill/>
          <a:ln/>
        </p:spPr>
        <p:txBody>
          <a:bodyPr wrap="square" lIns="0" tIns="0" rIns="0" bIns="0" rtlCol="0" anchor="t"/>
          <a:lstStyle/>
          <a:p>
            <a:pPr algn="l" indent="0" marL="0">
              <a:buNone/>
            </a:pPr>
            <a:r>
              <a:rPr lang="en-US" sz="2200" dirty="0">
                <a:solidFill>
                  <a:schemeClr val="tx2"/>
                </a:solidFill>
              </a:rPr>
              <a:t>A shared, time-aware memory for a team and its agents. Every answer traces back to who said it, where, and when.</a:t>
            </a:r>
            <a:endParaRPr lang="en-US" sz="2200" dirty="0"/>
          </a:p>
        </p:txBody>
      </p:sp>
      <p:sp>
        <p:nvSpPr>
          <p:cNvPr id="4" name="text-1"/>
          <p:cNvSpPr txBox="1"/>
          <p:nvPr/>
        </p:nvSpPr>
        <p:spPr>
          <a:xfrm>
            <a:off x="731520" y="5394960"/>
            <a:ext cx="7498080" cy="365760"/>
          </a:xfrm>
          <a:prstGeom prst="rect">
            <a:avLst/>
          </a:prstGeom>
          <a:noFill/>
          <a:ln/>
        </p:spPr>
        <p:txBody>
          <a:bodyPr wrap="square" lIns="0" tIns="0" rIns="0" bIns="0" rtlCol="0" anchor="t"/>
          <a:lstStyle/>
          <a:p>
            <a:pPr indent="0" marL="0">
              <a:buNone/>
            </a:pPr>
            <a:r>
              <a:rPr lang="en-US" sz="1600" b="1" dirty="0">
                <a:solidFill>
                  <a:schemeClr val="tx1"/>
                </a:solidFill>
              </a:rPr>
              <a:t>Team Vulcan</a:t>
            </a:r>
            <a:pPr indent="0" marL="0">
              <a:buNone/>
            </a:pPr>
            <a:r>
              <a:rPr lang="en-US" sz="1600" dirty="0">
                <a:solidFill>
                  <a:schemeClr val="tx2"/>
                </a:solidFill>
              </a:rPr>
              <a:t>  ·  Graph Hacks: Context for AI Agents 2026  ·  Tracks 2 and 3</a:t>
            </a:r>
            <a:endParaRPr lang="en-US" sz="1600" dirty="0"/>
          </a:p>
        </p:txBody>
      </p:sp>
      <p:sp>
        <p:nvSpPr>
          <p:cNvPr id="5" name="node-2"/>
          <p:cNvSpPr txBox="1"/>
          <p:nvPr/>
        </p:nvSpPr>
        <p:spPr>
          <a:xfrm>
            <a:off x="8229600" y="1554480"/>
            <a:ext cx="146304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Meeting</a:t>
            </a:r>
            <a:endParaRPr lang="en-US" sz="1300" dirty="0"/>
          </a:p>
        </p:txBody>
      </p:sp>
      <p:sp>
        <p:nvSpPr>
          <p:cNvPr id="6" name="node-3"/>
          <p:cNvSpPr txBox="1"/>
          <p:nvPr/>
        </p:nvSpPr>
        <p:spPr>
          <a:xfrm>
            <a:off x="10149840" y="1554480"/>
            <a:ext cx="146304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Email</a:t>
            </a:r>
            <a:endParaRPr lang="en-US" sz="1300" dirty="0"/>
          </a:p>
        </p:txBody>
      </p:sp>
      <p:sp>
        <p:nvSpPr>
          <p:cNvPr id="7" name="node-4"/>
          <p:cNvSpPr txBox="1"/>
          <p:nvPr/>
        </p:nvSpPr>
        <p:spPr>
          <a:xfrm>
            <a:off x="9189720" y="2926080"/>
            <a:ext cx="1463040" cy="457200"/>
          </a:xfrm>
          <a:prstGeom prst="roundRect">
            <a:avLst>
              <a:gd name="adj" fmla="val 24000"/>
            </a:avLst>
          </a:prstGeom>
          <a:solidFill>
            <a:schemeClr val="accent1"/>
          </a:solidFill>
          <a:ln w="15875">
            <a:solidFill>
              <a:schemeClr val="accent1"/>
            </a:solidFill>
          </a:ln>
        </p:spPr>
        <p:txBody>
          <a:bodyPr wrap="square" lIns="25400" tIns="25400" rIns="25400" bIns="25400" rtlCol="0" anchor="ctr"/>
          <a:lstStyle/>
          <a:p>
            <a:pPr algn="ctr" indent="0" marL="0">
              <a:buNone/>
            </a:pPr>
            <a:r>
              <a:rPr lang="en-US" sz="1300" b="1" dirty="0">
                <a:solidFill>
                  <a:schemeClr val="bg1"/>
                </a:solidFill>
              </a:rPr>
              <a:t>Fact</a:t>
            </a:r>
            <a:endParaRPr lang="en-US" sz="1300" dirty="0"/>
          </a:p>
        </p:txBody>
      </p:sp>
      <p:sp>
        <p:nvSpPr>
          <p:cNvPr id="8" name="node-5"/>
          <p:cNvSpPr txBox="1"/>
          <p:nvPr/>
        </p:nvSpPr>
        <p:spPr>
          <a:xfrm>
            <a:off x="9189720" y="5486400"/>
            <a:ext cx="1463040" cy="457200"/>
          </a:xfrm>
          <a:prstGeom prst="roundRect">
            <a:avLst>
              <a:gd name="adj" fmla="val 24000"/>
            </a:avLst>
          </a:prstGeom>
          <a:solidFill>
            <a:schemeClr val="bg2"/>
          </a:solidFill>
          <a:ln w="15875">
            <a:solidFill>
              <a:schemeClr val="accent3"/>
            </a:solidFill>
          </a:ln>
        </p:spPr>
        <p:txBody>
          <a:bodyPr wrap="square" lIns="25400" tIns="25400" rIns="25400" bIns="25400" rtlCol="0" anchor="ctr"/>
          <a:lstStyle/>
          <a:p>
            <a:pPr algn="ctr" indent="0" marL="0">
              <a:buNone/>
            </a:pPr>
            <a:r>
              <a:rPr lang="en-US" sz="1300" dirty="0">
                <a:solidFill>
                  <a:schemeClr val="tx2"/>
                </a:solidFill>
              </a:rPr>
              <a:t>Fact (old)</a:t>
            </a:r>
            <a:endParaRPr lang="en-US" sz="1300" dirty="0"/>
          </a:p>
        </p:txBody>
      </p:sp>
      <p:sp>
        <p:nvSpPr>
          <p:cNvPr id="9" name="node-6"/>
          <p:cNvSpPr txBox="1"/>
          <p:nvPr/>
        </p:nvSpPr>
        <p:spPr>
          <a:xfrm>
            <a:off x="8229600" y="4206240"/>
            <a:ext cx="128016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Agent</a:t>
            </a:r>
            <a:endParaRPr lang="en-US" sz="1300" dirty="0"/>
          </a:p>
        </p:txBody>
      </p:sp>
      <p:sp>
        <p:nvSpPr>
          <p:cNvPr id="10" name="node-7"/>
          <p:cNvSpPr txBox="1"/>
          <p:nvPr/>
        </p:nvSpPr>
        <p:spPr>
          <a:xfrm>
            <a:off x="10332720" y="4206240"/>
            <a:ext cx="128016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300" dirty="0">
                <a:solidFill>
                  <a:schemeClr val="tx1"/>
                </a:solidFill>
              </a:rPr>
              <a:t>Task</a:t>
            </a:r>
            <a:endParaRPr lang="en-US" sz="1300" dirty="0"/>
          </a:p>
        </p:txBody>
      </p:sp>
      <p:sp>
        <p:nvSpPr>
          <p:cNvPr id="11" name="edge-8"/>
          <p:cNvSpPr/>
          <p:nvPr/>
        </p:nvSpPr>
        <p:spPr>
          <a:xfrm flipH="1" flipV="1">
            <a:off x="8961120" y="2011680"/>
            <a:ext cx="731520" cy="914400"/>
          </a:xfrm>
          <a:prstGeom prst="line">
            <a:avLst/>
          </a:prstGeom>
          <a:noFill/>
          <a:ln w="19050">
            <a:solidFill>
              <a:schemeClr val="tx2"/>
            </a:solidFill>
            <a:prstDash val="solid"/>
            <a:tailEnd type="triangle"/>
          </a:ln>
        </p:spPr>
      </p:sp>
      <p:sp>
        <p:nvSpPr>
          <p:cNvPr id="12" name="edge-9"/>
          <p:cNvSpPr/>
          <p:nvPr/>
        </p:nvSpPr>
        <p:spPr>
          <a:xfrm flipV="1">
            <a:off x="10149840" y="2011680"/>
            <a:ext cx="731520" cy="914400"/>
          </a:xfrm>
          <a:prstGeom prst="line">
            <a:avLst/>
          </a:prstGeom>
          <a:noFill/>
          <a:ln w="19050">
            <a:solidFill>
              <a:schemeClr val="tx2"/>
            </a:solidFill>
            <a:prstDash val="solid"/>
            <a:tailEnd type="triangle"/>
          </a:ln>
        </p:spPr>
      </p:sp>
      <p:sp>
        <p:nvSpPr>
          <p:cNvPr id="13" name="edge-10"/>
          <p:cNvSpPr/>
          <p:nvPr/>
        </p:nvSpPr>
        <p:spPr>
          <a:xfrm>
            <a:off x="9921240" y="3383280"/>
            <a:ext cx="0" cy="2103120"/>
          </a:xfrm>
          <a:prstGeom prst="line">
            <a:avLst/>
          </a:prstGeom>
          <a:noFill/>
          <a:ln w="19050">
            <a:solidFill>
              <a:schemeClr val="accent1"/>
            </a:solidFill>
            <a:prstDash val="solid"/>
            <a:tailEnd type="triangle"/>
          </a:ln>
        </p:spPr>
      </p:sp>
      <p:sp>
        <p:nvSpPr>
          <p:cNvPr id="14" name="edge-label-11"/>
          <p:cNvSpPr txBox="1"/>
          <p:nvPr/>
        </p:nvSpPr>
        <p:spPr>
          <a:xfrm>
            <a:off x="9418320" y="4846320"/>
            <a:ext cx="1005840" cy="237744"/>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SUPERSEDES</a:t>
            </a:r>
            <a:endParaRPr lang="en-US" sz="1000" dirty="0"/>
          </a:p>
        </p:txBody>
      </p:sp>
      <p:sp>
        <p:nvSpPr>
          <p:cNvPr id="15" name="edge-12"/>
          <p:cNvSpPr/>
          <p:nvPr/>
        </p:nvSpPr>
        <p:spPr>
          <a:xfrm flipV="1">
            <a:off x="9052560" y="3383280"/>
            <a:ext cx="502920" cy="822960"/>
          </a:xfrm>
          <a:prstGeom prst="line">
            <a:avLst/>
          </a:prstGeom>
          <a:noFill/>
          <a:ln w="19050">
            <a:solidFill>
              <a:schemeClr val="tx2"/>
            </a:solidFill>
            <a:prstDash val="solid"/>
            <a:tailEnd type="triangle"/>
          </a:ln>
        </p:spPr>
      </p:sp>
      <p:sp>
        <p:nvSpPr>
          <p:cNvPr id="16" name="edge-13"/>
          <p:cNvSpPr/>
          <p:nvPr/>
        </p:nvSpPr>
        <p:spPr>
          <a:xfrm flipH="1" flipV="1">
            <a:off x="10287000" y="3383280"/>
            <a:ext cx="502920" cy="822960"/>
          </a:xfrm>
          <a:prstGeom prst="line">
            <a:avLst/>
          </a:prstGeom>
          <a:noFill/>
          <a:ln w="19050">
            <a:solidFill>
              <a:schemeClr val="tx2"/>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Agents forget, and cannot say why</a:t>
            </a:r>
            <a:endParaRPr lang="en-US" sz="3400" dirty="0"/>
          </a:p>
        </p:txBody>
      </p:sp>
      <p:sp>
        <p:nvSpPr>
          <p:cNvPr id="3" name="dot-14"/>
          <p:cNvSpPr txBox="1"/>
          <p:nvPr/>
        </p:nvSpPr>
        <p:spPr>
          <a:xfrm>
            <a:off x="548640" y="1554480"/>
            <a:ext cx="420624" cy="42062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4" name="text-15"/>
          <p:cNvSpPr txBox="1"/>
          <p:nvPr/>
        </p:nvSpPr>
        <p:spPr>
          <a:xfrm>
            <a:off x="1188720" y="1536192"/>
            <a:ext cx="4937760" cy="411480"/>
          </a:xfrm>
          <a:prstGeom prst="rect">
            <a:avLst/>
          </a:prstGeom>
          <a:noFill/>
          <a:ln/>
        </p:spPr>
        <p:txBody>
          <a:bodyPr wrap="square" lIns="0" tIns="0" rIns="0" bIns="0" rtlCol="0" anchor="t"/>
          <a:lstStyle/>
          <a:p>
            <a:pPr indent="0" marL="0">
              <a:buNone/>
            </a:pPr>
            <a:r>
              <a:rPr lang="en-US" sz="2000" b="1" dirty="0">
                <a:solidFill>
                  <a:schemeClr val="tx1"/>
                </a:solidFill>
              </a:rPr>
              <a:t>Sessions start from zero</a:t>
            </a:r>
            <a:endParaRPr lang="en-US" sz="2000" dirty="0"/>
          </a:p>
        </p:txBody>
      </p:sp>
      <p:sp>
        <p:nvSpPr>
          <p:cNvPr id="5" name="text-16"/>
          <p:cNvSpPr txBox="1"/>
          <p:nvPr/>
        </p:nvSpPr>
        <p:spPr>
          <a:xfrm>
            <a:off x="1188720" y="1965960"/>
            <a:ext cx="4937760" cy="731520"/>
          </a:xfrm>
          <a:prstGeom prst="rect">
            <a:avLst/>
          </a:prstGeom>
          <a:noFill/>
          <a:ln/>
        </p:spPr>
        <p:txBody>
          <a:bodyPr wrap="square" lIns="0" tIns="0" rIns="0" bIns="0" rtlCol="0" anchor="t"/>
          <a:lstStyle/>
          <a:p>
            <a:pPr indent="0" marL="0">
              <a:buNone/>
            </a:pPr>
            <a:r>
              <a:rPr lang="en-US" sz="1500" dirty="0">
                <a:solidFill>
                  <a:schemeClr val="tx2"/>
                </a:solidFill>
              </a:rPr>
              <a:t>Agents do not carry what the team decided from one session to the next.</a:t>
            </a:r>
            <a:endParaRPr lang="en-US" sz="1500" dirty="0"/>
          </a:p>
        </p:txBody>
      </p:sp>
      <p:sp>
        <p:nvSpPr>
          <p:cNvPr id="6" name="dot-17"/>
          <p:cNvSpPr txBox="1"/>
          <p:nvPr/>
        </p:nvSpPr>
        <p:spPr>
          <a:xfrm>
            <a:off x="548640" y="2971800"/>
            <a:ext cx="420624" cy="42062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7" name="text-18"/>
          <p:cNvSpPr txBox="1"/>
          <p:nvPr/>
        </p:nvSpPr>
        <p:spPr>
          <a:xfrm>
            <a:off x="1188720" y="2953512"/>
            <a:ext cx="4937760" cy="411480"/>
          </a:xfrm>
          <a:prstGeom prst="rect">
            <a:avLst/>
          </a:prstGeom>
          <a:noFill/>
          <a:ln/>
        </p:spPr>
        <p:txBody>
          <a:bodyPr wrap="square" lIns="0" tIns="0" rIns="0" bIns="0" rtlCol="0" anchor="t"/>
          <a:lstStyle/>
          <a:p>
            <a:pPr indent="0" marL="0">
              <a:buNone/>
            </a:pPr>
            <a:r>
              <a:rPr lang="en-US" sz="2000" b="1" dirty="0">
                <a:solidFill>
                  <a:schemeClr val="tx1"/>
                </a:solidFill>
              </a:rPr>
              <a:t>Facts change across sources</a:t>
            </a:r>
            <a:endParaRPr lang="en-US" sz="2000" dirty="0"/>
          </a:p>
        </p:txBody>
      </p:sp>
      <p:sp>
        <p:nvSpPr>
          <p:cNvPr id="8" name="text-19"/>
          <p:cNvSpPr txBox="1"/>
          <p:nvPr/>
        </p:nvSpPr>
        <p:spPr>
          <a:xfrm>
            <a:off x="1188720" y="3383280"/>
            <a:ext cx="4937760" cy="731520"/>
          </a:xfrm>
          <a:prstGeom prst="rect">
            <a:avLst/>
          </a:prstGeom>
          <a:noFill/>
          <a:ln/>
        </p:spPr>
        <p:txBody>
          <a:bodyPr wrap="square" lIns="0" tIns="0" rIns="0" bIns="0" rtlCol="0" anchor="t"/>
          <a:lstStyle/>
          <a:p>
            <a:pPr indent="0" marL="0">
              <a:buNone/>
            </a:pPr>
            <a:r>
              <a:rPr lang="en-US" sz="1500" dirty="0">
                <a:solidFill>
                  <a:schemeClr val="tx2"/>
                </a:solidFill>
              </a:rPr>
              <a:t>A date promised in a meeting moves later in an email.</a:t>
            </a:r>
            <a:endParaRPr lang="en-US" sz="1500" dirty="0"/>
          </a:p>
        </p:txBody>
      </p:sp>
      <p:sp>
        <p:nvSpPr>
          <p:cNvPr id="9" name="dot-20"/>
          <p:cNvSpPr txBox="1"/>
          <p:nvPr/>
        </p:nvSpPr>
        <p:spPr>
          <a:xfrm>
            <a:off x="548640" y="4389120"/>
            <a:ext cx="420624" cy="42062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0" name="text-21"/>
          <p:cNvSpPr txBox="1"/>
          <p:nvPr/>
        </p:nvSpPr>
        <p:spPr>
          <a:xfrm>
            <a:off x="1188720" y="4370832"/>
            <a:ext cx="4937760" cy="411480"/>
          </a:xfrm>
          <a:prstGeom prst="rect">
            <a:avLst/>
          </a:prstGeom>
          <a:noFill/>
          <a:ln/>
        </p:spPr>
        <p:txBody>
          <a:bodyPr wrap="square" lIns="0" tIns="0" rIns="0" bIns="0" rtlCol="0" anchor="t"/>
          <a:lstStyle/>
          <a:p>
            <a:pPr indent="0" marL="0">
              <a:buNone/>
            </a:pPr>
            <a:r>
              <a:rPr lang="en-US" sz="2000" b="1" dirty="0">
                <a:solidFill>
                  <a:schemeClr val="tx1"/>
                </a:solidFill>
              </a:rPr>
              <a:t>No provenance, no trust</a:t>
            </a:r>
            <a:endParaRPr lang="en-US" sz="2000" dirty="0"/>
          </a:p>
        </p:txBody>
      </p:sp>
      <p:sp>
        <p:nvSpPr>
          <p:cNvPr id="11" name="text-22"/>
          <p:cNvSpPr txBox="1"/>
          <p:nvPr/>
        </p:nvSpPr>
        <p:spPr>
          <a:xfrm>
            <a:off x="1188720" y="4800600"/>
            <a:ext cx="4937760" cy="731520"/>
          </a:xfrm>
          <a:prstGeom prst="rect">
            <a:avLst/>
          </a:prstGeom>
          <a:noFill/>
          <a:ln/>
        </p:spPr>
        <p:txBody>
          <a:bodyPr wrap="square" lIns="0" tIns="0" rIns="0" bIns="0" rtlCol="0" anchor="t"/>
          <a:lstStyle/>
          <a:p>
            <a:pPr indent="0" marL="0">
              <a:buNone/>
            </a:pPr>
            <a:r>
              <a:rPr lang="en-US" sz="1500" dirty="0">
                <a:solidFill>
                  <a:schemeClr val="tx2"/>
                </a:solidFill>
              </a:rPr>
              <a:t>An answer that cannot say who said it, and when, cannot be acted on.</a:t>
            </a:r>
            <a:endParaRPr lang="en-US" sz="1500" dirty="0"/>
          </a:p>
        </p:txBody>
      </p:sp>
      <p:sp>
        <p:nvSpPr>
          <p:cNvPr id="12" name="card-23"/>
          <p:cNvSpPr/>
          <p:nvPr/>
        </p:nvSpPr>
        <p:spPr>
          <a:xfrm>
            <a:off x="6675120" y="1463040"/>
            <a:ext cx="4937760" cy="4480560"/>
          </a:xfrm>
          <a:prstGeom prst="roundRect">
            <a:avLst>
              <a:gd name="adj" fmla="val 2041"/>
            </a:avLst>
          </a:prstGeom>
          <a:solidFill>
            <a:schemeClr val="bg2"/>
          </a:solidFill>
          <a:ln w="12700">
            <a:solidFill>
              <a:schemeClr val="accent4"/>
            </a:solidFill>
            <a:prstDash val="solid"/>
          </a:ln>
        </p:spPr>
      </p:sp>
      <p:sp>
        <p:nvSpPr>
          <p:cNvPr id="13" name="text-24"/>
          <p:cNvSpPr txBox="1"/>
          <p:nvPr/>
        </p:nvSpPr>
        <p:spPr>
          <a:xfrm>
            <a:off x="7040880" y="1737360"/>
            <a:ext cx="4206240" cy="274320"/>
          </a:xfrm>
          <a:prstGeom prst="rect">
            <a:avLst/>
          </a:prstGeom>
          <a:noFill/>
          <a:ln/>
        </p:spPr>
        <p:txBody>
          <a:bodyPr wrap="square" lIns="0" tIns="0" rIns="0" bIns="0" rtlCol="0" anchor="t"/>
          <a:lstStyle/>
          <a:p>
            <a:pPr indent="0" marL="0">
              <a:buNone/>
            </a:pPr>
            <a:r>
              <a:rPr lang="en-US" sz="1100" b="1" spc="100" kern="0" dirty="0">
                <a:solidFill>
                  <a:schemeClr val="tx2"/>
                </a:solidFill>
              </a:rPr>
              <a:t>ONE QUESTION, THREE ANSWERS</a:t>
            </a:r>
            <a:endParaRPr lang="en-US" sz="1100" dirty="0"/>
          </a:p>
        </p:txBody>
      </p:sp>
      <p:sp>
        <p:nvSpPr>
          <p:cNvPr id="14" name="text-25"/>
          <p:cNvSpPr txBox="1"/>
          <p:nvPr/>
        </p:nvSpPr>
        <p:spPr>
          <a:xfrm>
            <a:off x="7040880" y="2103120"/>
            <a:ext cx="4297680" cy="457200"/>
          </a:xfrm>
          <a:prstGeom prst="rect">
            <a:avLst/>
          </a:prstGeom>
          <a:noFill/>
          <a:ln/>
        </p:spPr>
        <p:txBody>
          <a:bodyPr wrap="square" lIns="0" tIns="0" rIns="0" bIns="0" rtlCol="0" anchor="t"/>
          <a:lstStyle/>
          <a:p>
            <a:pPr indent="0" marL="0">
              <a:buNone/>
            </a:pPr>
            <a:r>
              <a:rPr lang="en-US" sz="2200" b="1" dirty="0">
                <a:solidFill>
                  <a:schemeClr val="tx1"/>
                </a:solidFill>
              </a:rPr>
              <a:t>When is the UPI flow due?</a:t>
            </a:r>
            <a:endParaRPr lang="en-US" sz="2200" dirty="0"/>
          </a:p>
        </p:txBody>
      </p:sp>
      <p:sp>
        <p:nvSpPr>
          <p:cNvPr id="15" name="text-26"/>
          <p:cNvSpPr txBox="1"/>
          <p:nvPr/>
        </p:nvSpPr>
        <p:spPr>
          <a:xfrm>
            <a:off x="7040880" y="2834640"/>
            <a:ext cx="1371600" cy="411480"/>
          </a:xfrm>
          <a:prstGeom prst="rect">
            <a:avLst/>
          </a:prstGeom>
          <a:noFill/>
          <a:ln/>
        </p:spPr>
        <p:txBody>
          <a:bodyPr wrap="square" lIns="0" tIns="0" rIns="0" bIns="0" rtlCol="0" anchor="t"/>
          <a:lstStyle/>
          <a:p>
            <a:pPr indent="0" marL="0">
              <a:buNone/>
            </a:pPr>
            <a:r>
              <a:rPr lang="en-US" sz="2200" b="1" strike="sngStrike" dirty="0">
                <a:solidFill>
                  <a:schemeClr val="accent3"/>
                </a:solidFill>
              </a:rPr>
              <a:t>Sept 24</a:t>
            </a:r>
            <a:endParaRPr lang="en-US" sz="2200" dirty="0"/>
          </a:p>
        </p:txBody>
      </p:sp>
      <p:sp>
        <p:nvSpPr>
          <p:cNvPr id="16" name="text-27"/>
          <p:cNvSpPr txBox="1"/>
          <p:nvPr/>
        </p:nvSpPr>
        <p:spPr>
          <a:xfrm>
            <a:off x="8503920" y="2907792"/>
            <a:ext cx="2926080" cy="365760"/>
          </a:xfrm>
          <a:prstGeom prst="rect">
            <a:avLst/>
          </a:prstGeom>
          <a:noFill/>
          <a:ln/>
        </p:spPr>
        <p:txBody>
          <a:bodyPr wrap="square" lIns="0" tIns="0" rIns="0" bIns="0" rtlCol="0" anchor="t"/>
          <a:lstStyle/>
          <a:p>
            <a:pPr indent="0" marL="0">
              <a:buNone/>
            </a:pPr>
            <a:r>
              <a:rPr lang="en-US" sz="1500" dirty="0">
                <a:solidFill>
                  <a:schemeClr val="tx2"/>
                </a:solidFill>
              </a:rPr>
              <a:t>said at the kickoff, Sept 7</a:t>
            </a:r>
            <a:endParaRPr lang="en-US" sz="1500" dirty="0"/>
          </a:p>
        </p:txBody>
      </p:sp>
      <p:sp>
        <p:nvSpPr>
          <p:cNvPr id="17" name="text-28"/>
          <p:cNvSpPr txBox="1"/>
          <p:nvPr/>
        </p:nvSpPr>
        <p:spPr>
          <a:xfrm>
            <a:off x="7040880" y="3520440"/>
            <a:ext cx="1371600" cy="411480"/>
          </a:xfrm>
          <a:prstGeom prst="rect">
            <a:avLst/>
          </a:prstGeom>
          <a:noFill/>
          <a:ln/>
        </p:spPr>
        <p:txBody>
          <a:bodyPr wrap="square" lIns="0" tIns="0" rIns="0" bIns="0" rtlCol="0" anchor="t"/>
          <a:lstStyle/>
          <a:p>
            <a:pPr indent="0" marL="0">
              <a:buNone/>
            </a:pPr>
            <a:r>
              <a:rPr lang="en-US" sz="2200" b="1" strike="sngStrike" dirty="0">
                <a:solidFill>
                  <a:schemeClr val="accent3"/>
                </a:solidFill>
              </a:rPr>
              <a:t>Sept 25</a:t>
            </a:r>
            <a:endParaRPr lang="en-US" sz="2200" dirty="0"/>
          </a:p>
        </p:txBody>
      </p:sp>
      <p:sp>
        <p:nvSpPr>
          <p:cNvPr id="18" name="text-29"/>
          <p:cNvSpPr txBox="1"/>
          <p:nvPr/>
        </p:nvSpPr>
        <p:spPr>
          <a:xfrm>
            <a:off x="8503920" y="3593592"/>
            <a:ext cx="2926080" cy="365760"/>
          </a:xfrm>
          <a:prstGeom prst="rect">
            <a:avLst/>
          </a:prstGeom>
          <a:noFill/>
          <a:ln/>
        </p:spPr>
        <p:txBody>
          <a:bodyPr wrap="square" lIns="0" tIns="0" rIns="0" bIns="0" rtlCol="0" anchor="t"/>
          <a:lstStyle/>
          <a:p>
            <a:pPr indent="0" marL="0">
              <a:buNone/>
            </a:pPr>
            <a:r>
              <a:rPr lang="en-US" sz="1500" dirty="0">
                <a:solidFill>
                  <a:schemeClr val="tx2"/>
                </a:solidFill>
              </a:rPr>
              <a:t>said at standup 1, Sept 14</a:t>
            </a:r>
            <a:endParaRPr lang="en-US" sz="1500" dirty="0"/>
          </a:p>
        </p:txBody>
      </p:sp>
      <p:sp>
        <p:nvSpPr>
          <p:cNvPr id="19" name="text-30"/>
          <p:cNvSpPr txBox="1"/>
          <p:nvPr/>
        </p:nvSpPr>
        <p:spPr>
          <a:xfrm>
            <a:off x="7040880" y="4206240"/>
            <a:ext cx="1371600" cy="411480"/>
          </a:xfrm>
          <a:prstGeom prst="rect">
            <a:avLst/>
          </a:prstGeom>
          <a:noFill/>
          <a:ln/>
        </p:spPr>
        <p:txBody>
          <a:bodyPr wrap="square" lIns="0" tIns="0" rIns="0" bIns="0" rtlCol="0" anchor="t"/>
          <a:lstStyle/>
          <a:p>
            <a:pPr indent="0" marL="0">
              <a:buNone/>
            </a:pPr>
            <a:r>
              <a:rPr lang="en-US" sz="2200" b="1" dirty="0">
                <a:solidFill>
                  <a:schemeClr val="accent1"/>
                </a:solidFill>
              </a:rPr>
              <a:t>Sept 28</a:t>
            </a:r>
            <a:endParaRPr lang="en-US" sz="2200" dirty="0"/>
          </a:p>
        </p:txBody>
      </p:sp>
      <p:sp>
        <p:nvSpPr>
          <p:cNvPr id="20" name="text-31"/>
          <p:cNvSpPr txBox="1"/>
          <p:nvPr/>
        </p:nvSpPr>
        <p:spPr>
          <a:xfrm>
            <a:off x="8503920" y="4279392"/>
            <a:ext cx="2926080" cy="365760"/>
          </a:xfrm>
          <a:prstGeom prst="rect">
            <a:avLst/>
          </a:prstGeom>
          <a:noFill/>
          <a:ln/>
        </p:spPr>
        <p:txBody>
          <a:bodyPr wrap="square" lIns="0" tIns="0" rIns="0" bIns="0" rtlCol="0" anchor="t"/>
          <a:lstStyle/>
          <a:p>
            <a:pPr indent="0" marL="0">
              <a:buNone/>
            </a:pPr>
            <a:r>
              <a:rPr lang="en-US" sz="1500" dirty="0">
                <a:solidFill>
                  <a:schemeClr val="tx1"/>
                </a:solidFill>
              </a:rPr>
              <a:t>written in an email, Sept 17</a:t>
            </a:r>
            <a:endParaRPr lang="en-US" sz="1500" dirty="0"/>
          </a:p>
        </p:txBody>
      </p:sp>
      <p:sp>
        <p:nvSpPr>
          <p:cNvPr id="21" name="text-32"/>
          <p:cNvSpPr txBox="1"/>
          <p:nvPr/>
        </p:nvSpPr>
        <p:spPr>
          <a:xfrm>
            <a:off x="7040880" y="4983480"/>
            <a:ext cx="4297680" cy="731520"/>
          </a:xfrm>
          <a:prstGeom prst="rect">
            <a:avLst/>
          </a:prstGeom>
          <a:noFill/>
          <a:ln/>
        </p:spPr>
        <p:txBody>
          <a:bodyPr wrap="square" lIns="0" tIns="0" rIns="0" bIns="0" rtlCol="0" anchor="t"/>
          <a:lstStyle/>
          <a:p>
            <a:pPr indent="0" marL="0">
              <a:buNone/>
            </a:pPr>
            <a:r>
              <a:rPr lang="en-US" sz="1400" i="1" dirty="0">
                <a:solidFill>
                  <a:schemeClr val="tx2"/>
                </a:solidFill>
              </a:rPr>
              <a:t>Without time and provenance, an agent can return any of the three.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Three memories and a shared board</a:t>
            </a:r>
            <a:endParaRPr lang="en-US" sz="3400" dirty="0"/>
          </a:p>
        </p:txBody>
      </p:sp>
      <p:sp>
        <p:nvSpPr>
          <p:cNvPr id="3" name="text-33"/>
          <p:cNvSpPr txBox="1"/>
          <p:nvPr/>
        </p:nvSpPr>
        <p:spPr>
          <a:xfrm>
            <a:off x="548640" y="1371600"/>
            <a:ext cx="2377440" cy="274320"/>
          </a:xfrm>
          <a:prstGeom prst="rect">
            <a:avLst/>
          </a:prstGeom>
          <a:noFill/>
          <a:ln/>
        </p:spPr>
        <p:txBody>
          <a:bodyPr wrap="square" lIns="0" tIns="0" rIns="0" bIns="0" rtlCol="0" anchor="t"/>
          <a:lstStyle/>
          <a:p>
            <a:pPr indent="0" marL="0">
              <a:buNone/>
            </a:pPr>
            <a:r>
              <a:rPr lang="en-US" sz="1100" b="1" spc="100" kern="0" dirty="0">
                <a:solidFill>
                  <a:schemeClr val="tx2"/>
                </a:solidFill>
              </a:rPr>
              <a:t>SOURCES</a:t>
            </a:r>
            <a:endParaRPr lang="en-US" sz="1100" dirty="0"/>
          </a:p>
        </p:txBody>
      </p:sp>
      <p:sp>
        <p:nvSpPr>
          <p:cNvPr id="4" name="node-34"/>
          <p:cNvSpPr txBox="1"/>
          <p:nvPr/>
        </p:nvSpPr>
        <p:spPr>
          <a:xfrm>
            <a:off x="548640" y="1783080"/>
            <a:ext cx="2286000" cy="868680"/>
          </a:xfrm>
          <a:prstGeom prst="roundRect">
            <a:avLst>
              <a:gd name="adj" fmla="val 12632"/>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Meetings</a:t>
            </a:r>
            <a:endParaRPr lang="en-US" sz="1300" dirty="0"/>
          </a:p>
          <a:p>
            <a:pPr algn="ctr" indent="0" marL="0">
              <a:buNone/>
            </a:pPr>
            <a:r>
              <a:rPr lang="en-US" sz="1300" b="1" dirty="0">
                <a:solidFill>
                  <a:schemeClr val="tx1"/>
                </a:solidFill>
              </a:rPr>
              <a:t>diarized transcripts</a:t>
            </a:r>
            <a:endParaRPr lang="en-US" sz="1300" dirty="0"/>
          </a:p>
        </p:txBody>
      </p:sp>
      <p:sp>
        <p:nvSpPr>
          <p:cNvPr id="5" name="node-35"/>
          <p:cNvSpPr txBox="1"/>
          <p:nvPr/>
        </p:nvSpPr>
        <p:spPr>
          <a:xfrm>
            <a:off x="548640" y="2880360"/>
            <a:ext cx="2286000" cy="868680"/>
          </a:xfrm>
          <a:prstGeom prst="roundRect">
            <a:avLst>
              <a:gd name="adj" fmla="val 12632"/>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Email threads</a:t>
            </a:r>
            <a:endParaRPr lang="en-US" sz="1300" dirty="0"/>
          </a:p>
          <a:p>
            <a:pPr algn="ctr" indent="0" marL="0">
              <a:buNone/>
            </a:pPr>
            <a:r>
              <a:rPr lang="en-US" sz="1300" b="1" dirty="0">
                <a:solidFill>
                  <a:schemeClr val="tx1"/>
                </a:solidFill>
              </a:rPr>
              <a:t>sender, recipients, replies</a:t>
            </a:r>
            <a:endParaRPr lang="en-US" sz="1300" dirty="0"/>
          </a:p>
        </p:txBody>
      </p:sp>
      <p:sp>
        <p:nvSpPr>
          <p:cNvPr id="6" name="edge-36"/>
          <p:cNvSpPr/>
          <p:nvPr/>
        </p:nvSpPr>
        <p:spPr>
          <a:xfrm>
            <a:off x="2880360" y="2743200"/>
            <a:ext cx="548640" cy="0"/>
          </a:xfrm>
          <a:prstGeom prst="line">
            <a:avLst/>
          </a:prstGeom>
          <a:noFill/>
          <a:ln w="19050">
            <a:solidFill>
              <a:schemeClr val="tx2"/>
            </a:solidFill>
            <a:prstDash val="solid"/>
            <a:tailEnd type="triangle"/>
          </a:ln>
        </p:spPr>
      </p:sp>
      <p:sp>
        <p:nvSpPr>
          <p:cNvPr id="7" name="card-37"/>
          <p:cNvSpPr/>
          <p:nvPr/>
        </p:nvSpPr>
        <p:spPr>
          <a:xfrm>
            <a:off x="3474720" y="1371600"/>
            <a:ext cx="5029200" cy="4663440"/>
          </a:xfrm>
          <a:prstGeom prst="roundRect">
            <a:avLst>
              <a:gd name="adj" fmla="val 1961"/>
            </a:avLst>
          </a:prstGeom>
          <a:solidFill>
            <a:schemeClr val="bg1"/>
          </a:solidFill>
          <a:ln w="22225">
            <a:solidFill>
              <a:schemeClr val="accent1"/>
            </a:solidFill>
            <a:prstDash val="solid"/>
          </a:ln>
        </p:spPr>
      </p:sp>
      <p:sp>
        <p:nvSpPr>
          <p:cNvPr id="8" name="text-38"/>
          <p:cNvSpPr txBox="1"/>
          <p:nvPr/>
        </p:nvSpPr>
        <p:spPr>
          <a:xfrm>
            <a:off x="3749040" y="1508760"/>
            <a:ext cx="4572000" cy="365760"/>
          </a:xfrm>
          <a:prstGeom prst="rect">
            <a:avLst/>
          </a:prstGeom>
          <a:noFill/>
          <a:ln/>
        </p:spPr>
        <p:txBody>
          <a:bodyPr wrap="square" lIns="0" tIns="0" rIns="0" bIns="0" rtlCol="0" anchor="t"/>
          <a:lstStyle/>
          <a:p>
            <a:pPr indent="0" marL="0">
              <a:buNone/>
            </a:pPr>
            <a:r>
              <a:rPr lang="en-US" sz="1700" b="1" dirty="0">
                <a:solidFill>
                  <a:schemeClr val="accent1"/>
                </a:solidFill>
              </a:rPr>
              <a:t>FalkorDB graph per team</a:t>
            </a:r>
            <a:endParaRPr lang="en-US" sz="1700" dirty="0"/>
          </a:p>
        </p:txBody>
      </p:sp>
      <p:sp>
        <p:nvSpPr>
          <p:cNvPr id="9" name="node-39"/>
          <p:cNvSpPr txBox="1"/>
          <p:nvPr/>
        </p:nvSpPr>
        <p:spPr>
          <a:xfrm>
            <a:off x="3749040" y="2057400"/>
            <a:ext cx="1463040" cy="502920"/>
          </a:xfrm>
          <a:prstGeom prst="roundRect">
            <a:avLst>
              <a:gd name="adj" fmla="val 21818"/>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300" dirty="0">
                <a:solidFill>
                  <a:schemeClr val="tx1"/>
                </a:solidFill>
              </a:rPr>
              <a:t>Episodic</a:t>
            </a:r>
            <a:endParaRPr lang="en-US" sz="1300" dirty="0"/>
          </a:p>
        </p:txBody>
      </p:sp>
      <p:sp>
        <p:nvSpPr>
          <p:cNvPr id="10" name="text-40"/>
          <p:cNvSpPr txBox="1"/>
          <p:nvPr/>
        </p:nvSpPr>
        <p:spPr>
          <a:xfrm>
            <a:off x="5394960" y="2011680"/>
            <a:ext cx="2926080" cy="1005840"/>
          </a:xfrm>
          <a:prstGeom prst="rect">
            <a:avLst/>
          </a:prstGeom>
          <a:noFill/>
          <a:ln/>
        </p:spPr>
        <p:txBody>
          <a:bodyPr wrap="square" lIns="0" tIns="0" rIns="0" bIns="0" rtlCol="0" anchor="t"/>
          <a:lstStyle/>
          <a:p>
            <a:pPr indent="0" marL="0">
              <a:buNone/>
            </a:pPr>
            <a:r>
              <a:rPr lang="en-US" sz="1400" dirty="0">
                <a:solidFill>
                  <a:schemeClr val="tx1"/>
                </a:solidFill>
              </a:rPr>
              <a:t>Episode per utterance or email, with speaker, time and embedding</a:t>
            </a:r>
            <a:endParaRPr lang="en-US" sz="1400" dirty="0"/>
          </a:p>
        </p:txBody>
      </p:sp>
      <p:sp>
        <p:nvSpPr>
          <p:cNvPr id="11" name="node-41"/>
          <p:cNvSpPr txBox="1"/>
          <p:nvPr/>
        </p:nvSpPr>
        <p:spPr>
          <a:xfrm>
            <a:off x="3749040" y="3337560"/>
            <a:ext cx="1463040" cy="502920"/>
          </a:xfrm>
          <a:prstGeom prst="roundRect">
            <a:avLst>
              <a:gd name="adj" fmla="val 21818"/>
            </a:avLst>
          </a:prstGeom>
          <a:solidFill>
            <a:schemeClr val="accent1"/>
          </a:solidFill>
          <a:ln w="15875">
            <a:solidFill>
              <a:schemeClr val="accent1"/>
            </a:solidFill>
          </a:ln>
        </p:spPr>
        <p:txBody>
          <a:bodyPr wrap="square" lIns="25400" tIns="25400" rIns="25400" bIns="25400" rtlCol="0" anchor="ctr"/>
          <a:lstStyle/>
          <a:p>
            <a:pPr algn="ctr" indent="0" marL="0">
              <a:buNone/>
            </a:pPr>
            <a:r>
              <a:rPr lang="en-US" sz="1300" b="1" dirty="0">
                <a:solidFill>
                  <a:schemeClr val="bg1"/>
                </a:solidFill>
              </a:rPr>
              <a:t>Semantic</a:t>
            </a:r>
            <a:endParaRPr lang="en-US" sz="1300" dirty="0"/>
          </a:p>
        </p:txBody>
      </p:sp>
      <p:sp>
        <p:nvSpPr>
          <p:cNvPr id="12" name="text-42"/>
          <p:cNvSpPr txBox="1"/>
          <p:nvPr/>
        </p:nvSpPr>
        <p:spPr>
          <a:xfrm>
            <a:off x="5394960" y="3291840"/>
            <a:ext cx="2926080" cy="1005840"/>
          </a:xfrm>
          <a:prstGeom prst="rect">
            <a:avLst/>
          </a:prstGeom>
          <a:noFill/>
          <a:ln/>
        </p:spPr>
        <p:txBody>
          <a:bodyPr wrap="square" lIns="0" tIns="0" rIns="0" bIns="0" rtlCol="0" anchor="t"/>
          <a:lstStyle/>
          <a:p>
            <a:pPr indent="0" marL="0">
              <a:buNone/>
            </a:pPr>
            <a:r>
              <a:rPr lang="en-US" sz="1400" dirty="0">
                <a:solidFill>
                  <a:schemeClr val="tx1"/>
                </a:solidFill>
              </a:rPr>
              <a:t>Facts, decisions and commitments: bi-temporal, linked by SUPERSEDES</a:t>
            </a:r>
            <a:endParaRPr lang="en-US" sz="1400" dirty="0"/>
          </a:p>
        </p:txBody>
      </p:sp>
      <p:sp>
        <p:nvSpPr>
          <p:cNvPr id="13" name="node-43"/>
          <p:cNvSpPr txBox="1"/>
          <p:nvPr/>
        </p:nvSpPr>
        <p:spPr>
          <a:xfrm>
            <a:off x="3749040" y="4617720"/>
            <a:ext cx="1463040" cy="502920"/>
          </a:xfrm>
          <a:prstGeom prst="roundRect">
            <a:avLst>
              <a:gd name="adj" fmla="val 21818"/>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300" dirty="0">
                <a:solidFill>
                  <a:schemeClr val="tx1"/>
                </a:solidFill>
              </a:rPr>
              <a:t>Procedural</a:t>
            </a:r>
            <a:endParaRPr lang="en-US" sz="1300" dirty="0"/>
          </a:p>
        </p:txBody>
      </p:sp>
      <p:sp>
        <p:nvSpPr>
          <p:cNvPr id="14" name="text-44"/>
          <p:cNvSpPr txBox="1"/>
          <p:nvPr/>
        </p:nvSpPr>
        <p:spPr>
          <a:xfrm>
            <a:off x="5394960" y="4572000"/>
            <a:ext cx="2926080" cy="1005840"/>
          </a:xfrm>
          <a:prstGeom prst="rect">
            <a:avLst/>
          </a:prstGeom>
          <a:noFill/>
          <a:ln/>
        </p:spPr>
        <p:txBody>
          <a:bodyPr wrap="square" lIns="0" tIns="0" rIns="0" bIns="0" rtlCol="0" anchor="t"/>
          <a:lstStyle/>
          <a:p>
            <a:pPr indent="0" marL="0">
              <a:buNone/>
            </a:pPr>
            <a:r>
              <a:rPr lang="en-US" sz="1400" dirty="0">
                <a:solidFill>
                  <a:schemeClr val="tx1"/>
                </a:solidFill>
              </a:rPr>
              <a:t>Skills with ordered Steps and a success rate learned from standups</a:t>
            </a:r>
            <a:endParaRPr lang="en-US" sz="1400" dirty="0"/>
          </a:p>
        </p:txBody>
      </p:sp>
      <p:sp>
        <p:nvSpPr>
          <p:cNvPr id="15" name="edge-45"/>
          <p:cNvSpPr/>
          <p:nvPr/>
        </p:nvSpPr>
        <p:spPr>
          <a:xfrm>
            <a:off x="8549640" y="2743200"/>
            <a:ext cx="548640" cy="0"/>
          </a:xfrm>
          <a:prstGeom prst="line">
            <a:avLst/>
          </a:prstGeom>
          <a:noFill/>
          <a:ln w="19050">
            <a:solidFill>
              <a:schemeClr val="tx2"/>
            </a:solidFill>
            <a:prstDash val="solid"/>
            <a:tailEnd type="triangle"/>
          </a:ln>
        </p:spPr>
      </p:sp>
      <p:sp>
        <p:nvSpPr>
          <p:cNvPr id="16" name="edge-46"/>
          <p:cNvSpPr/>
          <p:nvPr/>
        </p:nvSpPr>
        <p:spPr>
          <a:xfrm flipH="1">
            <a:off x="8549640" y="3291840"/>
            <a:ext cx="548640" cy="0"/>
          </a:xfrm>
          <a:prstGeom prst="line">
            <a:avLst/>
          </a:prstGeom>
          <a:noFill/>
          <a:ln w="19050">
            <a:solidFill>
              <a:schemeClr val="tx2"/>
            </a:solidFill>
            <a:prstDash val="solid"/>
            <a:tailEnd type="triangle"/>
          </a:ln>
        </p:spPr>
      </p:sp>
      <p:sp>
        <p:nvSpPr>
          <p:cNvPr id="17" name="text-47"/>
          <p:cNvSpPr txBox="1"/>
          <p:nvPr/>
        </p:nvSpPr>
        <p:spPr>
          <a:xfrm>
            <a:off x="9144000" y="1371600"/>
            <a:ext cx="2468880" cy="274320"/>
          </a:xfrm>
          <a:prstGeom prst="rect">
            <a:avLst/>
          </a:prstGeom>
          <a:noFill/>
          <a:ln/>
        </p:spPr>
        <p:txBody>
          <a:bodyPr wrap="square" lIns="0" tIns="0" rIns="0" bIns="0" rtlCol="0" anchor="t"/>
          <a:lstStyle/>
          <a:p>
            <a:pPr indent="0" marL="0">
              <a:buNone/>
            </a:pPr>
            <a:r>
              <a:rPr lang="en-US" sz="1100" b="1" spc="100" kern="0" dirty="0">
                <a:solidFill>
                  <a:schemeClr val="tx2"/>
                </a:solidFill>
              </a:rPr>
              <a:t>COORDINATION</a:t>
            </a:r>
            <a:endParaRPr lang="en-US" sz="1100" dirty="0"/>
          </a:p>
        </p:txBody>
      </p:sp>
      <p:sp>
        <p:nvSpPr>
          <p:cNvPr id="18" name="node-48"/>
          <p:cNvSpPr txBox="1"/>
          <p:nvPr/>
        </p:nvSpPr>
        <p:spPr>
          <a:xfrm>
            <a:off x="9144000" y="1783080"/>
            <a:ext cx="118872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Scheduler</a:t>
            </a:r>
            <a:endParaRPr lang="en-US" sz="1200" dirty="0"/>
          </a:p>
        </p:txBody>
      </p:sp>
      <p:sp>
        <p:nvSpPr>
          <p:cNvPr id="19" name="node-49"/>
          <p:cNvSpPr txBox="1"/>
          <p:nvPr/>
        </p:nvSpPr>
        <p:spPr>
          <a:xfrm>
            <a:off x="10405872" y="1783080"/>
            <a:ext cx="118872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FollowUp</a:t>
            </a:r>
            <a:endParaRPr lang="en-US" sz="1200" dirty="0"/>
          </a:p>
        </p:txBody>
      </p:sp>
      <p:sp>
        <p:nvSpPr>
          <p:cNvPr id="20" name="node-50"/>
          <p:cNvSpPr txBox="1"/>
          <p:nvPr/>
        </p:nvSpPr>
        <p:spPr>
          <a:xfrm>
            <a:off x="9144000" y="2350008"/>
            <a:ext cx="118872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Standup</a:t>
            </a:r>
            <a:endParaRPr lang="en-US" sz="1200" dirty="0"/>
          </a:p>
        </p:txBody>
      </p:sp>
      <p:sp>
        <p:nvSpPr>
          <p:cNvPr id="21" name="node-51"/>
          <p:cNvSpPr txBox="1"/>
          <p:nvPr/>
        </p:nvSpPr>
        <p:spPr>
          <a:xfrm>
            <a:off x="10405872" y="2350008"/>
            <a:ext cx="118872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Answer</a:t>
            </a:r>
            <a:endParaRPr lang="en-US" sz="1200" dirty="0"/>
          </a:p>
        </p:txBody>
      </p:sp>
      <p:sp>
        <p:nvSpPr>
          <p:cNvPr id="22" name="text-52"/>
          <p:cNvSpPr txBox="1"/>
          <p:nvPr/>
        </p:nvSpPr>
        <p:spPr>
          <a:xfrm>
            <a:off x="9144000" y="3017520"/>
            <a:ext cx="2468880" cy="1463040"/>
          </a:xfrm>
          <a:prstGeom prst="rect">
            <a:avLst/>
          </a:prstGeom>
          <a:noFill/>
          <a:ln/>
        </p:spPr>
        <p:txBody>
          <a:bodyPr wrap="square" lIns="0" tIns="0" rIns="0" bIns="0" rtlCol="0" anchor="t"/>
          <a:lstStyle/>
          <a:p>
            <a:pPr indent="0" marL="0">
              <a:buNone/>
            </a:pPr>
            <a:r>
              <a:rPr lang="en-US" sz="1400" dirty="0">
                <a:solidFill>
                  <a:schemeClr val="tx2"/>
                </a:solidFill>
              </a:rPr>
              <a:t>Agents claim Tasks with compare-and-set, hand off through HANDED_OFF edges and wake on Redis pub/sub.</a:t>
            </a:r>
            <a:endParaRPr lang="en-US" sz="1400" dirty="0"/>
          </a:p>
        </p:txBody>
      </p:sp>
      <p:sp>
        <p:nvSpPr>
          <p:cNvPr id="23" name="node-53"/>
          <p:cNvSpPr txBox="1"/>
          <p:nvPr/>
        </p:nvSpPr>
        <p:spPr>
          <a:xfrm>
            <a:off x="9144000" y="4800600"/>
            <a:ext cx="2468880" cy="868680"/>
          </a:xfrm>
          <a:prstGeom prst="roundRect">
            <a:avLst>
              <a:gd name="adj" fmla="val 12632"/>
            </a:avLst>
          </a:prstGeom>
          <a:solidFill>
            <a:schemeClr val="accent1"/>
          </a:solidFill>
          <a:ln w="15875">
            <a:solidFill>
              <a:schemeClr val="accent1"/>
            </a:solidFill>
          </a:ln>
        </p:spPr>
        <p:txBody>
          <a:bodyPr wrap="square" lIns="25400" tIns="25400" rIns="25400" bIns="25400" rtlCol="0" anchor="ctr"/>
          <a:lstStyle/>
          <a:p>
            <a:pPr algn="ctr" indent="0" marL="0">
              <a:buNone/>
            </a:pPr>
            <a:r>
              <a:rPr lang="en-US" sz="1300" b="1" dirty="0">
                <a:solidFill>
                  <a:schemeClr val="bg1"/>
                </a:solidFill>
              </a:rPr>
              <a:t>Answers with Cypher,</a:t>
            </a:r>
            <a:endParaRPr lang="en-US" sz="1300" dirty="0"/>
          </a:p>
          <a:p>
            <a:pPr algn="ctr" indent="0" marL="0">
              <a:buNone/>
            </a:pPr>
            <a:r>
              <a:rPr lang="en-US" sz="1300" b="1" dirty="0">
                <a:solidFill>
                  <a:schemeClr val="bg1"/>
                </a:solidFill>
              </a:rPr>
              <a:t>sources and timestamps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graph model</a:t>
            </a:r>
            <a:endParaRPr lang="en-US" sz="3400" dirty="0"/>
          </a:p>
        </p:txBody>
      </p:sp>
      <p:sp>
        <p:nvSpPr>
          <p:cNvPr id="3" name="edge-54"/>
          <p:cNvSpPr/>
          <p:nvPr/>
        </p:nvSpPr>
        <p:spPr>
          <a:xfrm>
            <a:off x="1965960" y="1828800"/>
            <a:ext cx="960120" cy="502920"/>
          </a:xfrm>
          <a:prstGeom prst="line">
            <a:avLst/>
          </a:prstGeom>
          <a:noFill/>
          <a:ln w="19050">
            <a:solidFill>
              <a:schemeClr val="tx2"/>
            </a:solidFill>
            <a:prstDash val="solid"/>
            <a:tailEnd type="triangle"/>
          </a:ln>
        </p:spPr>
      </p:sp>
      <p:sp>
        <p:nvSpPr>
          <p:cNvPr id="4" name="edge-55"/>
          <p:cNvSpPr/>
          <p:nvPr/>
        </p:nvSpPr>
        <p:spPr>
          <a:xfrm flipV="1">
            <a:off x="1965960" y="2514600"/>
            <a:ext cx="960120" cy="502920"/>
          </a:xfrm>
          <a:prstGeom prst="line">
            <a:avLst/>
          </a:prstGeom>
          <a:noFill/>
          <a:ln w="19050">
            <a:solidFill>
              <a:schemeClr val="tx2"/>
            </a:solidFill>
            <a:prstDash val="solid"/>
            <a:tailEnd type="triangle"/>
          </a:ln>
        </p:spPr>
      </p:sp>
      <p:sp>
        <p:nvSpPr>
          <p:cNvPr id="5" name="edge-label-56"/>
          <p:cNvSpPr txBox="1"/>
          <p:nvPr/>
        </p:nvSpPr>
        <p:spPr>
          <a:xfrm>
            <a:off x="2011680" y="2304288"/>
            <a:ext cx="868680" cy="237744"/>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HAS_EPISODE</a:t>
            </a:r>
            <a:endParaRPr lang="en-US" sz="900" dirty="0"/>
          </a:p>
        </p:txBody>
      </p:sp>
      <p:sp>
        <p:nvSpPr>
          <p:cNvPr id="6" name="edge-57"/>
          <p:cNvSpPr/>
          <p:nvPr/>
        </p:nvSpPr>
        <p:spPr>
          <a:xfrm flipV="1">
            <a:off x="4343400" y="1645920"/>
            <a:ext cx="777240" cy="667512"/>
          </a:xfrm>
          <a:prstGeom prst="line">
            <a:avLst/>
          </a:prstGeom>
          <a:noFill/>
          <a:ln w="19050">
            <a:solidFill>
              <a:schemeClr val="tx2"/>
            </a:solidFill>
            <a:prstDash val="solid"/>
            <a:tailEnd type="triangle"/>
          </a:ln>
        </p:spPr>
      </p:sp>
      <p:sp>
        <p:nvSpPr>
          <p:cNvPr id="7" name="edge-label-58"/>
          <p:cNvSpPr txBox="1"/>
          <p:nvPr/>
        </p:nvSpPr>
        <p:spPr>
          <a:xfrm>
            <a:off x="4023360" y="1481328"/>
            <a:ext cx="868680" cy="365760"/>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SPOKEN_BY</a:t>
            </a:r>
            <a:endParaRPr lang="en-US" sz="900" dirty="0"/>
          </a:p>
          <a:p>
            <a:pPr algn="ctr" indent="0" marL="0">
              <a:buNone/>
            </a:pPr>
            <a:r>
              <a:rPr lang="en-US" sz="900" dirty="0">
                <a:solidFill>
                  <a:schemeClr val="tx2"/>
                </a:solidFill>
                <a:latin typeface="Courier New" pitchFamily="34" charset="0"/>
                <a:ea typeface="Courier New" pitchFamily="34" charset="-122"/>
                <a:cs typeface="Courier New" pitchFamily="34" charset="-120"/>
              </a:rPr>
              <a:t>SENT_BY</a:t>
            </a:r>
            <a:endParaRPr lang="en-US" sz="900" dirty="0"/>
          </a:p>
        </p:txBody>
      </p:sp>
      <p:sp>
        <p:nvSpPr>
          <p:cNvPr id="8" name="edge-59"/>
          <p:cNvSpPr/>
          <p:nvPr/>
        </p:nvSpPr>
        <p:spPr>
          <a:xfrm flipH="1" flipV="1">
            <a:off x="4343400" y="2532888"/>
            <a:ext cx="777240" cy="667512"/>
          </a:xfrm>
          <a:prstGeom prst="line">
            <a:avLst/>
          </a:prstGeom>
          <a:noFill/>
          <a:ln w="19050">
            <a:solidFill>
              <a:schemeClr val="tx2"/>
            </a:solidFill>
            <a:prstDash val="solid"/>
            <a:tailEnd type="triangle"/>
          </a:ln>
        </p:spPr>
      </p:sp>
      <p:sp>
        <p:nvSpPr>
          <p:cNvPr id="9" name="edge-label-60"/>
          <p:cNvSpPr txBox="1"/>
          <p:nvPr/>
        </p:nvSpPr>
        <p:spPr>
          <a:xfrm>
            <a:off x="4251960" y="2743200"/>
            <a:ext cx="960120" cy="237744"/>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DERIVED_FROM</a:t>
            </a:r>
            <a:endParaRPr lang="en-US" sz="900" dirty="0"/>
          </a:p>
        </p:txBody>
      </p:sp>
      <p:sp>
        <p:nvSpPr>
          <p:cNvPr id="10" name="edge-61"/>
          <p:cNvSpPr/>
          <p:nvPr/>
        </p:nvSpPr>
        <p:spPr>
          <a:xfrm flipV="1">
            <a:off x="5829300" y="1874520"/>
            <a:ext cx="0" cy="1097280"/>
          </a:xfrm>
          <a:prstGeom prst="line">
            <a:avLst/>
          </a:prstGeom>
          <a:noFill/>
          <a:ln w="19050">
            <a:solidFill>
              <a:schemeClr val="tx2"/>
            </a:solidFill>
            <a:prstDash val="solid"/>
            <a:tailEnd type="triangle"/>
          </a:ln>
        </p:spPr>
      </p:sp>
      <p:sp>
        <p:nvSpPr>
          <p:cNvPr id="11" name="edge-label-62"/>
          <p:cNvSpPr txBox="1"/>
          <p:nvPr/>
        </p:nvSpPr>
        <p:spPr>
          <a:xfrm>
            <a:off x="5897880" y="2286000"/>
            <a:ext cx="731520" cy="237744"/>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STATED_BY</a:t>
            </a:r>
            <a:endParaRPr lang="en-US" sz="900" dirty="0"/>
          </a:p>
        </p:txBody>
      </p:sp>
      <p:sp>
        <p:nvSpPr>
          <p:cNvPr id="12" name="edge-63"/>
          <p:cNvSpPr/>
          <p:nvPr/>
        </p:nvSpPr>
        <p:spPr>
          <a:xfrm>
            <a:off x="6537960" y="3200400"/>
            <a:ext cx="731520" cy="0"/>
          </a:xfrm>
          <a:prstGeom prst="line">
            <a:avLst/>
          </a:prstGeom>
          <a:noFill/>
          <a:ln w="25400">
            <a:solidFill>
              <a:schemeClr val="accent1"/>
            </a:solidFill>
            <a:prstDash val="solid"/>
            <a:tailEnd type="triangle"/>
          </a:ln>
        </p:spPr>
      </p:sp>
      <p:sp>
        <p:nvSpPr>
          <p:cNvPr id="13" name="edge-label-64"/>
          <p:cNvSpPr txBox="1"/>
          <p:nvPr/>
        </p:nvSpPr>
        <p:spPr>
          <a:xfrm>
            <a:off x="6537960" y="2852928"/>
            <a:ext cx="731520" cy="237744"/>
          </a:xfrm>
          <a:prstGeom prst="rect">
            <a:avLst/>
          </a:prstGeom>
          <a:solidFill>
            <a:schemeClr val="bg1"/>
          </a:solidFill>
          <a:ln/>
        </p:spPr>
        <p:txBody>
          <a:bodyPr wrap="square" lIns="0" tIns="0" rIns="0" bIns="0" rtlCol="0" anchor="ctr"/>
          <a:lstStyle/>
          <a:p>
            <a:pPr algn="ctr" indent="0" marL="0">
              <a:buNone/>
            </a:pPr>
            <a:r>
              <a:rPr lang="en-US" sz="900" b="1" dirty="0">
                <a:solidFill>
                  <a:schemeClr val="accent1"/>
                </a:solidFill>
                <a:latin typeface="Courier New" pitchFamily="34" charset="0"/>
                <a:ea typeface="Courier New" pitchFamily="34" charset="-122"/>
                <a:cs typeface="Courier New" pitchFamily="34" charset="-120"/>
              </a:rPr>
              <a:t>SUPERSEDES</a:t>
            </a:r>
            <a:endParaRPr lang="en-US" sz="900" dirty="0"/>
          </a:p>
        </p:txBody>
      </p:sp>
      <p:sp>
        <p:nvSpPr>
          <p:cNvPr id="14" name="edge-65"/>
          <p:cNvSpPr/>
          <p:nvPr/>
        </p:nvSpPr>
        <p:spPr>
          <a:xfrm flipV="1">
            <a:off x="3634740" y="2651760"/>
            <a:ext cx="0" cy="1874520"/>
          </a:xfrm>
          <a:prstGeom prst="line">
            <a:avLst/>
          </a:prstGeom>
          <a:noFill/>
          <a:ln w="19050">
            <a:solidFill>
              <a:schemeClr val="tx2"/>
            </a:solidFill>
            <a:prstDash val="solid"/>
            <a:tailEnd type="triangle"/>
          </a:ln>
        </p:spPr>
      </p:sp>
      <p:sp>
        <p:nvSpPr>
          <p:cNvPr id="15" name="edge-label-66"/>
          <p:cNvSpPr txBox="1"/>
          <p:nvPr/>
        </p:nvSpPr>
        <p:spPr>
          <a:xfrm>
            <a:off x="3703320" y="3474720"/>
            <a:ext cx="960120" cy="237744"/>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LEARNED_FROM</a:t>
            </a:r>
            <a:endParaRPr lang="en-US" sz="900" dirty="0"/>
          </a:p>
        </p:txBody>
      </p:sp>
      <p:sp>
        <p:nvSpPr>
          <p:cNvPr id="16" name="edge-67"/>
          <p:cNvSpPr/>
          <p:nvPr/>
        </p:nvSpPr>
        <p:spPr>
          <a:xfrm flipH="1">
            <a:off x="1965960" y="4754880"/>
            <a:ext cx="960120" cy="0"/>
          </a:xfrm>
          <a:prstGeom prst="line">
            <a:avLst/>
          </a:prstGeom>
          <a:noFill/>
          <a:ln w="19050">
            <a:solidFill>
              <a:schemeClr val="tx2"/>
            </a:solidFill>
            <a:prstDash val="solid"/>
            <a:tailEnd type="triangle"/>
          </a:ln>
        </p:spPr>
      </p:sp>
      <p:sp>
        <p:nvSpPr>
          <p:cNvPr id="17" name="edge-label-68"/>
          <p:cNvSpPr txBox="1"/>
          <p:nvPr/>
        </p:nvSpPr>
        <p:spPr>
          <a:xfrm>
            <a:off x="2148840" y="4480560"/>
            <a:ext cx="594360" cy="237744"/>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STEP</a:t>
            </a:r>
            <a:endParaRPr lang="en-US" sz="900" dirty="0"/>
          </a:p>
        </p:txBody>
      </p:sp>
      <p:sp>
        <p:nvSpPr>
          <p:cNvPr id="18" name="edge-69"/>
          <p:cNvSpPr/>
          <p:nvPr/>
        </p:nvSpPr>
        <p:spPr>
          <a:xfrm flipV="1">
            <a:off x="5829300" y="3429000"/>
            <a:ext cx="0" cy="1097280"/>
          </a:xfrm>
          <a:prstGeom prst="line">
            <a:avLst/>
          </a:prstGeom>
          <a:noFill/>
          <a:ln w="19050">
            <a:solidFill>
              <a:schemeClr val="tx2"/>
            </a:solidFill>
            <a:prstDash val="solid"/>
            <a:tailEnd type="triangle"/>
          </a:ln>
        </p:spPr>
      </p:sp>
      <p:sp>
        <p:nvSpPr>
          <p:cNvPr id="19" name="edge-label-70"/>
          <p:cNvSpPr txBox="1"/>
          <p:nvPr/>
        </p:nvSpPr>
        <p:spPr>
          <a:xfrm>
            <a:off x="5897880" y="3840480"/>
            <a:ext cx="502920" cy="237744"/>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ABOUT</a:t>
            </a:r>
            <a:endParaRPr lang="en-US" sz="900" dirty="0"/>
          </a:p>
        </p:txBody>
      </p:sp>
      <p:sp>
        <p:nvSpPr>
          <p:cNvPr id="20" name="edge-71"/>
          <p:cNvSpPr/>
          <p:nvPr/>
        </p:nvSpPr>
        <p:spPr>
          <a:xfrm flipH="1">
            <a:off x="4343400" y="4754880"/>
            <a:ext cx="777240" cy="0"/>
          </a:xfrm>
          <a:prstGeom prst="line">
            <a:avLst/>
          </a:prstGeom>
          <a:noFill/>
          <a:ln w="19050">
            <a:solidFill>
              <a:schemeClr val="tx2"/>
            </a:solidFill>
            <a:prstDash val="solid"/>
            <a:tailEnd type="triangle"/>
          </a:ln>
        </p:spPr>
      </p:sp>
      <p:sp>
        <p:nvSpPr>
          <p:cNvPr id="21" name="edge-label-72"/>
          <p:cNvSpPr txBox="1"/>
          <p:nvPr/>
        </p:nvSpPr>
        <p:spPr>
          <a:xfrm>
            <a:off x="4480560" y="4480560"/>
            <a:ext cx="502920" cy="237744"/>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USED</a:t>
            </a:r>
            <a:endParaRPr lang="en-US" sz="900" dirty="0"/>
          </a:p>
        </p:txBody>
      </p:sp>
      <p:sp>
        <p:nvSpPr>
          <p:cNvPr id="22" name="edge-73"/>
          <p:cNvSpPr/>
          <p:nvPr/>
        </p:nvSpPr>
        <p:spPr>
          <a:xfrm>
            <a:off x="6537960" y="4754880"/>
            <a:ext cx="731520" cy="0"/>
          </a:xfrm>
          <a:prstGeom prst="line">
            <a:avLst/>
          </a:prstGeom>
          <a:noFill/>
          <a:ln w="19050">
            <a:solidFill>
              <a:schemeClr val="tx2"/>
            </a:solidFill>
            <a:prstDash val="solid"/>
            <a:tailEnd type="triangle"/>
          </a:ln>
        </p:spPr>
      </p:sp>
      <p:sp>
        <p:nvSpPr>
          <p:cNvPr id="23" name="edge-label-74"/>
          <p:cNvSpPr txBox="1"/>
          <p:nvPr/>
        </p:nvSpPr>
        <p:spPr>
          <a:xfrm>
            <a:off x="6537960" y="4462272"/>
            <a:ext cx="731520" cy="237744"/>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CLAIMED_BY</a:t>
            </a:r>
            <a:endParaRPr lang="en-US" sz="900" dirty="0"/>
          </a:p>
        </p:txBody>
      </p:sp>
      <p:sp>
        <p:nvSpPr>
          <p:cNvPr id="24" name="edge-label-75"/>
          <p:cNvSpPr txBox="1"/>
          <p:nvPr/>
        </p:nvSpPr>
        <p:spPr>
          <a:xfrm>
            <a:off x="6537960" y="4818888"/>
            <a:ext cx="731520" cy="237744"/>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HANDED_OFF</a:t>
            </a:r>
            <a:endParaRPr lang="en-US" sz="900" dirty="0"/>
          </a:p>
        </p:txBody>
      </p:sp>
      <p:sp>
        <p:nvSpPr>
          <p:cNvPr id="25" name="edge-76"/>
          <p:cNvSpPr/>
          <p:nvPr/>
        </p:nvSpPr>
        <p:spPr>
          <a:xfrm>
            <a:off x="6103620" y="4983480"/>
            <a:ext cx="1165860" cy="777240"/>
          </a:xfrm>
          <a:prstGeom prst="line">
            <a:avLst/>
          </a:prstGeom>
          <a:noFill/>
          <a:ln w="19050">
            <a:solidFill>
              <a:schemeClr val="tx2"/>
            </a:solidFill>
            <a:prstDash val="solid"/>
            <a:tailEnd type="triangle"/>
          </a:ln>
        </p:spPr>
      </p:sp>
      <p:sp>
        <p:nvSpPr>
          <p:cNvPr id="26" name="edge-label-77"/>
          <p:cNvSpPr txBox="1"/>
          <p:nvPr/>
        </p:nvSpPr>
        <p:spPr>
          <a:xfrm>
            <a:off x="5989320" y="5440680"/>
            <a:ext cx="685800" cy="237744"/>
          </a:xfrm>
          <a:prstGeom prst="rect">
            <a:avLst/>
          </a:prstGeom>
          <a:solidFill>
            <a:schemeClr val="bg1"/>
          </a:solidFill>
          <a:ln/>
        </p:spPr>
        <p:txBody>
          <a:bodyPr wrap="square" lIns="0" tIns="0" rIns="0" bIns="0" rtlCol="0" anchor="ctr"/>
          <a:lstStyle/>
          <a:p>
            <a:pPr algn="ctr" indent="0" marL="0">
              <a:buNone/>
            </a:pPr>
            <a:r>
              <a:rPr lang="en-US" sz="900" dirty="0">
                <a:solidFill>
                  <a:schemeClr val="tx2"/>
                </a:solidFill>
                <a:latin typeface="Courier New" pitchFamily="34" charset="0"/>
                <a:ea typeface="Courier New" pitchFamily="34" charset="-122"/>
                <a:cs typeface="Courier New" pitchFamily="34" charset="-120"/>
              </a:rPr>
              <a:t>PRODUCED</a:t>
            </a:r>
            <a:endParaRPr lang="en-US" sz="900" dirty="0"/>
          </a:p>
        </p:txBody>
      </p:sp>
      <p:sp>
        <p:nvSpPr>
          <p:cNvPr id="27" name="node-78"/>
          <p:cNvSpPr txBox="1"/>
          <p:nvPr/>
        </p:nvSpPr>
        <p:spPr>
          <a:xfrm>
            <a:off x="548640" y="1600200"/>
            <a:ext cx="141732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Meeting</a:t>
            </a:r>
            <a:endParaRPr lang="en-US" sz="1300" dirty="0"/>
          </a:p>
        </p:txBody>
      </p:sp>
      <p:sp>
        <p:nvSpPr>
          <p:cNvPr id="28" name="node-79"/>
          <p:cNvSpPr txBox="1"/>
          <p:nvPr/>
        </p:nvSpPr>
        <p:spPr>
          <a:xfrm>
            <a:off x="548640" y="2788920"/>
            <a:ext cx="141732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EmailThread</a:t>
            </a:r>
            <a:endParaRPr lang="en-US" sz="1300" dirty="0"/>
          </a:p>
        </p:txBody>
      </p:sp>
      <p:sp>
        <p:nvSpPr>
          <p:cNvPr id="29" name="node-80"/>
          <p:cNvSpPr txBox="1"/>
          <p:nvPr/>
        </p:nvSpPr>
        <p:spPr>
          <a:xfrm>
            <a:off x="2926080" y="2194560"/>
            <a:ext cx="141732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300" dirty="0">
                <a:solidFill>
                  <a:schemeClr val="tx1"/>
                </a:solidFill>
              </a:rPr>
              <a:t>Episode</a:t>
            </a:r>
            <a:endParaRPr lang="en-US" sz="1300" dirty="0"/>
          </a:p>
        </p:txBody>
      </p:sp>
      <p:sp>
        <p:nvSpPr>
          <p:cNvPr id="30" name="node-81"/>
          <p:cNvSpPr txBox="1"/>
          <p:nvPr/>
        </p:nvSpPr>
        <p:spPr>
          <a:xfrm>
            <a:off x="5120640" y="1417320"/>
            <a:ext cx="141732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Person</a:t>
            </a:r>
            <a:endParaRPr lang="en-US" sz="1300" dirty="0"/>
          </a:p>
        </p:txBody>
      </p:sp>
      <p:sp>
        <p:nvSpPr>
          <p:cNvPr id="31" name="node-82"/>
          <p:cNvSpPr txBox="1"/>
          <p:nvPr/>
        </p:nvSpPr>
        <p:spPr>
          <a:xfrm>
            <a:off x="5120640" y="2971800"/>
            <a:ext cx="1417320" cy="457200"/>
          </a:xfrm>
          <a:prstGeom prst="roundRect">
            <a:avLst>
              <a:gd name="adj" fmla="val 24000"/>
            </a:avLst>
          </a:prstGeom>
          <a:solidFill>
            <a:schemeClr val="accent1"/>
          </a:solidFill>
          <a:ln w="15875">
            <a:solidFill>
              <a:schemeClr val="accent1"/>
            </a:solidFill>
          </a:ln>
        </p:spPr>
        <p:txBody>
          <a:bodyPr wrap="square" lIns="25400" tIns="25400" rIns="25400" bIns="25400" rtlCol="0" anchor="ctr"/>
          <a:lstStyle/>
          <a:p>
            <a:pPr algn="ctr" indent="0" marL="0">
              <a:buNone/>
            </a:pPr>
            <a:r>
              <a:rPr lang="en-US" sz="1200" b="1" dirty="0">
                <a:solidFill>
                  <a:schemeClr val="bg1"/>
                </a:solidFill>
              </a:rPr>
              <a:t>Fact / Decision</a:t>
            </a:r>
            <a:endParaRPr lang="en-US" sz="1200" dirty="0"/>
          </a:p>
        </p:txBody>
      </p:sp>
      <p:sp>
        <p:nvSpPr>
          <p:cNvPr id="32" name="node-83"/>
          <p:cNvSpPr txBox="1"/>
          <p:nvPr/>
        </p:nvSpPr>
        <p:spPr>
          <a:xfrm>
            <a:off x="7269480" y="2971800"/>
            <a:ext cx="1417320" cy="457200"/>
          </a:xfrm>
          <a:prstGeom prst="roundRect">
            <a:avLst>
              <a:gd name="adj" fmla="val 24000"/>
            </a:avLst>
          </a:prstGeom>
          <a:solidFill>
            <a:schemeClr val="bg2"/>
          </a:solidFill>
          <a:ln w="15875">
            <a:solidFill>
              <a:schemeClr val="accent3"/>
            </a:solidFill>
          </a:ln>
        </p:spPr>
        <p:txBody>
          <a:bodyPr wrap="square" lIns="25400" tIns="25400" rIns="25400" bIns="25400" rtlCol="0" anchor="ctr"/>
          <a:lstStyle/>
          <a:p>
            <a:pPr algn="ctr" indent="0" marL="0">
              <a:buNone/>
            </a:pPr>
            <a:r>
              <a:rPr lang="en-US" sz="1200" dirty="0">
                <a:solidFill>
                  <a:schemeClr val="tx2"/>
                </a:solidFill>
              </a:rPr>
              <a:t>Fact (old)</a:t>
            </a:r>
            <a:endParaRPr lang="en-US" sz="1200" dirty="0"/>
          </a:p>
        </p:txBody>
      </p:sp>
      <p:sp>
        <p:nvSpPr>
          <p:cNvPr id="33" name="node-84"/>
          <p:cNvSpPr txBox="1"/>
          <p:nvPr/>
        </p:nvSpPr>
        <p:spPr>
          <a:xfrm>
            <a:off x="2926080" y="4526280"/>
            <a:ext cx="141732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300" dirty="0">
                <a:solidFill>
                  <a:schemeClr val="tx1"/>
                </a:solidFill>
              </a:rPr>
              <a:t>Skill</a:t>
            </a:r>
            <a:endParaRPr lang="en-US" sz="1300" dirty="0"/>
          </a:p>
        </p:txBody>
      </p:sp>
      <p:sp>
        <p:nvSpPr>
          <p:cNvPr id="34" name="node-85"/>
          <p:cNvSpPr txBox="1"/>
          <p:nvPr/>
        </p:nvSpPr>
        <p:spPr>
          <a:xfrm>
            <a:off x="548640" y="4526280"/>
            <a:ext cx="141732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300" dirty="0">
                <a:solidFill>
                  <a:schemeClr val="tx1"/>
                </a:solidFill>
              </a:rPr>
              <a:t>Step</a:t>
            </a:r>
            <a:endParaRPr lang="en-US" sz="1300" dirty="0"/>
          </a:p>
        </p:txBody>
      </p:sp>
      <p:sp>
        <p:nvSpPr>
          <p:cNvPr id="35" name="node-86"/>
          <p:cNvSpPr txBox="1"/>
          <p:nvPr/>
        </p:nvSpPr>
        <p:spPr>
          <a:xfrm>
            <a:off x="5120640" y="4526280"/>
            <a:ext cx="141732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Task</a:t>
            </a:r>
            <a:endParaRPr lang="en-US" sz="1300" dirty="0"/>
          </a:p>
        </p:txBody>
      </p:sp>
      <p:sp>
        <p:nvSpPr>
          <p:cNvPr id="36" name="node-87"/>
          <p:cNvSpPr txBox="1"/>
          <p:nvPr/>
        </p:nvSpPr>
        <p:spPr>
          <a:xfrm>
            <a:off x="7269480" y="4526280"/>
            <a:ext cx="141732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Agent</a:t>
            </a:r>
            <a:endParaRPr lang="en-US" sz="1300" dirty="0"/>
          </a:p>
        </p:txBody>
      </p:sp>
      <p:sp>
        <p:nvSpPr>
          <p:cNvPr id="37" name="node-88"/>
          <p:cNvSpPr txBox="1"/>
          <p:nvPr/>
        </p:nvSpPr>
        <p:spPr>
          <a:xfrm>
            <a:off x="7269480" y="5532120"/>
            <a:ext cx="1417320" cy="457200"/>
          </a:xfrm>
          <a:prstGeom prst="roundRect">
            <a:avLst>
              <a:gd name="adj" fmla="val 24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Artifact</a:t>
            </a:r>
            <a:endParaRPr lang="en-US" sz="1300" dirty="0"/>
          </a:p>
        </p:txBody>
      </p:sp>
      <p:sp>
        <p:nvSpPr>
          <p:cNvPr id="38" name="card-89"/>
          <p:cNvSpPr/>
          <p:nvPr/>
        </p:nvSpPr>
        <p:spPr>
          <a:xfrm>
            <a:off x="9052560" y="1371600"/>
            <a:ext cx="2560320" cy="4754880"/>
          </a:xfrm>
          <a:prstGeom prst="roundRect">
            <a:avLst>
              <a:gd name="adj" fmla="val 3571"/>
            </a:avLst>
          </a:prstGeom>
          <a:solidFill>
            <a:schemeClr val="bg2"/>
          </a:solidFill>
          <a:ln w="12700">
            <a:solidFill>
              <a:schemeClr val="accent4"/>
            </a:solidFill>
            <a:prstDash val="solid"/>
          </a:ln>
        </p:spPr>
      </p:sp>
      <p:sp>
        <p:nvSpPr>
          <p:cNvPr id="39" name="text-90"/>
          <p:cNvSpPr txBox="1"/>
          <p:nvPr/>
        </p:nvSpPr>
        <p:spPr>
          <a:xfrm>
            <a:off x="9235440" y="1554480"/>
            <a:ext cx="2240280" cy="274320"/>
          </a:xfrm>
          <a:prstGeom prst="rect">
            <a:avLst/>
          </a:prstGeom>
          <a:noFill/>
          <a:ln/>
        </p:spPr>
        <p:txBody>
          <a:bodyPr wrap="square" lIns="0" tIns="0" rIns="0" bIns="0" rtlCol="0" anchor="t"/>
          <a:lstStyle/>
          <a:p>
            <a:pPr indent="0" marL="0">
              <a:buNone/>
            </a:pPr>
            <a:r>
              <a:rPr lang="en-US" sz="1100" b="1" spc="100" kern="0" dirty="0">
                <a:solidFill>
                  <a:schemeClr val="tx2"/>
                </a:solidFill>
              </a:rPr>
              <a:t>KEY PROPERTIES</a:t>
            </a:r>
            <a:endParaRPr lang="en-US" sz="1100" dirty="0"/>
          </a:p>
        </p:txBody>
      </p:sp>
      <p:sp>
        <p:nvSpPr>
          <p:cNvPr id="40" name="text-91"/>
          <p:cNvSpPr txBox="1"/>
          <p:nvPr/>
        </p:nvSpPr>
        <p:spPr>
          <a:xfrm>
            <a:off x="9235440" y="1874520"/>
            <a:ext cx="2240280" cy="3017520"/>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Episode</a:t>
            </a:r>
            <a:endParaRPr lang="en-US" sz="1300" dirty="0"/>
          </a:p>
          <a:p>
            <a:pPr indent="0" marL="0">
              <a:spcAft>
                <a:spcPts val="200"/>
              </a:spcAft>
              <a:buNone/>
            </a:pPr>
            <a:r>
              <a:rPr lang="en-US" sz="1300" dirty="0">
                <a:solidFill>
                  <a:schemeClr val="tx2"/>
                </a:solidFill>
              </a:rPr>
              <a:t>source_kind, t_occurred, 768-d embedding</a:t>
            </a:r>
            <a:endParaRPr lang="en-US" sz="1300" dirty="0"/>
          </a:p>
          <a:p>
            <a:pPr indent="0" marL="0">
              <a:spcAft>
                <a:spcPts val="200"/>
              </a:spcAft>
              <a:buNone/>
            </a:pPr>
            <a:r>
              <a:rPr lang="en-US" sz="1300" b="1" dirty="0">
                <a:solidFill>
                  <a:schemeClr val="tx1"/>
                </a:solidFill>
              </a:rPr>
              <a:t>Fact</a:t>
            </a:r>
            <a:endParaRPr lang="en-US" sz="1300" dirty="0"/>
          </a:p>
          <a:p>
            <a:pPr indent="0" marL="0">
              <a:spcAft>
                <a:spcPts val="200"/>
              </a:spcAft>
              <a:buNone/>
            </a:pPr>
            <a:r>
              <a:rPr lang="en-US" sz="1300" dirty="0">
                <a:solidFill>
                  <a:schemeClr val="tx2"/>
                </a:solidFill>
              </a:rPr>
              <a:t>valid_from, valid_to, created_at, expired_at, status</a:t>
            </a:r>
            <a:endParaRPr lang="en-US" sz="1300" dirty="0"/>
          </a:p>
          <a:p>
            <a:pPr indent="0" marL="0">
              <a:spcAft>
                <a:spcPts val="200"/>
              </a:spcAft>
              <a:buNone/>
            </a:pPr>
            <a:r>
              <a:rPr lang="en-US" sz="1300" b="1" dirty="0">
                <a:solidFill>
                  <a:schemeClr val="tx1"/>
                </a:solidFill>
              </a:rPr>
              <a:t>Task</a:t>
            </a:r>
            <a:endParaRPr lang="en-US" sz="1300" dirty="0"/>
          </a:p>
          <a:p>
            <a:pPr indent="0" marL="0">
              <a:spcAft>
                <a:spcPts val="200"/>
              </a:spcAft>
              <a:buNone/>
            </a:pPr>
            <a:r>
              <a:rPr lang="en-US" sz="1300" dirty="0">
                <a:solidFill>
                  <a:schemeClr val="tx2"/>
                </a:solidFill>
              </a:rPr>
              <a:t>version: the compare-and-set token</a:t>
            </a:r>
            <a:endParaRPr lang="en-US" sz="1300" dirty="0"/>
          </a:p>
          <a:p>
            <a:pPr indent="0" marL="0">
              <a:spcAft>
                <a:spcPts val="200"/>
              </a:spcAft>
              <a:buNone/>
            </a:pPr>
            <a:r>
              <a:rPr lang="en-US" sz="1300" b="1" dirty="0">
                <a:solidFill>
                  <a:schemeClr val="tx1"/>
                </a:solidFill>
              </a:rPr>
              <a:t>Skill</a:t>
            </a:r>
            <a:endParaRPr lang="en-US" sz="1300" dirty="0"/>
          </a:p>
          <a:p>
            <a:pPr indent="0" marL="0">
              <a:spcAft>
                <a:spcPts val="200"/>
              </a:spcAft>
              <a:buNone/>
            </a:pPr>
            <a:r>
              <a:rPr lang="en-US" sz="1300" dirty="0">
                <a:solidFill>
                  <a:schemeClr val="tx2"/>
                </a:solidFill>
              </a:rPr>
              <a:t>runs, success_rate</a:t>
            </a:r>
            <a:endParaRPr lang="en-US" sz="1300" dirty="0"/>
          </a:p>
        </p:txBody>
      </p:sp>
      <p:sp>
        <p:nvSpPr>
          <p:cNvPr id="41" name="text-92"/>
          <p:cNvSpPr txBox="1"/>
          <p:nvPr/>
        </p:nvSpPr>
        <p:spPr>
          <a:xfrm>
            <a:off x="9235440" y="4937760"/>
            <a:ext cx="2240280" cy="1097280"/>
          </a:xfrm>
          <a:prstGeom prst="rect">
            <a:avLst/>
          </a:prstGeom>
          <a:noFill/>
          <a:ln/>
        </p:spPr>
        <p:txBody>
          <a:bodyPr wrap="square" lIns="0" tIns="0" rIns="0" bIns="0" rtlCol="0" anchor="t"/>
          <a:lstStyle/>
          <a:p>
            <a:pPr indent="0" marL="0">
              <a:buNone/>
            </a:pPr>
            <a:r>
              <a:rPr lang="en-US" sz="1200" dirty="0">
                <a:solidFill>
                  <a:schemeClr val="tx2"/>
                </a:solidFill>
              </a:rPr>
              <a:t>Indexes: range, full-text and HNSW vector (768-d cosine) on Episode, Fact, Skill and Entity.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One fact, three versions, two sources</a:t>
            </a:r>
            <a:endParaRPr lang="en-US" sz="3400" dirty="0"/>
          </a:p>
        </p:txBody>
      </p:sp>
      <p:sp>
        <p:nvSpPr>
          <p:cNvPr id="3" name="card-93"/>
          <p:cNvSpPr/>
          <p:nvPr/>
        </p:nvSpPr>
        <p:spPr>
          <a:xfrm>
            <a:off x="548640" y="1371600"/>
            <a:ext cx="3337560" cy="1783080"/>
          </a:xfrm>
          <a:prstGeom prst="roundRect">
            <a:avLst>
              <a:gd name="adj" fmla="val 5128"/>
            </a:avLst>
          </a:prstGeom>
          <a:solidFill>
            <a:schemeClr val="bg2"/>
          </a:solidFill>
          <a:ln w="12700">
            <a:solidFill>
              <a:schemeClr val="accent4"/>
            </a:solidFill>
            <a:prstDash val="solid"/>
          </a:ln>
        </p:spPr>
      </p:sp>
      <p:sp>
        <p:nvSpPr>
          <p:cNvPr id="4" name="text-94"/>
          <p:cNvSpPr txBox="1"/>
          <p:nvPr/>
        </p:nvSpPr>
        <p:spPr>
          <a:xfrm>
            <a:off x="777240" y="1508760"/>
            <a:ext cx="2926080" cy="457200"/>
          </a:xfrm>
          <a:prstGeom prst="rect">
            <a:avLst/>
          </a:prstGeom>
          <a:noFill/>
          <a:ln/>
        </p:spPr>
        <p:txBody>
          <a:bodyPr wrap="square" lIns="0" tIns="0" rIns="0" bIns="0" rtlCol="0" anchor="t"/>
          <a:lstStyle/>
          <a:p>
            <a:pPr indent="0" marL="0">
              <a:buNone/>
            </a:pPr>
            <a:r>
              <a:rPr lang="en-US" sz="2400" b="1" dirty="0">
                <a:solidFill>
                  <a:schemeClr val="accent3"/>
                </a:solidFill>
              </a:rPr>
              <a:t>Due Sept 24</a:t>
            </a:r>
            <a:endParaRPr lang="en-US" sz="2400" dirty="0"/>
          </a:p>
        </p:txBody>
      </p:sp>
      <p:sp>
        <p:nvSpPr>
          <p:cNvPr id="5" name="text-95"/>
          <p:cNvSpPr txBox="1"/>
          <p:nvPr/>
        </p:nvSpPr>
        <p:spPr>
          <a:xfrm>
            <a:off x="777240" y="2011680"/>
            <a:ext cx="2926080" cy="365760"/>
          </a:xfrm>
          <a:prstGeom prst="rect">
            <a:avLst/>
          </a:prstGeom>
          <a:noFill/>
          <a:ln/>
        </p:spPr>
        <p:txBody>
          <a:bodyPr wrap="square" lIns="0" tIns="0" rIns="0" bIns="0" rtlCol="0" anchor="t"/>
          <a:lstStyle/>
          <a:p>
            <a:pPr indent="0" marL="0">
              <a:buNone/>
            </a:pPr>
            <a:r>
              <a:rPr lang="en-US" sz="1500" b="1" dirty="0">
                <a:solidFill>
                  <a:schemeClr val="tx1"/>
                </a:solidFill>
              </a:rPr>
              <a:t>Sept 7 · Kickoff (speech)</a:t>
            </a:r>
            <a:endParaRPr lang="en-US" sz="1500" dirty="0"/>
          </a:p>
        </p:txBody>
      </p:sp>
      <p:sp>
        <p:nvSpPr>
          <p:cNvPr id="6" name="text-96"/>
          <p:cNvSpPr txBox="1"/>
          <p:nvPr/>
        </p:nvSpPr>
        <p:spPr>
          <a:xfrm>
            <a:off x="777240" y="2377440"/>
            <a:ext cx="2926080" cy="640080"/>
          </a:xfrm>
          <a:prstGeom prst="rect">
            <a:avLst/>
          </a:prstGeom>
          <a:noFill/>
          <a:ln/>
        </p:spPr>
        <p:txBody>
          <a:bodyPr wrap="square" lIns="0" tIns="0" rIns="0" bIns="0" rtlCol="0" anchor="t"/>
          <a:lstStyle/>
          <a:p>
            <a:pPr indent="0" marL="0">
              <a:buNone/>
            </a:pPr>
            <a:r>
              <a:rPr lang="en-US" sz="1400" dirty="0">
                <a:solidFill>
                  <a:schemeClr val="tx2"/>
                </a:solidFill>
              </a:rPr>
              <a:t>Priya at 2:35: the original commitment</a:t>
            </a:r>
            <a:endParaRPr lang="en-US" sz="1400" dirty="0"/>
          </a:p>
        </p:txBody>
      </p:sp>
      <p:sp>
        <p:nvSpPr>
          <p:cNvPr id="7" name="card-97"/>
          <p:cNvSpPr/>
          <p:nvPr/>
        </p:nvSpPr>
        <p:spPr>
          <a:xfrm>
            <a:off x="4343400" y="1371600"/>
            <a:ext cx="3337560" cy="1783080"/>
          </a:xfrm>
          <a:prstGeom prst="roundRect">
            <a:avLst>
              <a:gd name="adj" fmla="val 5128"/>
            </a:avLst>
          </a:prstGeom>
          <a:solidFill>
            <a:schemeClr val="bg2"/>
          </a:solidFill>
          <a:ln w="12700">
            <a:solidFill>
              <a:schemeClr val="accent4"/>
            </a:solidFill>
            <a:prstDash val="solid"/>
          </a:ln>
        </p:spPr>
      </p:sp>
      <p:sp>
        <p:nvSpPr>
          <p:cNvPr id="8" name="text-98"/>
          <p:cNvSpPr txBox="1"/>
          <p:nvPr/>
        </p:nvSpPr>
        <p:spPr>
          <a:xfrm>
            <a:off x="4572000" y="1508760"/>
            <a:ext cx="2926080" cy="457200"/>
          </a:xfrm>
          <a:prstGeom prst="rect">
            <a:avLst/>
          </a:prstGeom>
          <a:noFill/>
          <a:ln/>
        </p:spPr>
        <p:txBody>
          <a:bodyPr wrap="square" lIns="0" tIns="0" rIns="0" bIns="0" rtlCol="0" anchor="t"/>
          <a:lstStyle/>
          <a:p>
            <a:pPr indent="0" marL="0">
              <a:buNone/>
            </a:pPr>
            <a:r>
              <a:rPr lang="en-US" sz="2400" b="1" dirty="0">
                <a:solidFill>
                  <a:schemeClr val="accent3"/>
                </a:solidFill>
              </a:rPr>
              <a:t>Due Sept 25</a:t>
            </a:r>
            <a:endParaRPr lang="en-US" sz="2400" dirty="0"/>
          </a:p>
        </p:txBody>
      </p:sp>
      <p:sp>
        <p:nvSpPr>
          <p:cNvPr id="9" name="text-99"/>
          <p:cNvSpPr txBox="1"/>
          <p:nvPr/>
        </p:nvSpPr>
        <p:spPr>
          <a:xfrm>
            <a:off x="4572000" y="2011680"/>
            <a:ext cx="2926080" cy="365760"/>
          </a:xfrm>
          <a:prstGeom prst="rect">
            <a:avLst/>
          </a:prstGeom>
          <a:noFill/>
          <a:ln/>
        </p:spPr>
        <p:txBody>
          <a:bodyPr wrap="square" lIns="0" tIns="0" rIns="0" bIns="0" rtlCol="0" anchor="t"/>
          <a:lstStyle/>
          <a:p>
            <a:pPr indent="0" marL="0">
              <a:buNone/>
            </a:pPr>
            <a:r>
              <a:rPr lang="en-US" sz="1500" b="1" dirty="0">
                <a:solidFill>
                  <a:schemeClr val="tx1"/>
                </a:solidFill>
              </a:rPr>
              <a:t>Sept 14 · Standup 1 (speech)</a:t>
            </a:r>
            <a:endParaRPr lang="en-US" sz="1500" dirty="0"/>
          </a:p>
        </p:txBody>
      </p:sp>
      <p:sp>
        <p:nvSpPr>
          <p:cNvPr id="10" name="text-100"/>
          <p:cNvSpPr txBox="1"/>
          <p:nvPr/>
        </p:nvSpPr>
        <p:spPr>
          <a:xfrm>
            <a:off x="4572000" y="2377440"/>
            <a:ext cx="2926080" cy="640080"/>
          </a:xfrm>
          <a:prstGeom prst="rect">
            <a:avLst/>
          </a:prstGeom>
          <a:noFill/>
          <a:ln/>
        </p:spPr>
        <p:txBody>
          <a:bodyPr wrap="square" lIns="0" tIns="0" rIns="0" bIns="0" rtlCol="0" anchor="t"/>
          <a:lstStyle/>
          <a:p>
            <a:pPr indent="0" marL="0">
              <a:buNone/>
            </a:pPr>
            <a:r>
              <a:rPr lang="en-US" sz="1400" dirty="0">
                <a:solidFill>
                  <a:schemeClr val="tx2"/>
                </a:solidFill>
              </a:rPr>
              <a:t>Priya at 0:38: “move it to Friday”</a:t>
            </a:r>
            <a:endParaRPr lang="en-US" sz="1400" dirty="0"/>
          </a:p>
        </p:txBody>
      </p:sp>
      <p:sp>
        <p:nvSpPr>
          <p:cNvPr id="11" name="edge-101"/>
          <p:cNvSpPr/>
          <p:nvPr/>
        </p:nvSpPr>
        <p:spPr>
          <a:xfrm flipH="1">
            <a:off x="3931920" y="2258568"/>
            <a:ext cx="365760" cy="0"/>
          </a:xfrm>
          <a:prstGeom prst="line">
            <a:avLst/>
          </a:prstGeom>
          <a:noFill/>
          <a:ln w="25400">
            <a:solidFill>
              <a:schemeClr val="accent1"/>
            </a:solidFill>
            <a:prstDash val="solid"/>
            <a:tailEnd type="triangle"/>
          </a:ln>
        </p:spPr>
      </p:sp>
      <p:sp>
        <p:nvSpPr>
          <p:cNvPr id="12" name="card-102"/>
          <p:cNvSpPr/>
          <p:nvPr/>
        </p:nvSpPr>
        <p:spPr>
          <a:xfrm>
            <a:off x="8138160" y="1371600"/>
            <a:ext cx="3337560" cy="1783080"/>
          </a:xfrm>
          <a:prstGeom prst="roundRect">
            <a:avLst>
              <a:gd name="adj" fmla="val 5128"/>
            </a:avLst>
          </a:prstGeom>
          <a:solidFill>
            <a:schemeClr val="bg1"/>
          </a:solidFill>
          <a:ln w="22225">
            <a:solidFill>
              <a:schemeClr val="accent1"/>
            </a:solidFill>
            <a:prstDash val="solid"/>
          </a:ln>
        </p:spPr>
      </p:sp>
      <p:sp>
        <p:nvSpPr>
          <p:cNvPr id="13" name="text-103"/>
          <p:cNvSpPr txBox="1"/>
          <p:nvPr/>
        </p:nvSpPr>
        <p:spPr>
          <a:xfrm>
            <a:off x="8366760" y="1508760"/>
            <a:ext cx="2926080" cy="457200"/>
          </a:xfrm>
          <a:prstGeom prst="rect">
            <a:avLst/>
          </a:prstGeom>
          <a:noFill/>
          <a:ln/>
        </p:spPr>
        <p:txBody>
          <a:bodyPr wrap="square" lIns="0" tIns="0" rIns="0" bIns="0" rtlCol="0" anchor="t"/>
          <a:lstStyle/>
          <a:p>
            <a:pPr indent="0" marL="0">
              <a:buNone/>
            </a:pPr>
            <a:r>
              <a:rPr lang="en-US" sz="2400" b="1" dirty="0">
                <a:solidFill>
                  <a:schemeClr val="accent1"/>
                </a:solidFill>
              </a:rPr>
              <a:t>Due Sept 28</a:t>
            </a:r>
            <a:endParaRPr lang="en-US" sz="2400" dirty="0"/>
          </a:p>
        </p:txBody>
      </p:sp>
      <p:sp>
        <p:nvSpPr>
          <p:cNvPr id="14" name="text-104"/>
          <p:cNvSpPr txBox="1"/>
          <p:nvPr/>
        </p:nvSpPr>
        <p:spPr>
          <a:xfrm>
            <a:off x="8366760" y="2011680"/>
            <a:ext cx="2926080" cy="365760"/>
          </a:xfrm>
          <a:prstGeom prst="rect">
            <a:avLst/>
          </a:prstGeom>
          <a:noFill/>
          <a:ln/>
        </p:spPr>
        <p:txBody>
          <a:bodyPr wrap="square" lIns="0" tIns="0" rIns="0" bIns="0" rtlCol="0" anchor="t"/>
          <a:lstStyle/>
          <a:p>
            <a:pPr indent="0" marL="0">
              <a:buNone/>
            </a:pPr>
            <a:r>
              <a:rPr lang="en-US" sz="1500" b="1" dirty="0">
                <a:solidFill>
                  <a:schemeClr val="tx1"/>
                </a:solidFill>
              </a:rPr>
              <a:t>Sept 17 · Email from Priya</a:t>
            </a:r>
            <a:endParaRPr lang="en-US" sz="1500" dirty="0"/>
          </a:p>
        </p:txBody>
      </p:sp>
      <p:sp>
        <p:nvSpPr>
          <p:cNvPr id="15" name="text-105"/>
          <p:cNvSpPr txBox="1"/>
          <p:nvPr/>
        </p:nvSpPr>
        <p:spPr>
          <a:xfrm>
            <a:off x="8366760" y="2377440"/>
            <a:ext cx="2926080" cy="640080"/>
          </a:xfrm>
          <a:prstGeom prst="rect">
            <a:avLst/>
          </a:prstGeom>
          <a:noFill/>
          <a:ln/>
        </p:spPr>
        <p:txBody>
          <a:bodyPr wrap="square" lIns="0" tIns="0" rIns="0" bIns="0" rtlCol="0" anchor="t"/>
          <a:lstStyle/>
          <a:p>
            <a:pPr indent="0" marL="0">
              <a:buNone/>
            </a:pPr>
            <a:r>
              <a:rPr lang="en-US" sz="1400" dirty="0">
                <a:solidFill>
                  <a:schemeClr val="tx2"/>
                </a:solidFill>
              </a:rPr>
              <a:t>“UPI flow: moving to Monday the 28th”</a:t>
            </a:r>
            <a:endParaRPr lang="en-US" sz="1400" dirty="0"/>
          </a:p>
        </p:txBody>
      </p:sp>
      <p:sp>
        <p:nvSpPr>
          <p:cNvPr id="16" name="edge-106"/>
          <p:cNvSpPr/>
          <p:nvPr/>
        </p:nvSpPr>
        <p:spPr>
          <a:xfrm flipH="1">
            <a:off x="7726680" y="2258568"/>
            <a:ext cx="365760" cy="0"/>
          </a:xfrm>
          <a:prstGeom prst="line">
            <a:avLst/>
          </a:prstGeom>
          <a:noFill/>
          <a:ln w="25400">
            <a:solidFill>
              <a:schemeClr val="accent1"/>
            </a:solidFill>
            <a:prstDash val="solid"/>
            <a:tailEnd type="triangle"/>
          </a:ln>
        </p:spPr>
      </p:sp>
      <p:sp>
        <p:nvSpPr>
          <p:cNvPr id="17" name="edge-label-107"/>
          <p:cNvSpPr txBox="1"/>
          <p:nvPr/>
        </p:nvSpPr>
        <p:spPr>
          <a:xfrm>
            <a:off x="3703320" y="3246120"/>
            <a:ext cx="1371600" cy="237744"/>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SUPERSEDES</a:t>
            </a:r>
            <a:endParaRPr lang="en-US" sz="1000" dirty="0"/>
          </a:p>
        </p:txBody>
      </p:sp>
      <p:sp>
        <p:nvSpPr>
          <p:cNvPr id="18" name="edge-label-108"/>
          <p:cNvSpPr txBox="1"/>
          <p:nvPr/>
        </p:nvSpPr>
        <p:spPr>
          <a:xfrm>
            <a:off x="7498080" y="3246120"/>
            <a:ext cx="1371600" cy="237744"/>
          </a:xfrm>
          <a:prstGeom prst="rect">
            <a:avLst/>
          </a:prstGeom>
          <a:solidFill>
            <a:schemeClr val="bg1"/>
          </a:solid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SUPERSEDES</a:t>
            </a:r>
            <a:endParaRPr lang="en-US" sz="1000" dirty="0"/>
          </a:p>
        </p:txBody>
      </p:sp>
      <p:sp>
        <p:nvSpPr>
          <p:cNvPr id="19" name="text-109"/>
          <p:cNvSpPr txBox="1"/>
          <p:nvPr/>
        </p:nvSpPr>
        <p:spPr>
          <a:xfrm>
            <a:off x="548640" y="3611880"/>
            <a:ext cx="11064240" cy="320040"/>
          </a:xfrm>
          <a:prstGeom prst="rect">
            <a:avLst/>
          </a:prstGeom>
          <a:noFill/>
          <a:ln/>
        </p:spPr>
        <p:txBody>
          <a:bodyPr wrap="square" lIns="0" tIns="0" rIns="0" bIns="0" rtlCol="0" anchor="t"/>
          <a:lstStyle/>
          <a:p>
            <a:pPr indent="0" marL="0">
              <a:buNone/>
            </a:pPr>
            <a:r>
              <a:rPr lang="en-US" sz="1400" dirty="0">
                <a:solidFill>
                  <a:schemeClr val="tx2"/>
                </a:solidFill>
              </a:rPr>
              <a:t>Standup 2 (Sept 21) confirms the 28th in speech: no new edge. The flow was completed on Mon Sept 28.</a:t>
            </a:r>
            <a:endParaRPr lang="en-US" sz="1400" dirty="0"/>
          </a:p>
        </p:txBody>
      </p:sp>
      <p:sp>
        <p:nvSpPr>
          <p:cNvPr id="20" name="text-110"/>
          <p:cNvSpPr txBox="1"/>
          <p:nvPr/>
        </p:nvSpPr>
        <p:spPr>
          <a:xfrm>
            <a:off x="548640" y="4114800"/>
            <a:ext cx="5486400" cy="274320"/>
          </a:xfrm>
          <a:prstGeom prst="rect">
            <a:avLst/>
          </a:prstGeom>
          <a:noFill/>
          <a:ln/>
        </p:spPr>
        <p:txBody>
          <a:bodyPr wrap="square" lIns="0" tIns="0" rIns="0" bIns="0" rtlCol="0" anchor="t"/>
          <a:lstStyle/>
          <a:p>
            <a:pPr indent="0" marL="0">
              <a:buNone/>
            </a:pPr>
            <a:r>
              <a:rPr lang="en-US" sz="1100" b="1" spc="100" kern="0" dirty="0">
                <a:solidFill>
                  <a:schemeClr val="tx2"/>
                </a:solidFill>
              </a:rPr>
              <a:t>CYPHER/31_BELIEF_AT_TIME (EXCERPT)</a:t>
            </a:r>
            <a:endParaRPr lang="en-US" sz="1100" dirty="0"/>
          </a:p>
        </p:txBody>
      </p:sp>
      <p:sp>
        <p:nvSpPr>
          <p:cNvPr id="21" name="code-111"/>
          <p:cNvSpPr txBox="1"/>
          <p:nvPr/>
        </p:nvSpPr>
        <p:spPr>
          <a:xfrm>
            <a:off x="548640" y="4434840"/>
            <a:ext cx="6675120" cy="1691640"/>
          </a:xfrm>
          <a:prstGeom prst="roundRect">
            <a:avLst>
              <a:gd name="adj" fmla="val 4324"/>
            </a:avLst>
          </a:prstGeom>
          <a:solidFill>
            <a:schemeClr val="bg2"/>
          </a:solidFill>
          <a:ln w="12700">
            <a:solidFill>
              <a:schemeClr val="accent4"/>
            </a:solidFill>
          </a:ln>
        </p:spPr>
        <p:txBody>
          <a:bodyPr wrap="square" lIns="127000" tIns="152400" rIns="152400" bIns="127000" rtlCol="0" anchor="t"/>
          <a:lstStyle/>
          <a:p>
            <a:pPr algn="l" indent="0" marL="0">
              <a:buNone/>
            </a:pPr>
            <a:r>
              <a:rPr lang="en-US" sz="1300" dirty="0">
                <a:solidFill>
                  <a:schemeClr val="tx1"/>
                </a:solidFill>
                <a:latin typeface="Courier New" pitchFamily="34" charset="0"/>
                <a:ea typeface="Courier New" pitchFamily="34" charset="-122"/>
                <a:cs typeface="Courier New" pitchFamily="34" charset="-120"/>
              </a:rPr>
              <a:t>MATCH (f:Fact)</a:t>
            </a:r>
            <a:endParaRPr lang="en-US" sz="1300" dirty="0"/>
          </a:p>
          <a:p>
            <a:pPr algn="l" indent="0" marL="0">
              <a:buNone/>
            </a:pPr>
            <a:r>
              <a:rPr lang="en-US" sz="1300" dirty="0">
                <a:solidFill>
                  <a:schemeClr val="tx1"/>
                </a:solidFill>
                <a:latin typeface="Courier New" pitchFamily="34" charset="0"/>
                <a:ea typeface="Courier New" pitchFamily="34" charset="-122"/>
                <a:cs typeface="Courier New" pitchFamily="34" charset="-120"/>
              </a:rPr>
              <a:t>WHERE f.status &lt;&gt; 'retracted'</a:t>
            </a:r>
            <a:endParaRPr lang="en-US" sz="1300" dirty="0"/>
          </a:p>
          <a:p>
            <a:pPr algn="l" indent="0" marL="0">
              <a:buNone/>
            </a:pPr>
            <a:r>
              <a:rPr lang="en-US" sz="1300" dirty="0">
                <a:solidFill>
                  <a:schemeClr val="tx1"/>
                </a:solidFill>
                <a:latin typeface="Courier New" pitchFamily="34" charset="0"/>
                <a:ea typeface="Courier New" pitchFamily="34" charset="-122"/>
                <a:cs typeface="Courier New" pitchFamily="34" charset="-120"/>
              </a:rPr>
              <a:t>  AND f.valid_from &lt;= $t</a:t>
            </a:r>
            <a:endParaRPr lang="en-US" sz="1300" dirty="0"/>
          </a:p>
          <a:p>
            <a:pPr algn="l" indent="0" marL="0">
              <a:buNone/>
            </a:pPr>
            <a:r>
              <a:rPr lang="en-US" sz="1300" dirty="0">
                <a:solidFill>
                  <a:schemeClr val="tx1"/>
                </a:solidFill>
                <a:latin typeface="Courier New" pitchFamily="34" charset="0"/>
                <a:ea typeface="Courier New" pitchFamily="34" charset="-122"/>
                <a:cs typeface="Courier New" pitchFamily="34" charset="-120"/>
              </a:rPr>
              <a:t>  AND (f.valid_to IS NULL OR f.valid_to &gt; $t)</a:t>
            </a:r>
            <a:endParaRPr lang="en-US" sz="1300" dirty="0"/>
          </a:p>
          <a:p>
            <a:pPr algn="l" indent="0" marL="0">
              <a:buNone/>
            </a:pPr>
            <a:r>
              <a:rPr lang="en-US" sz="1300" dirty="0">
                <a:solidFill>
                  <a:schemeClr val="tx1"/>
                </a:solidFill>
                <a:latin typeface="Courier New" pitchFamily="34" charset="0"/>
                <a:ea typeface="Courier New" pitchFamily="34" charset="-122"/>
                <a:cs typeface="Courier New" pitchFamily="34" charset="-120"/>
              </a:rPr>
              <a:t>  AND ($known_by IS NULL OR f.created_at &lt;= $known_by)</a:t>
            </a:r>
            <a:endParaRPr lang="en-US" sz="1300" dirty="0"/>
          </a:p>
        </p:txBody>
      </p:sp>
      <p:sp>
        <p:nvSpPr>
          <p:cNvPr id="22" name="text-112"/>
          <p:cNvSpPr txBox="1"/>
          <p:nvPr/>
        </p:nvSpPr>
        <p:spPr>
          <a:xfrm>
            <a:off x="7589520" y="4114800"/>
            <a:ext cx="4023360" cy="274320"/>
          </a:xfrm>
          <a:prstGeom prst="rect">
            <a:avLst/>
          </a:prstGeom>
          <a:noFill/>
          <a:ln/>
        </p:spPr>
        <p:txBody>
          <a:bodyPr wrap="square" lIns="0" tIns="0" rIns="0" bIns="0" rtlCol="0" anchor="t"/>
          <a:lstStyle/>
          <a:p>
            <a:pPr indent="0" marL="0">
              <a:buNone/>
            </a:pPr>
            <a:r>
              <a:rPr lang="en-US" sz="1100" b="1" spc="100" kern="0" dirty="0">
                <a:solidFill>
                  <a:schemeClr val="tx2"/>
                </a:solidFill>
              </a:rPr>
              <a:t>WHAT WE BELIEVED</a:t>
            </a:r>
            <a:endParaRPr lang="en-US" sz="1100" dirty="0"/>
          </a:p>
        </p:txBody>
      </p:sp>
      <p:graphicFrame>
        <p:nvGraphicFramePr>
          <p:cNvPr id="6" name="table-113"/>
          <p:cNvGraphicFramePr>
            <a:graphicFrameLocks noGrp="1"/>
          </p:cNvGraphicFramePr>
          <p:nvPr>
            <p:extLst>
              <p:ext uri="{D42A27DB-BD31-4B8C-83A1-F6EECF244321}">
                <p14:modId xmlns:p14="http://schemas.microsoft.com/office/powerpoint/2010/main" val="1579011935"/>
              </p:ext>
            </p:extLst>
          </p:nvPr>
        </p:nvGraphicFramePr>
        <p:xfrm>
          <a:off x="7589520" y="4434840"/>
          <a:ext cx="4023360" cy="914400"/>
        </p:xfrm>
        <a:graphic>
          <a:graphicData uri="http://schemas.openxmlformats.org/drawingml/2006/table">
            <a:tbl>
              <a:tblPr/>
              <a:tblGrid>
                <a:gridCol w="2011680"/>
                <a:gridCol w="2011680"/>
              </a:tblGrid>
              <a:tr h="384048">
                <a:tc>
                  <a:txBody>
                    <a:bodyPr/>
                    <a:lstStyle/>
                    <a:p>
                      <a:pPr indent="0" marL="0">
                        <a:buNone/>
                      </a:pPr>
                      <a:r>
                        <a:rPr lang="en-US" sz="1500" b="1" dirty="0">
                          <a:solidFill>
                            <a:schemeClr val="tx2"/>
                          </a:solidFill>
                        </a:rPr>
                        <a:t>Belief at</a:t>
                      </a:r>
                      <a:endParaRPr lang="en-US" sz="1500" dirty="0"/>
                    </a:p>
                  </a:txBody>
                  <a:tcPr marL="109728" marR="109728"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1"/>
                    </a:solidFill>
                  </a:tcPr>
                </a:tc>
                <a:tc>
                  <a:txBody>
                    <a:bodyPr/>
                    <a:lstStyle/>
                    <a:p>
                      <a:pPr indent="0" marL="0">
                        <a:buNone/>
                      </a:pPr>
                      <a:r>
                        <a:rPr lang="en-US" sz="1500" b="1" dirty="0">
                          <a:solidFill>
                            <a:schemeClr val="tx2"/>
                          </a:solidFill>
                        </a:rPr>
                        <a:t>UPI flow due</a:t>
                      </a:r>
                      <a:endParaRPr lang="en-US" sz="1500" dirty="0"/>
                    </a:p>
                  </a:txBody>
                  <a:tcPr marL="109728" marR="109728"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1"/>
                    </a:solidFill>
                  </a:tcPr>
                </a:tc>
              </a:tr>
              <a:tr h="384048">
                <a:tc>
                  <a:txBody>
                    <a:bodyPr/>
                    <a:lstStyle/>
                    <a:p>
                      <a:pPr indent="0" marL="0">
                        <a:buNone/>
                      </a:pPr>
                      <a:r>
                        <a:rPr lang="en-US" sz="1500" dirty="0">
                          <a:solidFill>
                            <a:schemeClr val="tx1"/>
                          </a:solidFill>
                        </a:rPr>
                        <a:t>Sept 10</a:t>
                      </a:r>
                      <a:endParaRPr lang="en-US" sz="1500" dirty="0"/>
                    </a:p>
                  </a:txBody>
                  <a:tcPr marL="109728" marR="109728"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Sept 24</a:t>
                      </a:r>
                      <a:endParaRPr lang="en-US" sz="1500" dirty="0"/>
                    </a:p>
                  </a:txBody>
                  <a:tcPr marL="109728" marR="109728"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1"/>
                    </a:solidFill>
                  </a:tcPr>
                </a:tc>
              </a:tr>
              <a:tr h="384048">
                <a:tc>
                  <a:txBody>
                    <a:bodyPr/>
                    <a:lstStyle/>
                    <a:p>
                      <a:pPr indent="0" marL="0">
                        <a:buNone/>
                      </a:pPr>
                      <a:r>
                        <a:rPr lang="en-US" sz="1500" dirty="0">
                          <a:solidFill>
                            <a:schemeClr val="tx1"/>
                          </a:solidFill>
                        </a:rPr>
                        <a:t>Sept 16</a:t>
                      </a:r>
                      <a:endParaRPr lang="en-US" sz="1500" dirty="0"/>
                    </a:p>
                  </a:txBody>
                  <a:tcPr marL="109728" marR="109728"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Sept 25</a:t>
                      </a:r>
                      <a:endParaRPr lang="en-US" sz="1500" dirty="0"/>
                    </a:p>
                  </a:txBody>
                  <a:tcPr marL="109728" marR="109728"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1"/>
                    </a:solidFill>
                  </a:tcPr>
                </a:tc>
              </a:tr>
              <a:tr h="384048">
                <a:tc>
                  <a:txBody>
                    <a:bodyPr/>
                    <a:lstStyle/>
                    <a:p>
                      <a:pPr indent="0" marL="0">
                        <a:buNone/>
                      </a:pPr>
                      <a:r>
                        <a:rPr lang="en-US" sz="1500" dirty="0">
                          <a:solidFill>
                            <a:schemeClr val="tx1"/>
                          </a:solidFill>
                        </a:rPr>
                        <a:t>Sept 20</a:t>
                      </a:r>
                      <a:endParaRPr lang="en-US" sz="1500" dirty="0"/>
                    </a:p>
                  </a:txBody>
                  <a:tcPr marL="109728" marR="109728"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Sept 28</a:t>
                      </a:r>
                      <a:endParaRPr lang="en-US" sz="1500" dirty="0"/>
                    </a:p>
                  </a:txBody>
                  <a:tcPr marL="109728" marR="109728"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Coordination in one atomic query</a:t>
            </a:r>
            <a:endParaRPr lang="en-US" sz="3400" dirty="0"/>
          </a:p>
        </p:txBody>
      </p:sp>
      <p:sp>
        <p:nvSpPr>
          <p:cNvPr id="3" name="text-114"/>
          <p:cNvSpPr txBox="1"/>
          <p:nvPr/>
        </p:nvSpPr>
        <p:spPr>
          <a:xfrm>
            <a:off x="548640" y="1325880"/>
            <a:ext cx="5486400" cy="274320"/>
          </a:xfrm>
          <a:prstGeom prst="rect">
            <a:avLst/>
          </a:prstGeom>
          <a:noFill/>
          <a:ln/>
        </p:spPr>
        <p:txBody>
          <a:bodyPr wrap="square" lIns="0" tIns="0" rIns="0" bIns="0" rtlCol="0" anchor="t"/>
          <a:lstStyle/>
          <a:p>
            <a:pPr indent="0" marL="0">
              <a:buNone/>
            </a:pPr>
            <a:r>
              <a:rPr lang="en-US" sz="1100" b="1" spc="100" kern="0" dirty="0">
                <a:solidFill>
                  <a:schemeClr val="tx2"/>
                </a:solidFill>
              </a:rPr>
              <a:t>CYPHER/20_CLAIM_TASK</a:t>
            </a:r>
            <a:endParaRPr lang="en-US" sz="1100" dirty="0"/>
          </a:p>
        </p:txBody>
      </p:sp>
      <p:sp>
        <p:nvSpPr>
          <p:cNvPr id="4" name="code-115"/>
          <p:cNvSpPr txBox="1"/>
          <p:nvPr/>
        </p:nvSpPr>
        <p:spPr>
          <a:xfrm>
            <a:off x="548640" y="1645920"/>
            <a:ext cx="5669280" cy="1828800"/>
          </a:xfrm>
          <a:prstGeom prst="roundRect">
            <a:avLst>
              <a:gd name="adj" fmla="val 4000"/>
            </a:avLst>
          </a:prstGeom>
          <a:solidFill>
            <a:schemeClr val="bg2"/>
          </a:solidFill>
          <a:ln w="12700">
            <a:solidFill>
              <a:schemeClr val="accent4"/>
            </a:solidFill>
          </a:ln>
        </p:spPr>
        <p:txBody>
          <a:bodyPr wrap="square" lIns="127000" tIns="152400" rIns="152400" bIns="127000"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MATCH (t:Task {id: $id, status: 'submitted',</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version: $v})</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MATCH (a:Agent {id: $agent})</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SET t.status = 'working', t.version = $v + 1,</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t.owner_agent = $agent, t.updated_at = $now</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CREATE (t)-[:CLAIMED_BY {at: $now}]-&gt;(a)</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RETURN t.version AS version</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zero rows: another agent won</a:t>
            </a:r>
            <a:endParaRPr lang="en-US" sz="1200" dirty="0"/>
          </a:p>
        </p:txBody>
      </p:sp>
      <p:sp>
        <p:nvSpPr>
          <p:cNvPr id="5" name="text-116"/>
          <p:cNvSpPr txBox="1"/>
          <p:nvPr/>
        </p:nvSpPr>
        <p:spPr>
          <a:xfrm>
            <a:off x="6492240" y="1325880"/>
            <a:ext cx="5120640" cy="274320"/>
          </a:xfrm>
          <a:prstGeom prst="rect">
            <a:avLst/>
          </a:prstGeom>
          <a:noFill/>
          <a:ln/>
        </p:spPr>
        <p:txBody>
          <a:bodyPr wrap="square" lIns="0" tIns="0" rIns="0" bIns="0" rtlCol="0" anchor="t"/>
          <a:lstStyle/>
          <a:p>
            <a:pPr indent="0" marL="0">
              <a:buNone/>
            </a:pPr>
            <a:r>
              <a:rPr lang="en-US" sz="1100" b="1" spc="100" kern="0" dirty="0">
                <a:solidFill>
                  <a:schemeClr val="tx2"/>
                </a:solidFill>
              </a:rPr>
              <a:t>CYPHER/21_HANDOFF_TASK (EXCERPT)</a:t>
            </a:r>
            <a:endParaRPr lang="en-US" sz="1100" dirty="0"/>
          </a:p>
        </p:txBody>
      </p:sp>
      <p:sp>
        <p:nvSpPr>
          <p:cNvPr id="6" name="code-117"/>
          <p:cNvSpPr txBox="1"/>
          <p:nvPr/>
        </p:nvSpPr>
        <p:spPr>
          <a:xfrm>
            <a:off x="6492240" y="1645920"/>
            <a:ext cx="5120640" cy="1828800"/>
          </a:xfrm>
          <a:prstGeom prst="roundRect">
            <a:avLst>
              <a:gd name="adj" fmla="val 4000"/>
            </a:avLst>
          </a:prstGeom>
          <a:solidFill>
            <a:schemeClr val="bg2"/>
          </a:solidFill>
          <a:ln w="12700">
            <a:solidFill>
              <a:schemeClr val="accent4"/>
            </a:solidFill>
          </a:ln>
        </p:spPr>
        <p:txBody>
          <a:bodyPr wrap="square" lIns="127000" tIns="152400" rIns="152400" bIns="127000"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MATCH (t:Task {id: $id, owner_agent: $from,</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version: $v})</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MATCH (to:Agent {id: $to})</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SET t.owner_agent = $to,</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t.status = 'submitted', t.version = $v + 1</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CREATE (t)-[:HANDED_OFF {at: $now,</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summary: $summary, subgraph_ids: $ids}]-&gt;(to)</a:t>
            </a:r>
            <a:endParaRPr lang="en-US" sz="1200" dirty="0"/>
          </a:p>
        </p:txBody>
      </p:sp>
      <p:sp>
        <p:nvSpPr>
          <p:cNvPr id="7" name="node-118"/>
          <p:cNvSpPr txBox="1"/>
          <p:nvPr/>
        </p:nvSpPr>
        <p:spPr>
          <a:xfrm>
            <a:off x="548640" y="4160520"/>
            <a:ext cx="1600200" cy="548640"/>
          </a:xfrm>
          <a:prstGeom prst="roundRect">
            <a:avLst>
              <a:gd name="adj" fmla="val 20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Fact superseded</a:t>
            </a:r>
            <a:endParaRPr lang="en-US" sz="1200" dirty="0"/>
          </a:p>
        </p:txBody>
      </p:sp>
      <p:sp>
        <p:nvSpPr>
          <p:cNvPr id="8" name="edge-119"/>
          <p:cNvSpPr/>
          <p:nvPr/>
        </p:nvSpPr>
        <p:spPr>
          <a:xfrm>
            <a:off x="2176272" y="4434840"/>
            <a:ext cx="237744" cy="0"/>
          </a:xfrm>
          <a:prstGeom prst="line">
            <a:avLst/>
          </a:prstGeom>
          <a:noFill/>
          <a:ln w="19050">
            <a:solidFill>
              <a:schemeClr val="tx2"/>
            </a:solidFill>
            <a:prstDash val="solid"/>
            <a:tailEnd type="triangle"/>
          </a:ln>
        </p:spPr>
      </p:sp>
      <p:sp>
        <p:nvSpPr>
          <p:cNvPr id="9" name="node-120"/>
          <p:cNvSpPr txBox="1"/>
          <p:nvPr/>
        </p:nvSpPr>
        <p:spPr>
          <a:xfrm>
            <a:off x="2441448" y="4160520"/>
            <a:ext cx="1600200" cy="548640"/>
          </a:xfrm>
          <a:prstGeom prst="roundRect">
            <a:avLst>
              <a:gd name="adj" fmla="val 20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200" dirty="0">
                <a:solidFill>
                  <a:schemeClr val="tx1"/>
                </a:solidFill>
              </a:rPr>
              <a:t>Redis pub/sub</a:t>
            </a:r>
            <a:endParaRPr lang="en-US" sz="1200" dirty="0"/>
          </a:p>
        </p:txBody>
      </p:sp>
      <p:sp>
        <p:nvSpPr>
          <p:cNvPr id="10" name="edge-121"/>
          <p:cNvSpPr/>
          <p:nvPr/>
        </p:nvSpPr>
        <p:spPr>
          <a:xfrm>
            <a:off x="4069080" y="4434840"/>
            <a:ext cx="237744" cy="0"/>
          </a:xfrm>
          <a:prstGeom prst="line">
            <a:avLst/>
          </a:prstGeom>
          <a:noFill/>
          <a:ln w="19050">
            <a:solidFill>
              <a:schemeClr val="tx2"/>
            </a:solidFill>
            <a:prstDash val="solid"/>
            <a:tailEnd type="triangle"/>
          </a:ln>
        </p:spPr>
      </p:sp>
      <p:sp>
        <p:nvSpPr>
          <p:cNvPr id="11" name="node-122"/>
          <p:cNvSpPr txBox="1"/>
          <p:nvPr/>
        </p:nvSpPr>
        <p:spPr>
          <a:xfrm>
            <a:off x="4334256" y="4160520"/>
            <a:ext cx="1600200" cy="548640"/>
          </a:xfrm>
          <a:prstGeom prst="roundRect">
            <a:avLst>
              <a:gd name="adj" fmla="val 20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Scheduler claims</a:t>
            </a:r>
            <a:endParaRPr lang="en-US" sz="1200" dirty="0"/>
          </a:p>
        </p:txBody>
      </p:sp>
      <p:sp>
        <p:nvSpPr>
          <p:cNvPr id="12" name="edge-123"/>
          <p:cNvSpPr/>
          <p:nvPr/>
        </p:nvSpPr>
        <p:spPr>
          <a:xfrm>
            <a:off x="5961888" y="4434840"/>
            <a:ext cx="237744" cy="0"/>
          </a:xfrm>
          <a:prstGeom prst="line">
            <a:avLst/>
          </a:prstGeom>
          <a:noFill/>
          <a:ln w="19050">
            <a:solidFill>
              <a:schemeClr val="tx2"/>
            </a:solidFill>
            <a:prstDash val="solid"/>
            <a:tailEnd type="triangle"/>
          </a:ln>
        </p:spPr>
      </p:sp>
      <p:sp>
        <p:nvSpPr>
          <p:cNvPr id="13" name="node-124"/>
          <p:cNvSpPr txBox="1"/>
          <p:nvPr/>
        </p:nvSpPr>
        <p:spPr>
          <a:xfrm>
            <a:off x="6227064" y="4160520"/>
            <a:ext cx="1600200" cy="548640"/>
          </a:xfrm>
          <a:prstGeom prst="roundRect">
            <a:avLst>
              <a:gd name="adj" fmla="val 20000"/>
            </a:avLst>
          </a:prstGeom>
          <a:solidFill>
            <a:schemeClr val="accent1"/>
          </a:solidFill>
          <a:ln w="15875">
            <a:solidFill>
              <a:schemeClr val="accent1"/>
            </a:solidFill>
          </a:ln>
        </p:spPr>
        <p:txBody>
          <a:bodyPr wrap="square" lIns="25400" tIns="25400" rIns="25400" bIns="25400" rtlCol="0" anchor="ctr"/>
          <a:lstStyle/>
          <a:p>
            <a:pPr algn="ctr" indent="0" marL="0">
              <a:buNone/>
            </a:pPr>
            <a:r>
              <a:rPr lang="en-US" sz="1200" b="1" dirty="0">
                <a:solidFill>
                  <a:schemeClr val="bg1"/>
                </a:solidFill>
              </a:rPr>
              <a:t>HANDED_OFF edge</a:t>
            </a:r>
            <a:endParaRPr lang="en-US" sz="1200" dirty="0"/>
          </a:p>
        </p:txBody>
      </p:sp>
      <p:sp>
        <p:nvSpPr>
          <p:cNvPr id="14" name="edge-125"/>
          <p:cNvSpPr/>
          <p:nvPr/>
        </p:nvSpPr>
        <p:spPr>
          <a:xfrm>
            <a:off x="7854696" y="4434840"/>
            <a:ext cx="237744" cy="0"/>
          </a:xfrm>
          <a:prstGeom prst="line">
            <a:avLst/>
          </a:prstGeom>
          <a:noFill/>
          <a:ln w="19050">
            <a:solidFill>
              <a:schemeClr val="tx2"/>
            </a:solidFill>
            <a:prstDash val="solid"/>
            <a:tailEnd type="triangle"/>
          </a:ln>
        </p:spPr>
      </p:sp>
      <p:sp>
        <p:nvSpPr>
          <p:cNvPr id="15" name="node-126"/>
          <p:cNvSpPr txBox="1"/>
          <p:nvPr/>
        </p:nvSpPr>
        <p:spPr>
          <a:xfrm>
            <a:off x="8119872" y="4160520"/>
            <a:ext cx="1600200" cy="548640"/>
          </a:xfrm>
          <a:prstGeom prst="roundRect">
            <a:avLst>
              <a:gd name="adj" fmla="val 20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FollowUp</a:t>
            </a:r>
            <a:endParaRPr lang="en-US" sz="1200" dirty="0"/>
          </a:p>
        </p:txBody>
      </p:sp>
      <p:sp>
        <p:nvSpPr>
          <p:cNvPr id="16" name="edge-127"/>
          <p:cNvSpPr/>
          <p:nvPr/>
        </p:nvSpPr>
        <p:spPr>
          <a:xfrm>
            <a:off x="9747504" y="4434840"/>
            <a:ext cx="237744" cy="0"/>
          </a:xfrm>
          <a:prstGeom prst="line">
            <a:avLst/>
          </a:prstGeom>
          <a:noFill/>
          <a:ln w="19050">
            <a:solidFill>
              <a:schemeClr val="tx2"/>
            </a:solidFill>
            <a:prstDash val="solid"/>
            <a:tailEnd type="triangle"/>
          </a:ln>
        </p:spPr>
      </p:sp>
      <p:sp>
        <p:nvSpPr>
          <p:cNvPr id="17" name="node-128"/>
          <p:cNvSpPr txBox="1"/>
          <p:nvPr/>
        </p:nvSpPr>
        <p:spPr>
          <a:xfrm>
            <a:off x="10012680" y="4160520"/>
            <a:ext cx="1600200" cy="548640"/>
          </a:xfrm>
          <a:prstGeom prst="roundRect">
            <a:avLst>
              <a:gd name="adj" fmla="val 20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Artifact</a:t>
            </a:r>
            <a:endParaRPr lang="en-US" sz="1200" dirty="0"/>
          </a:p>
        </p:txBody>
      </p:sp>
      <p:sp>
        <p:nvSpPr>
          <p:cNvPr id="18" name="text-129"/>
          <p:cNvSpPr txBox="1"/>
          <p:nvPr/>
        </p:nvSpPr>
        <p:spPr>
          <a:xfrm>
            <a:off x="548640" y="5212080"/>
            <a:ext cx="6400800" cy="457200"/>
          </a:xfrm>
          <a:prstGeom prst="rect">
            <a:avLst/>
          </a:prstGeom>
          <a:noFill/>
          <a:ln/>
        </p:spPr>
        <p:txBody>
          <a:bodyPr wrap="square" lIns="0" tIns="0" rIns="0" bIns="0" rtlCol="0" anchor="t"/>
          <a:lstStyle/>
          <a:p>
            <a:pPr indent="0" marL="0">
              <a:buNone/>
            </a:pPr>
            <a:r>
              <a:rPr lang="en-US" sz="2400" b="1" dirty="0">
                <a:solidFill>
                  <a:schemeClr val="accent1"/>
                </a:solidFill>
              </a:rPr>
              <a:t>25 agents race · 1 winner · 24 losers</a:t>
            </a:r>
            <a:endParaRPr lang="en-US" sz="1400" dirty="0"/>
          </a:p>
        </p:txBody>
      </p:sp>
      <p:sp>
        <p:nvSpPr>
          <p:cNvPr id="19" name="text-130"/>
          <p:cNvSpPr txBox="1"/>
          <p:nvPr/>
        </p:nvSpPr>
        <p:spPr>
          <a:xfrm>
            <a:off x="7040880" y="5166360"/>
            <a:ext cx="4572000" cy="731520"/>
          </a:xfrm>
          <a:prstGeom prst="rect">
            <a:avLst/>
          </a:prstGeom>
          <a:noFill/>
          <a:ln/>
        </p:spPr>
        <p:txBody>
          <a:bodyPr wrap="square" lIns="0" tIns="0" rIns="0" bIns="0" rtlCol="0" anchor="t"/>
          <a:lstStyle/>
          <a:p>
            <a:pPr indent="0" marL="0">
              <a:buNone/>
            </a:pPr>
            <a:r>
              <a:rPr lang="en-US" sz="1400" dirty="0">
                <a:solidFill>
                  <a:schemeClr val="tx2"/>
                </a:solidFill>
              </a:rPr>
              <a:t>FalkorDB serialises writes per graph, so exactly one claimant sees the row. No lock service outside the database.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Every answer shows its work</a:t>
            </a:r>
            <a:endParaRPr lang="en-US" sz="3400" dirty="0"/>
          </a:p>
        </p:txBody>
      </p:sp>
      <p:sp>
        <p:nvSpPr>
          <p:cNvPr id="3" name="card-131"/>
          <p:cNvSpPr/>
          <p:nvPr/>
        </p:nvSpPr>
        <p:spPr>
          <a:xfrm>
            <a:off x="548640" y="1371600"/>
            <a:ext cx="6858000" cy="4800600"/>
          </a:xfrm>
          <a:prstGeom prst="roundRect">
            <a:avLst>
              <a:gd name="adj" fmla="val 1905"/>
            </a:avLst>
          </a:prstGeom>
          <a:solidFill>
            <a:schemeClr val="bg1"/>
          </a:solidFill>
          <a:ln w="12700">
            <a:solidFill>
              <a:schemeClr val="accent4"/>
            </a:solidFill>
            <a:prstDash val="solid"/>
          </a:ln>
        </p:spPr>
      </p:sp>
      <p:sp>
        <p:nvSpPr>
          <p:cNvPr id="4" name="text-132"/>
          <p:cNvSpPr txBox="1"/>
          <p:nvPr/>
        </p:nvSpPr>
        <p:spPr>
          <a:xfrm>
            <a:off x="822960" y="1554480"/>
            <a:ext cx="6400800" cy="365760"/>
          </a:xfrm>
          <a:prstGeom prst="rect">
            <a:avLst/>
          </a:prstGeom>
          <a:noFill/>
          <a:ln/>
        </p:spPr>
        <p:txBody>
          <a:bodyPr wrap="square" lIns="0" tIns="0" rIns="0" bIns="0" rtlCol="0" anchor="t"/>
          <a:lstStyle/>
          <a:p>
            <a:pPr indent="0" marL="0">
              <a:buNone/>
            </a:pPr>
            <a:r>
              <a:rPr lang="en-US" sz="1600" b="1" dirty="0">
                <a:solidFill>
                  <a:schemeClr val="accent1"/>
                </a:solidFill>
              </a:rPr>
              <a:t>Q  </a:t>
            </a:r>
            <a:pPr indent="0" marL="0">
              <a:buNone/>
            </a:pPr>
            <a:r>
              <a:rPr lang="en-US" sz="1600" b="1" dirty="0">
                <a:solidFill>
                  <a:schemeClr val="tx1"/>
                </a:solidFill>
              </a:rPr>
              <a:t>Why is the UPI flow due on the 28th?</a:t>
            </a:r>
            <a:endParaRPr lang="en-US" sz="1600" dirty="0"/>
          </a:p>
        </p:txBody>
      </p:sp>
      <p:sp>
        <p:nvSpPr>
          <p:cNvPr id="5" name="text-133"/>
          <p:cNvSpPr txBox="1"/>
          <p:nvPr/>
        </p:nvSpPr>
        <p:spPr>
          <a:xfrm>
            <a:off x="822960" y="1965960"/>
            <a:ext cx="6400800" cy="777240"/>
          </a:xfrm>
          <a:prstGeom prst="rect">
            <a:avLst/>
          </a:prstGeom>
          <a:noFill/>
          <a:ln/>
        </p:spPr>
        <p:txBody>
          <a:bodyPr wrap="square" lIns="0" tIns="0" rIns="0" bIns="0" rtlCol="0" anchor="t"/>
          <a:lstStyle/>
          <a:p>
            <a:pPr indent="0" marL="0">
              <a:buNone/>
            </a:pPr>
            <a:r>
              <a:rPr lang="en-US" sz="1400" dirty="0">
                <a:solidFill>
                  <a:schemeClr val="tx1"/>
                </a:solidFill>
              </a:rPr>
              <a:t>Due 2026-09-28, set by Priya in the email “UPI flow: moving to Monday the 28th” (Sept 17). History: Sept 24 (kickoff) → Sept 25 (standup 1) → Sept 28 (email).</a:t>
            </a:r>
            <a:endParaRPr lang="en-US" sz="1400" dirty="0"/>
          </a:p>
        </p:txBody>
      </p:sp>
      <p:sp>
        <p:nvSpPr>
          <p:cNvPr id="6" name="text-134"/>
          <p:cNvSpPr txBox="1"/>
          <p:nvPr/>
        </p:nvSpPr>
        <p:spPr>
          <a:xfrm>
            <a:off x="822960" y="2834640"/>
            <a:ext cx="2743200" cy="274320"/>
          </a:xfrm>
          <a:prstGeom prst="rect">
            <a:avLst/>
          </a:prstGeom>
          <a:noFill/>
          <a:ln/>
        </p:spPr>
        <p:txBody>
          <a:bodyPr wrap="square" lIns="0" tIns="0" rIns="0" bIns="0" rtlCol="0" anchor="t"/>
          <a:lstStyle/>
          <a:p>
            <a:pPr indent="0" marL="0">
              <a:buNone/>
            </a:pPr>
            <a:r>
              <a:rPr lang="en-US" sz="1100" b="1" spc="100" kern="0" dirty="0">
                <a:solidFill>
                  <a:schemeClr val="tx2"/>
                </a:solidFill>
              </a:rPr>
              <a:t>ROUTER DECISION</a:t>
            </a:r>
            <a:endParaRPr lang="en-US" sz="1100" dirty="0"/>
          </a:p>
        </p:txBody>
      </p:sp>
      <p:sp>
        <p:nvSpPr>
          <p:cNvPr id="7" name="text-135"/>
          <p:cNvSpPr txBox="1"/>
          <p:nvPr/>
        </p:nvSpPr>
        <p:spPr>
          <a:xfrm>
            <a:off x="822960" y="3108960"/>
            <a:ext cx="6400800" cy="27432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intent why · route template · cypher/32_why_path.cypher</a:t>
            </a:r>
            <a:endParaRPr lang="en-US" sz="1200" dirty="0"/>
          </a:p>
        </p:txBody>
      </p:sp>
      <p:sp>
        <p:nvSpPr>
          <p:cNvPr id="8" name="text-136"/>
          <p:cNvSpPr txBox="1"/>
          <p:nvPr/>
        </p:nvSpPr>
        <p:spPr>
          <a:xfrm>
            <a:off x="822960" y="3520440"/>
            <a:ext cx="2743200" cy="274320"/>
          </a:xfrm>
          <a:prstGeom prst="rect">
            <a:avLst/>
          </a:prstGeom>
          <a:noFill/>
          <a:ln/>
        </p:spPr>
        <p:txBody>
          <a:bodyPr wrap="square" lIns="0" tIns="0" rIns="0" bIns="0" rtlCol="0" anchor="t"/>
          <a:lstStyle/>
          <a:p>
            <a:pPr indent="0" marL="0">
              <a:buNone/>
            </a:pPr>
            <a:r>
              <a:rPr lang="en-US" sz="1100" b="1" spc="100" kern="0" dirty="0">
                <a:solidFill>
                  <a:schemeClr val="tx2"/>
                </a:solidFill>
              </a:rPr>
              <a:t>CYPHER THAT RAN</a:t>
            </a:r>
            <a:endParaRPr lang="en-US" sz="1100" dirty="0"/>
          </a:p>
        </p:txBody>
      </p:sp>
      <p:sp>
        <p:nvSpPr>
          <p:cNvPr id="9" name="code-137"/>
          <p:cNvSpPr txBox="1"/>
          <p:nvPr/>
        </p:nvSpPr>
        <p:spPr>
          <a:xfrm>
            <a:off x="822960" y="3794760"/>
            <a:ext cx="6309360" cy="685800"/>
          </a:xfrm>
          <a:prstGeom prst="roundRect">
            <a:avLst>
              <a:gd name="adj" fmla="val 10667"/>
            </a:avLst>
          </a:prstGeom>
          <a:solidFill>
            <a:schemeClr val="bg2"/>
          </a:solidFill>
          <a:ln w="12700">
            <a:solidFill>
              <a:schemeClr val="accent4"/>
            </a:solidFill>
          </a:ln>
        </p:spPr>
        <p:txBody>
          <a:bodyPr wrap="square" lIns="127000" tIns="152400" rIns="152400" bIns="127000" rtlCol="0" anchor="t"/>
          <a:lstStyle/>
          <a:p>
            <a:pPr algn="l" indent="0" marL="0">
              <a:buNone/>
            </a:pPr>
            <a:r>
              <a:rPr lang="en-US" sz="1100" dirty="0">
                <a:solidFill>
                  <a:schemeClr val="tx1"/>
                </a:solidFill>
                <a:latin typeface="Courier New" pitchFamily="34" charset="0"/>
                <a:ea typeface="Courier New" pitchFamily="34" charset="-122"/>
                <a:cs typeface="Courier New" pitchFamily="34" charset="-120"/>
              </a:rPr>
              <a:t>MATCH (f:Fact {id: $id})</a:t>
            </a:r>
            <a:endParaRPr lang="en-US" sz="11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OPTIONAL MATCH (f)-[:DERIVED_FROM]-&gt;(ep:Episode) …</a:t>
            </a:r>
            <a:endParaRPr lang="en-US" sz="1100" dirty="0"/>
          </a:p>
        </p:txBody>
      </p:sp>
      <p:sp>
        <p:nvSpPr>
          <p:cNvPr id="10" name="text-138"/>
          <p:cNvSpPr txBox="1"/>
          <p:nvPr/>
        </p:nvSpPr>
        <p:spPr>
          <a:xfrm>
            <a:off x="822960" y="4617720"/>
            <a:ext cx="2743200" cy="274320"/>
          </a:xfrm>
          <a:prstGeom prst="rect">
            <a:avLst/>
          </a:prstGeom>
          <a:noFill/>
          <a:ln/>
        </p:spPr>
        <p:txBody>
          <a:bodyPr wrap="square" lIns="0" tIns="0" rIns="0" bIns="0" rtlCol="0" anchor="t"/>
          <a:lstStyle/>
          <a:p>
            <a:pPr indent="0" marL="0">
              <a:buNone/>
            </a:pPr>
            <a:r>
              <a:rPr lang="en-US" sz="1100" b="1" spc="100" kern="0" dirty="0">
                <a:solidFill>
                  <a:schemeClr val="tx2"/>
                </a:solidFill>
              </a:rPr>
              <a:t>SOURCES</a:t>
            </a:r>
            <a:endParaRPr lang="en-US" sz="1100" dirty="0"/>
          </a:p>
        </p:txBody>
      </p:sp>
      <p:sp>
        <p:nvSpPr>
          <p:cNvPr id="11" name="text-139"/>
          <p:cNvSpPr txBox="1"/>
          <p:nvPr/>
        </p:nvSpPr>
        <p:spPr>
          <a:xfrm>
            <a:off x="822960" y="5010912"/>
            <a:ext cx="4572000" cy="320040"/>
          </a:xfrm>
          <a:prstGeom prst="rect">
            <a:avLst/>
          </a:prstGeom>
          <a:noFill/>
          <a:ln/>
        </p:spPr>
        <p:txBody>
          <a:bodyPr wrap="square" lIns="0" tIns="0" rIns="0" bIns="0" rtlCol="0" anchor="t"/>
          <a:lstStyle/>
          <a:p>
            <a:pPr indent="0" marL="0">
              <a:buNone/>
            </a:pPr>
            <a:r>
              <a:rPr lang="en-US" sz="1300" dirty="0">
                <a:solidFill>
                  <a:schemeClr val="tx1"/>
                </a:solidFill>
              </a:rPr>
              <a:t>Email · Priya · UPI flow timeline · Sept 17, 14:02</a:t>
            </a:r>
            <a:endParaRPr lang="en-US" sz="1300" dirty="0"/>
          </a:p>
        </p:txBody>
      </p:sp>
      <p:sp>
        <p:nvSpPr>
          <p:cNvPr id="12" name="node-140"/>
          <p:cNvSpPr txBox="1"/>
          <p:nvPr/>
        </p:nvSpPr>
        <p:spPr>
          <a:xfrm>
            <a:off x="5623560" y="4937760"/>
            <a:ext cx="1508760" cy="411480"/>
          </a:xfrm>
          <a:prstGeom prst="roundRect">
            <a:avLst>
              <a:gd name="adj" fmla="val 26667"/>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200" dirty="0">
                <a:solidFill>
                  <a:schemeClr val="tx1"/>
                </a:solidFill>
              </a:rPr>
              <a:t>Open email</a:t>
            </a:r>
            <a:endParaRPr lang="en-US" sz="1200" dirty="0"/>
          </a:p>
        </p:txBody>
      </p:sp>
      <p:sp>
        <p:nvSpPr>
          <p:cNvPr id="13" name="text-141"/>
          <p:cNvSpPr txBox="1"/>
          <p:nvPr/>
        </p:nvSpPr>
        <p:spPr>
          <a:xfrm>
            <a:off x="822960" y="5559552"/>
            <a:ext cx="4572000" cy="320040"/>
          </a:xfrm>
          <a:prstGeom prst="rect">
            <a:avLst/>
          </a:prstGeom>
          <a:noFill/>
          <a:ln/>
        </p:spPr>
        <p:txBody>
          <a:bodyPr wrap="square" lIns="0" tIns="0" rIns="0" bIns="0" rtlCol="0" anchor="t"/>
          <a:lstStyle/>
          <a:p>
            <a:pPr indent="0" marL="0">
              <a:buNone/>
            </a:pPr>
            <a:r>
              <a:rPr lang="en-US" sz="1300" dirty="0">
                <a:solidFill>
                  <a:schemeClr val="tx1"/>
                </a:solidFill>
              </a:rPr>
              <a:t>Meeting · Orbit standup 1 · Priya · 0:38</a:t>
            </a:r>
            <a:endParaRPr lang="en-US" sz="1300" dirty="0"/>
          </a:p>
        </p:txBody>
      </p:sp>
      <p:sp>
        <p:nvSpPr>
          <p:cNvPr id="14" name="node-142"/>
          <p:cNvSpPr txBox="1"/>
          <p:nvPr/>
        </p:nvSpPr>
        <p:spPr>
          <a:xfrm>
            <a:off x="5623560" y="5486400"/>
            <a:ext cx="1508760" cy="411480"/>
          </a:xfrm>
          <a:prstGeom prst="roundRect">
            <a:avLst>
              <a:gd name="adj" fmla="val 26667"/>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200" dirty="0">
                <a:solidFill>
                  <a:schemeClr val="tx1"/>
                </a:solidFill>
              </a:rPr>
              <a:t>Play at 0:38</a:t>
            </a:r>
            <a:endParaRPr lang="en-US" sz="1200" dirty="0"/>
          </a:p>
        </p:txBody>
      </p:sp>
      <p:sp>
        <p:nvSpPr>
          <p:cNvPr id="15" name="dot-143"/>
          <p:cNvSpPr txBox="1"/>
          <p:nvPr/>
        </p:nvSpPr>
        <p:spPr>
          <a:xfrm>
            <a:off x="7772400" y="1463040"/>
            <a:ext cx="420624" cy="42062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6" name="text-144"/>
          <p:cNvSpPr txBox="1"/>
          <p:nvPr/>
        </p:nvSpPr>
        <p:spPr>
          <a:xfrm>
            <a:off x="8366760" y="1444752"/>
            <a:ext cx="3291840" cy="365760"/>
          </a:xfrm>
          <a:prstGeom prst="rect">
            <a:avLst/>
          </a:prstGeom>
          <a:noFill/>
          <a:ln/>
        </p:spPr>
        <p:txBody>
          <a:bodyPr wrap="square" lIns="0" tIns="0" rIns="0" bIns="0" rtlCol="0" anchor="t"/>
          <a:lstStyle/>
          <a:p>
            <a:pPr indent="0" marL="0">
              <a:buNone/>
            </a:pPr>
            <a:r>
              <a:rPr lang="en-US" sz="1800" b="1" dirty="0">
                <a:solidFill>
                  <a:schemeClr val="tx1"/>
                </a:solidFill>
              </a:rPr>
              <a:t>The Cypher that ran</a:t>
            </a:r>
            <a:endParaRPr lang="en-US" sz="1800" dirty="0"/>
          </a:p>
        </p:txBody>
      </p:sp>
      <p:sp>
        <p:nvSpPr>
          <p:cNvPr id="17" name="text-145"/>
          <p:cNvSpPr txBox="1"/>
          <p:nvPr/>
        </p:nvSpPr>
        <p:spPr>
          <a:xfrm>
            <a:off x="8366760" y="1847088"/>
            <a:ext cx="3291840" cy="822960"/>
          </a:xfrm>
          <a:prstGeom prst="rect">
            <a:avLst/>
          </a:prstGeom>
          <a:noFill/>
          <a:ln/>
        </p:spPr>
        <p:txBody>
          <a:bodyPr wrap="square" lIns="0" tIns="0" rIns="0" bIns="0" rtlCol="0" anchor="t"/>
          <a:lstStyle/>
          <a:p>
            <a:pPr indent="0" marL="0">
              <a:buNone/>
            </a:pPr>
            <a:r>
              <a:rPr lang="en-US" sz="1400" dirty="0">
                <a:solidFill>
                  <a:schemeClr val="tx2"/>
                </a:solidFill>
              </a:rPr>
              <a:t>Every answer returns its queries, taken from the numbered files in cypher/.</a:t>
            </a:r>
            <a:endParaRPr lang="en-US" sz="1400" dirty="0"/>
          </a:p>
        </p:txBody>
      </p:sp>
      <p:sp>
        <p:nvSpPr>
          <p:cNvPr id="18" name="dot-146"/>
          <p:cNvSpPr txBox="1"/>
          <p:nvPr/>
        </p:nvSpPr>
        <p:spPr>
          <a:xfrm>
            <a:off x="7772400" y="2880360"/>
            <a:ext cx="420624" cy="42062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9" name="text-147"/>
          <p:cNvSpPr txBox="1"/>
          <p:nvPr/>
        </p:nvSpPr>
        <p:spPr>
          <a:xfrm>
            <a:off x="8366760" y="2862072"/>
            <a:ext cx="3291840" cy="365760"/>
          </a:xfrm>
          <a:prstGeom prst="rect">
            <a:avLst/>
          </a:prstGeom>
          <a:noFill/>
          <a:ln/>
        </p:spPr>
        <p:txBody>
          <a:bodyPr wrap="square" lIns="0" tIns="0" rIns="0" bIns="0" rtlCol="0" anchor="t"/>
          <a:lstStyle/>
          <a:p>
            <a:pPr indent="0" marL="0">
              <a:buNone/>
            </a:pPr>
            <a:r>
              <a:rPr lang="en-US" sz="1800" b="1" dirty="0">
                <a:solidFill>
                  <a:schemeClr val="tx1"/>
                </a:solidFill>
              </a:rPr>
              <a:t>The router decision</a:t>
            </a:r>
            <a:endParaRPr lang="en-US" sz="1800" dirty="0"/>
          </a:p>
        </p:txBody>
      </p:sp>
      <p:sp>
        <p:nvSpPr>
          <p:cNvPr id="20" name="text-148"/>
          <p:cNvSpPr txBox="1"/>
          <p:nvPr/>
        </p:nvSpPr>
        <p:spPr>
          <a:xfrm>
            <a:off x="8366760" y="3264408"/>
            <a:ext cx="3291840" cy="822960"/>
          </a:xfrm>
          <a:prstGeom prst="rect">
            <a:avLst/>
          </a:prstGeom>
          <a:noFill/>
          <a:ln/>
        </p:spPr>
        <p:txBody>
          <a:bodyPr wrap="square" lIns="0" tIns="0" rIns="0" bIns="0" rtlCol="0" anchor="t"/>
          <a:lstStyle/>
          <a:p>
            <a:pPr indent="0" marL="0">
              <a:buNone/>
            </a:pPr>
            <a:r>
              <a:rPr lang="en-US" sz="1400" dirty="0">
                <a:solidFill>
                  <a:schemeClr val="tx2"/>
                </a:solidFill>
              </a:rPr>
              <a:t>Intent, entities and route: a template, a graph traversal or vector recall.</a:t>
            </a:r>
            <a:endParaRPr lang="en-US" sz="1400" dirty="0"/>
          </a:p>
        </p:txBody>
      </p:sp>
      <p:sp>
        <p:nvSpPr>
          <p:cNvPr id="21" name="dot-149"/>
          <p:cNvSpPr txBox="1"/>
          <p:nvPr/>
        </p:nvSpPr>
        <p:spPr>
          <a:xfrm>
            <a:off x="7772400" y="4297680"/>
            <a:ext cx="420624" cy="42062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2" name="text-150"/>
          <p:cNvSpPr txBox="1"/>
          <p:nvPr/>
        </p:nvSpPr>
        <p:spPr>
          <a:xfrm>
            <a:off x="8366760" y="4279392"/>
            <a:ext cx="3291840" cy="365760"/>
          </a:xfrm>
          <a:prstGeom prst="rect">
            <a:avLst/>
          </a:prstGeom>
          <a:noFill/>
          <a:ln/>
        </p:spPr>
        <p:txBody>
          <a:bodyPr wrap="square" lIns="0" tIns="0" rIns="0" bIns="0" rtlCol="0" anchor="t"/>
          <a:lstStyle/>
          <a:p>
            <a:pPr indent="0" marL="0">
              <a:buNone/>
            </a:pPr>
            <a:r>
              <a:rPr lang="en-US" sz="1800" b="1" dirty="0">
                <a:solidFill>
                  <a:schemeClr val="tx1"/>
                </a:solidFill>
              </a:rPr>
              <a:t>The subgraph and sources</a:t>
            </a:r>
            <a:endParaRPr lang="en-US" sz="1800" dirty="0"/>
          </a:p>
        </p:txBody>
      </p:sp>
      <p:sp>
        <p:nvSpPr>
          <p:cNvPr id="23" name="text-151"/>
          <p:cNvSpPr txBox="1"/>
          <p:nvPr/>
        </p:nvSpPr>
        <p:spPr>
          <a:xfrm>
            <a:off x="8366760" y="4681728"/>
            <a:ext cx="3291840" cy="822960"/>
          </a:xfrm>
          <a:prstGeom prst="rect">
            <a:avLst/>
          </a:prstGeom>
          <a:noFill/>
          <a:ln/>
        </p:spPr>
        <p:txBody>
          <a:bodyPr wrap="square" lIns="0" tIns="0" rIns="0" bIns="0" rtlCol="0" anchor="t"/>
          <a:lstStyle/>
          <a:p>
            <a:pPr indent="0" marL="0">
              <a:buNone/>
            </a:pPr>
            <a:r>
              <a:rPr lang="en-US" sz="1400" dirty="0">
                <a:solidFill>
                  <a:schemeClr val="tx2"/>
                </a:solidFill>
              </a:rPr>
              <a:t>Each fact links to its episode: play at timestamp, or open the email.</a:t>
            </a:r>
            <a:endParaRPr lang="en-US" sz="1400" dirty="0"/>
          </a:p>
        </p:txBody>
      </p:sp>
      <p:sp>
        <p:nvSpPr>
          <p:cNvPr id="24" name="text-152"/>
          <p:cNvSpPr txBox="1"/>
          <p:nvPr/>
        </p:nvSpPr>
        <p:spPr>
          <a:xfrm>
            <a:off x="7772400" y="5806440"/>
            <a:ext cx="3840480" cy="320040"/>
          </a:xfrm>
          <a:prstGeom prst="rect">
            <a:avLst/>
          </a:prstGeom>
          <a:noFill/>
          <a:ln/>
        </p:spPr>
        <p:txBody>
          <a:bodyPr wrap="square" lIns="0" tIns="0" rIns="0" bIns="0" rtlCol="0" anchor="t"/>
          <a:lstStyle/>
          <a:p>
            <a:pPr indent="0" marL="0">
              <a:buNone/>
            </a:pPr>
            <a:r>
              <a:rPr lang="en-US" sz="1100" i="1" dirty="0">
                <a:solidFill>
                  <a:schemeClr val="tx2"/>
                </a:solidFill>
              </a:rPr>
              <a:t>Schematic of the Why panel. Section names match the app.</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One graph per team</a:t>
            </a:r>
            <a:endParaRPr lang="en-US" sz="3400" dirty="0"/>
          </a:p>
        </p:txBody>
      </p:sp>
      <p:sp>
        <p:nvSpPr>
          <p:cNvPr id="3" name="card-153"/>
          <p:cNvSpPr/>
          <p:nvPr/>
        </p:nvSpPr>
        <p:spPr>
          <a:xfrm>
            <a:off x="548640" y="1371600"/>
            <a:ext cx="6583680" cy="4754880"/>
          </a:xfrm>
          <a:prstGeom prst="roundRect">
            <a:avLst>
              <a:gd name="adj" fmla="val 1923"/>
            </a:avLst>
          </a:prstGeom>
          <a:solidFill>
            <a:schemeClr val="bg2"/>
          </a:solidFill>
          <a:ln w="12700">
            <a:solidFill>
              <a:schemeClr val="accent4"/>
            </a:solidFill>
            <a:prstDash val="solid"/>
          </a:ln>
        </p:spPr>
      </p:sp>
      <p:sp>
        <p:nvSpPr>
          <p:cNvPr id="4" name="text-154"/>
          <p:cNvSpPr txBox="1"/>
          <p:nvPr/>
        </p:nvSpPr>
        <p:spPr>
          <a:xfrm>
            <a:off x="822960" y="1508760"/>
            <a:ext cx="6035040" cy="365760"/>
          </a:xfrm>
          <a:prstGeom prst="rect">
            <a:avLst/>
          </a:prstGeom>
          <a:noFill/>
          <a:ln/>
        </p:spPr>
        <p:txBody>
          <a:bodyPr wrap="square" lIns="0" tIns="0" rIns="0" bIns="0" rtlCol="0" anchor="t"/>
          <a:lstStyle/>
          <a:p>
            <a:pPr indent="0" marL="0">
              <a:buNone/>
            </a:pPr>
            <a:r>
              <a:rPr lang="en-US" sz="1600" b="1" dirty="0">
                <a:solidFill>
                  <a:schemeClr val="tx1"/>
                </a:solidFill>
              </a:rPr>
              <a:t>FalkorDB 6.0.1, one server</a:t>
            </a:r>
            <a:endParaRPr lang="en-US" sz="1600" dirty="0"/>
          </a:p>
        </p:txBody>
      </p:sp>
      <p:sp>
        <p:nvSpPr>
          <p:cNvPr id="5" name="node-155"/>
          <p:cNvSpPr txBox="1"/>
          <p:nvPr/>
        </p:nvSpPr>
        <p:spPr>
          <a:xfrm>
            <a:off x="914400" y="2148840"/>
            <a:ext cx="2011680" cy="502920"/>
          </a:xfrm>
          <a:prstGeom prst="roundRect">
            <a:avLst>
              <a:gd name="adj" fmla="val 21818"/>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team_orbit_rw</a:t>
            </a:r>
            <a:endParaRPr lang="en-US" sz="1200" dirty="0"/>
          </a:p>
        </p:txBody>
      </p:sp>
      <p:sp>
        <p:nvSpPr>
          <p:cNvPr id="6" name="node-156"/>
          <p:cNvSpPr txBox="1"/>
          <p:nvPr/>
        </p:nvSpPr>
        <p:spPr>
          <a:xfrm>
            <a:off x="3291840" y="2148840"/>
            <a:ext cx="2011680" cy="502920"/>
          </a:xfrm>
          <a:prstGeom prst="roundRect">
            <a:avLst>
              <a:gd name="adj" fmla="val 21818"/>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team_orbit_ro</a:t>
            </a:r>
            <a:endParaRPr lang="en-US" sz="1200" dirty="0"/>
          </a:p>
        </p:txBody>
      </p:sp>
      <p:sp>
        <p:nvSpPr>
          <p:cNvPr id="7" name="text-157"/>
          <p:cNvSpPr txBox="1"/>
          <p:nvPr/>
        </p:nvSpPr>
        <p:spPr>
          <a:xfrm>
            <a:off x="5486400" y="2267712"/>
            <a:ext cx="1463040" cy="274320"/>
          </a:xfrm>
          <a:prstGeom prst="rect">
            <a:avLst/>
          </a:prstGeom>
          <a:noFill/>
          <a:ln/>
        </p:spPr>
        <p:txBody>
          <a:bodyPr wrap="square" lIns="0" tIns="0" rIns="0" bIns="0" rtlCol="0" anchor="t"/>
          <a:lstStyle/>
          <a:p>
            <a:pPr indent="0" marL="0">
              <a:buNone/>
            </a:pPr>
            <a:r>
              <a:rPr lang="en-US" sz="1200" dirty="0">
                <a:solidFill>
                  <a:schemeClr val="tx2"/>
                </a:solidFill>
              </a:rPr>
              <a:t>ACL users</a:t>
            </a:r>
            <a:endParaRPr lang="en-US" sz="1200" dirty="0"/>
          </a:p>
        </p:txBody>
      </p:sp>
      <p:sp>
        <p:nvSpPr>
          <p:cNvPr id="8" name="node-158"/>
          <p:cNvSpPr txBox="1"/>
          <p:nvPr/>
        </p:nvSpPr>
        <p:spPr>
          <a:xfrm>
            <a:off x="822960" y="3931920"/>
            <a:ext cx="1371600" cy="548640"/>
          </a:xfrm>
          <a:prstGeom prst="roundRect">
            <a:avLst>
              <a:gd name="adj" fmla="val 20000"/>
            </a:avLst>
          </a:prstGeom>
          <a:solidFill>
            <a:schemeClr val="accent1"/>
          </a:solidFill>
          <a:ln w="15875">
            <a:solidFill>
              <a:schemeClr val="accent1"/>
            </a:solidFill>
          </a:ln>
        </p:spPr>
        <p:txBody>
          <a:bodyPr wrap="square" lIns="25400" tIns="25400" rIns="25400" bIns="25400" rtlCol="0" anchor="ctr"/>
          <a:lstStyle/>
          <a:p>
            <a:pPr algn="ctr" indent="0" marL="0">
              <a:buNone/>
            </a:pPr>
            <a:r>
              <a:rPr lang="en-US" sz="1200" b="1" dirty="0">
                <a:solidFill>
                  <a:schemeClr val="bg1"/>
                </a:solidFill>
              </a:rPr>
              <a:t>team_orbit</a:t>
            </a:r>
            <a:endParaRPr lang="en-US" sz="1200" dirty="0"/>
          </a:p>
        </p:txBody>
      </p:sp>
      <p:sp>
        <p:nvSpPr>
          <p:cNvPr id="9" name="node-159"/>
          <p:cNvSpPr txBox="1"/>
          <p:nvPr/>
        </p:nvSpPr>
        <p:spPr>
          <a:xfrm>
            <a:off x="2377440" y="3931920"/>
            <a:ext cx="1371600" cy="548640"/>
          </a:xfrm>
          <a:prstGeom prst="roundRect">
            <a:avLst>
              <a:gd name="adj" fmla="val 20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200" b="1" dirty="0">
                <a:solidFill>
                  <a:schemeClr val="tx1"/>
                </a:solidFill>
              </a:rPr>
              <a:t>commons</a:t>
            </a:r>
            <a:endParaRPr lang="en-US" sz="1200" dirty="0"/>
          </a:p>
        </p:txBody>
      </p:sp>
      <p:sp>
        <p:nvSpPr>
          <p:cNvPr id="10" name="node-160"/>
          <p:cNvSpPr txBox="1"/>
          <p:nvPr/>
        </p:nvSpPr>
        <p:spPr>
          <a:xfrm>
            <a:off x="3931920" y="3931920"/>
            <a:ext cx="1371600" cy="548640"/>
          </a:xfrm>
          <a:prstGeom prst="roundRect">
            <a:avLst>
              <a:gd name="adj" fmla="val 20000"/>
            </a:avLst>
          </a:prstGeom>
          <a:solidFill>
            <a:schemeClr val="bg2"/>
          </a:solidFill>
          <a:ln w="15875">
            <a:solidFill>
              <a:schemeClr val="accent3"/>
            </a:solidFill>
          </a:ln>
        </p:spPr>
        <p:txBody>
          <a:bodyPr wrap="square" lIns="25400" tIns="25400" rIns="25400" bIns="25400" rtlCol="0" anchor="ctr"/>
          <a:lstStyle/>
          <a:p>
            <a:pPr algn="ctr" indent="0" marL="0">
              <a:buNone/>
            </a:pPr>
            <a:r>
              <a:rPr lang="en-US" sz="1200" dirty="0">
                <a:solidFill>
                  <a:schemeClr val="tx2"/>
                </a:solidFill>
              </a:rPr>
              <a:t>team_nimbus</a:t>
            </a:r>
            <a:endParaRPr lang="en-US" sz="1200" dirty="0"/>
          </a:p>
        </p:txBody>
      </p:sp>
      <p:sp>
        <p:nvSpPr>
          <p:cNvPr id="11" name="node-161"/>
          <p:cNvSpPr txBox="1"/>
          <p:nvPr/>
        </p:nvSpPr>
        <p:spPr>
          <a:xfrm>
            <a:off x="5486400" y="3931920"/>
            <a:ext cx="1371600" cy="548640"/>
          </a:xfrm>
          <a:prstGeom prst="roundRect">
            <a:avLst>
              <a:gd name="adj" fmla="val 20000"/>
            </a:avLst>
          </a:prstGeom>
          <a:solidFill>
            <a:schemeClr val="bg2"/>
          </a:solidFill>
          <a:ln w="15875">
            <a:solidFill>
              <a:schemeClr val="accent3"/>
            </a:solidFill>
          </a:ln>
        </p:spPr>
        <p:txBody>
          <a:bodyPr wrap="square" lIns="25400" tIns="25400" rIns="25400" bIns="25400" rtlCol="0" anchor="ctr"/>
          <a:lstStyle/>
          <a:p>
            <a:pPr algn="ctr" indent="0" marL="0">
              <a:buNone/>
            </a:pPr>
            <a:r>
              <a:rPr lang="en-US" sz="1200" dirty="0">
                <a:solidFill>
                  <a:schemeClr val="tx2"/>
                </a:solidFill>
              </a:rPr>
              <a:t>team_quill</a:t>
            </a:r>
            <a:endParaRPr lang="en-US" sz="1200" dirty="0"/>
          </a:p>
        </p:txBody>
      </p:sp>
      <p:sp>
        <p:nvSpPr>
          <p:cNvPr id="12" name="text-162"/>
          <p:cNvSpPr txBox="1"/>
          <p:nvPr/>
        </p:nvSpPr>
        <p:spPr>
          <a:xfrm>
            <a:off x="5486400" y="4617720"/>
            <a:ext cx="1463040" cy="274320"/>
          </a:xfrm>
          <a:prstGeom prst="rect">
            <a:avLst/>
          </a:prstGeom>
          <a:noFill/>
          <a:ln/>
        </p:spPr>
        <p:txBody>
          <a:bodyPr wrap="square" lIns="0" tIns="0" rIns="0" bIns="0" rtlCol="0" anchor="t"/>
          <a:lstStyle/>
          <a:p>
            <a:pPr indent="0" marL="0">
              <a:buNone/>
            </a:pPr>
            <a:r>
              <a:rPr lang="en-US" sz="1200" dirty="0">
                <a:solidFill>
                  <a:schemeClr val="tx2"/>
                </a:solidFill>
              </a:rPr>
              <a:t>Graphs</a:t>
            </a:r>
            <a:endParaRPr lang="en-US" sz="1200" dirty="0"/>
          </a:p>
        </p:txBody>
      </p:sp>
      <p:sp>
        <p:nvSpPr>
          <p:cNvPr id="13" name="edge-163"/>
          <p:cNvSpPr/>
          <p:nvPr/>
        </p:nvSpPr>
        <p:spPr>
          <a:xfrm flipH="1">
            <a:off x="1508760" y="2651760"/>
            <a:ext cx="228600" cy="1280160"/>
          </a:xfrm>
          <a:prstGeom prst="line">
            <a:avLst/>
          </a:prstGeom>
          <a:noFill/>
          <a:ln w="19050">
            <a:solidFill>
              <a:schemeClr val="accent1"/>
            </a:solidFill>
            <a:prstDash val="solid"/>
            <a:tailEnd type="triangle"/>
          </a:ln>
        </p:spPr>
      </p:sp>
      <p:sp>
        <p:nvSpPr>
          <p:cNvPr id="14" name="edge-164"/>
          <p:cNvSpPr/>
          <p:nvPr/>
        </p:nvSpPr>
        <p:spPr>
          <a:xfrm>
            <a:off x="2103120" y="2651760"/>
            <a:ext cx="960120" cy="1280160"/>
          </a:xfrm>
          <a:prstGeom prst="line">
            <a:avLst/>
          </a:prstGeom>
          <a:noFill/>
          <a:ln w="19050">
            <a:solidFill>
              <a:schemeClr val="accent1"/>
            </a:solidFill>
            <a:prstDash val="solid"/>
            <a:tailEnd type="triangle"/>
          </a:ln>
        </p:spPr>
      </p:sp>
      <p:sp>
        <p:nvSpPr>
          <p:cNvPr id="15" name="edge-165"/>
          <p:cNvSpPr/>
          <p:nvPr/>
        </p:nvSpPr>
        <p:spPr>
          <a:xfrm flipH="1">
            <a:off x="1783080" y="2651760"/>
            <a:ext cx="2148840" cy="1280160"/>
          </a:xfrm>
          <a:prstGeom prst="line">
            <a:avLst/>
          </a:prstGeom>
          <a:noFill/>
          <a:ln w="19050">
            <a:solidFill>
              <a:schemeClr val="accent1"/>
            </a:solidFill>
            <a:prstDash val="solid"/>
            <a:tailEnd type="triangle"/>
          </a:ln>
        </p:spPr>
      </p:sp>
      <p:sp>
        <p:nvSpPr>
          <p:cNvPr id="16" name="edge-166"/>
          <p:cNvSpPr/>
          <p:nvPr/>
        </p:nvSpPr>
        <p:spPr>
          <a:xfrm flipH="1">
            <a:off x="3337560" y="2651760"/>
            <a:ext cx="960120" cy="1280160"/>
          </a:xfrm>
          <a:prstGeom prst="line">
            <a:avLst/>
          </a:prstGeom>
          <a:noFill/>
          <a:ln w="19050">
            <a:solidFill>
              <a:schemeClr val="accent1"/>
            </a:solidFill>
            <a:prstDash val="solid"/>
            <a:tailEnd type="triangle"/>
          </a:ln>
        </p:spPr>
      </p:sp>
      <p:sp>
        <p:nvSpPr>
          <p:cNvPr id="17" name="edge-167"/>
          <p:cNvSpPr/>
          <p:nvPr/>
        </p:nvSpPr>
        <p:spPr>
          <a:xfrm flipH="1">
            <a:off x="4572000" y="2651760"/>
            <a:ext cx="274320" cy="1280160"/>
          </a:xfrm>
          <a:prstGeom prst="line">
            <a:avLst/>
          </a:prstGeom>
          <a:noFill/>
          <a:ln w="19050">
            <a:solidFill>
              <a:schemeClr val="accent3"/>
            </a:solidFill>
            <a:prstDash val="dash"/>
            <a:tailEnd type="triangle"/>
          </a:ln>
        </p:spPr>
      </p:sp>
      <p:sp>
        <p:nvSpPr>
          <p:cNvPr id="18" name="edge-label-168"/>
          <p:cNvSpPr txBox="1"/>
          <p:nvPr/>
        </p:nvSpPr>
        <p:spPr>
          <a:xfrm>
            <a:off x="4709160" y="3154680"/>
            <a:ext cx="822960" cy="237744"/>
          </a:xfrm>
          <a:prstGeom prst="rect">
            <a:avLst/>
          </a:prstGeom>
          <a:solidFill>
            <a:schemeClr val="bg1"/>
          </a:solid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NOPERM</a:t>
            </a:r>
            <a:endParaRPr lang="en-US" sz="1000" dirty="0"/>
          </a:p>
        </p:txBody>
      </p:sp>
      <p:sp>
        <p:nvSpPr>
          <p:cNvPr id="19" name="text-169"/>
          <p:cNvSpPr txBox="1"/>
          <p:nvPr/>
        </p:nvSpPr>
        <p:spPr>
          <a:xfrm>
            <a:off x="822960" y="5257800"/>
            <a:ext cx="6035040" cy="365760"/>
          </a:xfrm>
          <a:prstGeom prst="rect">
            <a:avLst/>
          </a:prstGeom>
          <a:noFill/>
          <a:ln/>
        </p:spPr>
        <p:txBody>
          <a:bodyPr wrap="square" lIns="0" tIns="0" rIns="0" bIns="0" rtlCol="0" anchor="t"/>
          <a:lstStyle/>
          <a:p>
            <a:pPr indent="0" marL="0">
              <a:buNone/>
            </a:pPr>
            <a:r>
              <a:rPr lang="en-US" sz="1400" dirty="0">
                <a:solidFill>
                  <a:schemeClr val="tx2"/>
                </a:solidFill>
              </a:rPr>
              <a:t>Redis pub/sub on the same server wakes agents.</a:t>
            </a:r>
            <a:endParaRPr lang="en-US" sz="1400" dirty="0"/>
          </a:p>
        </p:txBody>
      </p:sp>
      <p:sp>
        <p:nvSpPr>
          <p:cNvPr id="20" name="text-170"/>
          <p:cNvSpPr txBox="1"/>
          <p:nvPr/>
        </p:nvSpPr>
        <p:spPr>
          <a:xfrm>
            <a:off x="7498080" y="1371600"/>
            <a:ext cx="4114800" cy="274320"/>
          </a:xfrm>
          <a:prstGeom prst="rect">
            <a:avLst/>
          </a:prstGeom>
          <a:noFill/>
          <a:ln/>
        </p:spPr>
        <p:txBody>
          <a:bodyPr wrap="square" lIns="0" tIns="0" rIns="0" bIns="0" rtlCol="0" anchor="t"/>
          <a:lstStyle/>
          <a:p>
            <a:pPr indent="0" marL="0">
              <a:buNone/>
            </a:pPr>
            <a:r>
              <a:rPr lang="en-US" sz="1100" b="1" spc="100" kern="0" dirty="0">
                <a:solidFill>
                  <a:schemeClr val="tx2"/>
                </a:solidFill>
              </a:rPr>
              <a:t>READ-ONLY USER (TENANCY.PY)</a:t>
            </a:r>
            <a:endParaRPr lang="en-US" sz="1100" dirty="0"/>
          </a:p>
        </p:txBody>
      </p:sp>
      <p:sp>
        <p:nvSpPr>
          <p:cNvPr id="21" name="code-171"/>
          <p:cNvSpPr txBox="1"/>
          <p:nvPr/>
        </p:nvSpPr>
        <p:spPr>
          <a:xfrm>
            <a:off x="7498080" y="1691640"/>
            <a:ext cx="4114800" cy="1417320"/>
          </a:xfrm>
          <a:prstGeom prst="roundRect">
            <a:avLst>
              <a:gd name="adj" fmla="val 5161"/>
            </a:avLst>
          </a:prstGeom>
          <a:solidFill>
            <a:schemeClr val="bg2"/>
          </a:solidFill>
          <a:ln w="12700">
            <a:solidFill>
              <a:schemeClr val="accent4"/>
            </a:solidFill>
          </a:ln>
        </p:spPr>
        <p:txBody>
          <a:bodyPr wrap="square" lIns="127000" tIns="152400" rIns="152400" bIns="127000" rtlCol="0" anchor="t"/>
          <a:lstStyle/>
          <a:p>
            <a:pPr algn="l" indent="0" marL="0">
              <a:buNone/>
            </a:pPr>
            <a:r>
              <a:rPr lang="en-US" sz="1100" dirty="0">
                <a:solidFill>
                  <a:schemeClr val="tx1"/>
                </a:solidFill>
                <a:latin typeface="Courier New" pitchFamily="34" charset="0"/>
                <a:ea typeface="Courier New" pitchFamily="34" charset="-122"/>
                <a:cs typeface="Courier New" pitchFamily="34" charset="-120"/>
              </a:rPr>
              <a:t>ACL SETUSER team_&lt;slug&gt;_ro reset on</a:t>
            </a:r>
            <a:endParaRPr lang="en-US" sz="11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  &gt;&lt;pw&gt; +INFO +PING +CLIENT|SETINFO</a:t>
            </a:r>
            <a:endParaRPr lang="en-US" sz="11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  +GRAPH.RO_QUERY +GRAPH.EXPLAIN</a:t>
            </a:r>
            <a:endParaRPr lang="en-US" sz="11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  ~team_&lt;slug&gt; ~commons</a:t>
            </a:r>
            <a:endParaRPr lang="en-US" sz="1100" dirty="0"/>
          </a:p>
        </p:txBody>
      </p:sp>
      <p:sp>
        <p:nvSpPr>
          <p:cNvPr id="22" name="text-172"/>
          <p:cNvSpPr txBox="1"/>
          <p:nvPr/>
        </p:nvSpPr>
        <p:spPr>
          <a:xfrm>
            <a:off x="7498080" y="3337560"/>
            <a:ext cx="41148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Key patterns isolate teams; read-only is enforced per command, because %R~ rejects GRAPH.RO_QUERY.</a:t>
            </a:r>
            <a:endParaRPr lang="en-US" sz="1400" dirty="0"/>
          </a:p>
          <a:p>
            <a:pPr marL="342900" indent="-342900">
              <a:spcAft>
                <a:spcPts val="800"/>
              </a:spcAft>
              <a:buSzPct val="100000"/>
              <a:buChar char="•"/>
            </a:pPr>
            <a:r>
              <a:rPr lang="en-US" sz="1400" dirty="0">
                <a:solidFill>
                  <a:schemeClr val="tx1"/>
                </a:solidFill>
              </a:rPr>
              <a:t>Per-team graphs keep writes cheap: 100 agents on one graph push write p50 to 260-360 ms, against 12-16 ms over 4 graphs.</a:t>
            </a:r>
            <a:endParaRPr lang="en-US" sz="1400" dirty="0"/>
          </a:p>
          <a:p>
            <a:pPr marL="342900" indent="-342900">
              <a:spcAft>
                <a:spcPts val="800"/>
              </a:spcAft>
              <a:buSzPct val="100000"/>
              <a:buChar char="•"/>
            </a:pPr>
            <a:r>
              <a:rPr lang="en-US" sz="1400" dirty="0">
                <a:solidFill>
                  <a:schemeClr val="tx1"/>
                </a:solidFill>
              </a:rPr>
              <a:t>Not yet: HTTP user auth and tenant membership.</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Benchmarks on one laptop</a:t>
            </a:r>
            <a:endParaRPr lang="en-US" sz="3400" dirty="0"/>
          </a:p>
        </p:txBody>
      </p:sp>
      <p:sp>
        <p:nvSpPr>
          <p:cNvPr id="3" name="card-173"/>
          <p:cNvSpPr/>
          <p:nvPr/>
        </p:nvSpPr>
        <p:spPr>
          <a:xfrm>
            <a:off x="548640" y="1325880"/>
            <a:ext cx="3429000" cy="1463040"/>
          </a:xfrm>
          <a:prstGeom prst="roundRect">
            <a:avLst>
              <a:gd name="adj" fmla="val 6250"/>
            </a:avLst>
          </a:prstGeom>
          <a:solidFill>
            <a:schemeClr val="bg2"/>
          </a:solidFill>
          <a:ln w="12700">
            <a:solidFill>
              <a:schemeClr val="accent4"/>
            </a:solidFill>
            <a:prstDash val="solid"/>
          </a:ln>
        </p:spPr>
      </p:sp>
      <p:sp>
        <p:nvSpPr>
          <p:cNvPr id="4" name="text-174"/>
          <p:cNvSpPr txBox="1"/>
          <p:nvPr/>
        </p:nvSpPr>
        <p:spPr>
          <a:xfrm>
            <a:off x="777240" y="1417320"/>
            <a:ext cx="3017520" cy="685800"/>
          </a:xfrm>
          <a:prstGeom prst="rect">
            <a:avLst/>
          </a:prstGeom>
          <a:noFill/>
          <a:ln/>
        </p:spPr>
        <p:txBody>
          <a:bodyPr wrap="square" lIns="0" tIns="0" rIns="0" bIns="0" rtlCol="0" anchor="t"/>
          <a:lstStyle/>
          <a:p>
            <a:pPr indent="0" marL="0">
              <a:buNone/>
            </a:pPr>
            <a:r>
              <a:rPr lang="en-US" sz="4000" b="1" dirty="0">
                <a:solidFill>
                  <a:schemeClr val="accent1"/>
                </a:solidFill>
              </a:rPr>
              <a:t>+30%</a:t>
            </a:r>
            <a:endParaRPr lang="en-US" sz="4000" dirty="0"/>
          </a:p>
        </p:txBody>
      </p:sp>
      <p:sp>
        <p:nvSpPr>
          <p:cNvPr id="5" name="text-175"/>
          <p:cNvSpPr txBox="1"/>
          <p:nvPr/>
        </p:nvSpPr>
        <p:spPr>
          <a:xfrm>
            <a:off x="777240" y="2103120"/>
            <a:ext cx="3017520" cy="640080"/>
          </a:xfrm>
          <a:prstGeom prst="rect">
            <a:avLst/>
          </a:prstGeom>
          <a:noFill/>
          <a:ln/>
        </p:spPr>
        <p:txBody>
          <a:bodyPr wrap="square" lIns="0" tIns="0" rIns="0" bIns="0" rtlCol="0" anchor="t"/>
          <a:lstStyle/>
          <a:p>
            <a:pPr indent="0" marL="0">
              <a:buNone/>
            </a:pPr>
            <a:r>
              <a:rPr lang="en-US" sz="1300" dirty="0">
                <a:solidFill>
                  <a:schemeClr val="tx2"/>
                </a:solidFill>
              </a:rPr>
              <a:t>ops/s on 6.0.1 vs 4.22.0: about 1,800 vs 1,360 (20 agents, 4 graphs)</a:t>
            </a:r>
            <a:endParaRPr lang="en-US" sz="1300" dirty="0"/>
          </a:p>
        </p:txBody>
      </p:sp>
      <p:sp>
        <p:nvSpPr>
          <p:cNvPr id="6" name="card-176"/>
          <p:cNvSpPr/>
          <p:nvPr/>
        </p:nvSpPr>
        <p:spPr>
          <a:xfrm>
            <a:off x="4343400" y="1325880"/>
            <a:ext cx="3429000" cy="1463040"/>
          </a:xfrm>
          <a:prstGeom prst="roundRect">
            <a:avLst>
              <a:gd name="adj" fmla="val 6250"/>
            </a:avLst>
          </a:prstGeom>
          <a:solidFill>
            <a:schemeClr val="bg2"/>
          </a:solidFill>
          <a:ln w="12700">
            <a:solidFill>
              <a:schemeClr val="accent4"/>
            </a:solidFill>
            <a:prstDash val="solid"/>
          </a:ln>
        </p:spPr>
      </p:sp>
      <p:sp>
        <p:nvSpPr>
          <p:cNvPr id="7" name="text-177"/>
          <p:cNvSpPr txBox="1"/>
          <p:nvPr/>
        </p:nvSpPr>
        <p:spPr>
          <a:xfrm>
            <a:off x="4572000" y="1417320"/>
            <a:ext cx="3017520" cy="685800"/>
          </a:xfrm>
          <a:prstGeom prst="rect">
            <a:avLst/>
          </a:prstGeom>
          <a:noFill/>
          <a:ln/>
        </p:spPr>
        <p:txBody>
          <a:bodyPr wrap="square" lIns="0" tIns="0" rIns="0" bIns="0" rtlCol="0" anchor="t"/>
          <a:lstStyle/>
          <a:p>
            <a:pPr indent="0" marL="0">
              <a:buNone/>
            </a:pPr>
            <a:r>
              <a:rPr lang="en-US" sz="4000" b="1" dirty="0">
                <a:solidFill>
                  <a:schemeClr val="accent1"/>
                </a:solidFill>
              </a:rPr>
              <a:t>2,608</a:t>
            </a:r>
            <a:endParaRPr lang="en-US" sz="4000" dirty="0"/>
          </a:p>
        </p:txBody>
      </p:sp>
      <p:sp>
        <p:nvSpPr>
          <p:cNvPr id="8" name="text-178"/>
          <p:cNvSpPr txBox="1"/>
          <p:nvPr/>
        </p:nvSpPr>
        <p:spPr>
          <a:xfrm>
            <a:off x="4572000" y="2103120"/>
            <a:ext cx="3017520" cy="640080"/>
          </a:xfrm>
          <a:prstGeom prst="rect">
            <a:avLst/>
          </a:prstGeom>
          <a:noFill/>
          <a:ln/>
        </p:spPr>
        <p:txBody>
          <a:bodyPr wrap="square" lIns="0" tIns="0" rIns="0" bIns="0" rtlCol="0" anchor="t"/>
          <a:lstStyle/>
          <a:p>
            <a:pPr indent="0" marL="0">
              <a:buNone/>
            </a:pPr>
            <a:r>
              <a:rPr lang="en-US" sz="1300" dirty="0">
                <a:solidFill>
                  <a:schemeClr val="tx2"/>
                </a:solidFill>
              </a:rPr>
              <a:t>ops/s with 200 agents over 20 graphs, zero errors</a:t>
            </a:r>
            <a:endParaRPr lang="en-US" sz="1300" dirty="0"/>
          </a:p>
        </p:txBody>
      </p:sp>
      <p:sp>
        <p:nvSpPr>
          <p:cNvPr id="9" name="card-179"/>
          <p:cNvSpPr/>
          <p:nvPr/>
        </p:nvSpPr>
        <p:spPr>
          <a:xfrm>
            <a:off x="8138160" y="1325880"/>
            <a:ext cx="3429000" cy="1463040"/>
          </a:xfrm>
          <a:prstGeom prst="roundRect">
            <a:avLst>
              <a:gd name="adj" fmla="val 6250"/>
            </a:avLst>
          </a:prstGeom>
          <a:solidFill>
            <a:schemeClr val="bg2"/>
          </a:solidFill>
          <a:ln w="12700">
            <a:solidFill>
              <a:schemeClr val="accent4"/>
            </a:solidFill>
            <a:prstDash val="solid"/>
          </a:ln>
        </p:spPr>
      </p:sp>
      <p:sp>
        <p:nvSpPr>
          <p:cNvPr id="10" name="text-180"/>
          <p:cNvSpPr txBox="1"/>
          <p:nvPr/>
        </p:nvSpPr>
        <p:spPr>
          <a:xfrm>
            <a:off x="8366760" y="1417320"/>
            <a:ext cx="3017520" cy="685800"/>
          </a:xfrm>
          <a:prstGeom prst="rect">
            <a:avLst/>
          </a:prstGeom>
          <a:noFill/>
          <a:ln/>
        </p:spPr>
        <p:txBody>
          <a:bodyPr wrap="square" lIns="0" tIns="0" rIns="0" bIns="0" rtlCol="0" anchor="t"/>
          <a:lstStyle/>
          <a:p>
            <a:pPr indent="0" marL="0">
              <a:buNone/>
            </a:pPr>
            <a:r>
              <a:rPr lang="en-US" sz="4000" b="1" dirty="0">
                <a:solidFill>
                  <a:schemeClr val="accent1"/>
                </a:solidFill>
              </a:rPr>
              <a:t>20 / 20</a:t>
            </a:r>
            <a:endParaRPr lang="en-US" sz="4000" dirty="0"/>
          </a:p>
        </p:txBody>
      </p:sp>
      <p:sp>
        <p:nvSpPr>
          <p:cNvPr id="11" name="text-181"/>
          <p:cNvSpPr txBox="1"/>
          <p:nvPr/>
        </p:nvSpPr>
        <p:spPr>
          <a:xfrm>
            <a:off x="8366760" y="2103120"/>
            <a:ext cx="3017520" cy="640080"/>
          </a:xfrm>
          <a:prstGeom prst="rect">
            <a:avLst/>
          </a:prstGeom>
          <a:noFill/>
          <a:ln/>
        </p:spPr>
        <p:txBody>
          <a:bodyPr wrap="square" lIns="0" tIns="0" rIns="0" bIns="0" rtlCol="0" anchor="t"/>
          <a:lstStyle/>
          <a:p>
            <a:pPr indent="0" marL="0">
              <a:buNone/>
            </a:pPr>
            <a:r>
              <a:rPr lang="en-US" sz="1300" dirty="0">
                <a:solidFill>
                  <a:schemeClr val="tx2"/>
                </a:solidFill>
              </a:rPr>
              <a:t>compare-and-set races with exactly one winner</a:t>
            </a:r>
            <a:endParaRPr lang="en-US" sz="1300" dirty="0"/>
          </a:p>
        </p:txBody>
      </p:sp>
      <p:graphicFrame>
        <p:nvGraphicFramePr>
          <p:cNvPr id="10" name="table-182"/>
          <p:cNvGraphicFramePr>
            <a:graphicFrameLocks noGrp="1"/>
          </p:cNvGraphicFramePr>
          <p:nvPr>
            <p:extLst>
              <p:ext uri="{D42A27DB-BD31-4B8C-83A1-F6EECF244321}">
                <p14:modId xmlns:p14="http://schemas.microsoft.com/office/powerpoint/2010/main" val="1579011935"/>
              </p:ext>
            </p:extLst>
          </p:nvPr>
        </p:nvGraphicFramePr>
        <p:xfrm>
          <a:off x="548640" y="3017520"/>
          <a:ext cx="11064240" cy="914400"/>
        </p:xfrm>
        <a:graphic>
          <a:graphicData uri="http://schemas.openxmlformats.org/drawingml/2006/table">
            <a:tbl>
              <a:tblPr/>
              <a:tblGrid>
                <a:gridCol w="1920240"/>
                <a:gridCol w="1463040"/>
                <a:gridCol w="1737360"/>
                <a:gridCol w="1828800"/>
                <a:gridCol w="1097280"/>
                <a:gridCol w="914400"/>
                <a:gridCol w="2103120"/>
              </a:tblGrid>
              <a:tr h="365760">
                <a:tc>
                  <a:txBody>
                    <a:bodyPr/>
                    <a:lstStyle/>
                    <a:p>
                      <a:pPr indent="0" marL="0">
                        <a:buNone/>
                      </a:pPr>
                      <a:r>
                        <a:rPr lang="en-US" sz="1300" b="1" dirty="0">
                          <a:solidFill>
                            <a:schemeClr val="tx2"/>
                          </a:solidFill>
                        </a:rPr>
                        <a:t>Engine</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Agents × graphs</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Read p50 / p95 (ms)</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Write p50 / p95 (ms)</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Ops/s</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Errors</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CAS winners / attempts</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solidFill>
                      <a:schemeClr val="bg2"/>
                    </a:solidFill>
                  </a:tcPr>
                </a:tc>
              </a:tr>
              <a:tr h="365760">
                <a:tc>
                  <a:txBody>
                    <a:bodyPr/>
                    <a:lstStyle/>
                    <a:p>
                      <a:pPr indent="0" marL="0">
                        <a:buNone/>
                      </a:pPr>
                      <a:r>
                        <a:rPr lang="en-US" sz="1300" dirty="0">
                          <a:solidFill>
                            <a:schemeClr val="tx1"/>
                          </a:solidFill>
                        </a:rPr>
                        <a:t>4.22.0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20 × 4</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11.0 / 29.0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15.1 / 51.1</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1,379</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4 / 100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r>
              <a:tr h="365760">
                <a:tc>
                  <a:txBody>
                    <a:bodyPr/>
                    <a:lstStyle/>
                    <a:p>
                      <a:pPr indent="0" marL="0">
                        <a:buNone/>
                      </a:pPr>
                      <a:r>
                        <a:rPr lang="en-US" sz="1300" dirty="0">
                          <a:solidFill>
                            <a:schemeClr val="tx1"/>
                          </a:solidFill>
                        </a:rPr>
                        <a:t>6.0.1</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20 × 4</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8.5 / 20.3</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11.9 / 39.4</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1,794</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4 / 100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r>
              <a:tr h="365760">
                <a:tc>
                  <a:txBody>
                    <a:bodyPr/>
                    <a:lstStyle/>
                    <a:p>
                      <a:pPr indent="0" marL="0">
                        <a:buNone/>
                      </a:pPr>
                      <a:r>
                        <a:rPr lang="en-US" sz="1300" dirty="0">
                          <a:solidFill>
                            <a:schemeClr val="tx1"/>
                          </a:solidFill>
                        </a:rPr>
                        <a:t>4.22.0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100 × 1</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21.4 / 52.7</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321.9 / 767.8</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1,092</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 / 25</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r>
              <a:tr h="365760">
                <a:tc>
                  <a:txBody>
                    <a:bodyPr/>
                    <a:lstStyle/>
                    <a:p>
                      <a:pPr indent="0" marL="0">
                        <a:buNone/>
                      </a:pPr>
                      <a:r>
                        <a:rPr lang="en-US" sz="1300" dirty="0">
                          <a:solidFill>
                            <a:schemeClr val="tx1"/>
                          </a:solidFill>
                        </a:rPr>
                        <a:t>6.0.1</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100 × 1</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7.1 / 28.1</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272.3 / 640.2</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1,560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1 / 25</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r>
              <a:tr h="365760">
                <a:tc>
                  <a:txBody>
                    <a:bodyPr/>
                    <a:lstStyle/>
                    <a:p>
                      <a:pPr indent="0" marL="0">
                        <a:buNone/>
                      </a:pPr>
                      <a:r>
                        <a:rPr lang="en-US" sz="1300" dirty="0">
                          <a:solidFill>
                            <a:schemeClr val="tx1"/>
                          </a:solidFill>
                        </a:rPr>
                        <a:t>6.0.1, queue 1000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200 × 20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52.0 / 135.1</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88.6 / 262.8</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2,608</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c>
                  <a:txBody>
                    <a:bodyPr/>
                    <a:lstStyle/>
                    <a:p>
                      <a:pPr indent="0" marL="0">
                        <a:buNone/>
                      </a:pPr>
                      <a:r>
                        <a:rPr lang="en-US" sz="1300" dirty="0">
                          <a:solidFill>
                            <a:schemeClr val="tx1"/>
                          </a:solidFill>
                        </a:rPr>
                        <a:t>20 / 500</a:t>
                      </a:r>
                      <a:endParaRPr lang="en-US" sz="1300" dirty="0"/>
                    </a:p>
                  </a:txBody>
                  <a:tcPr marL="91440" marR="91440" marT="27432" marB="27432" anchor="ctr">
                    <a:lnL w="9525" cap="flat" cmpd="sng" algn="ctr">
                      <a:solidFill>
                        <a:srgbClr val="E3E7EF"/>
                      </a:solidFill>
                      <a:prstDash val="solid"/>
                      <a:round/>
                      <a:headEnd type="none" w="med" len="med"/>
                      <a:tailEnd type="none" w="med" len="med"/>
                    </a:lnL>
                    <a:lnR w="9525" cap="flat" cmpd="sng" algn="ctr">
                      <a:solidFill>
                        <a:srgbClr val="E3E7EF"/>
                      </a:solidFill>
                      <a:prstDash val="solid"/>
                      <a:round/>
                      <a:headEnd type="none" w="med" len="med"/>
                      <a:tailEnd type="none" w="med" len="med"/>
                    </a:lnR>
                    <a:lnT w="9525" cap="flat" cmpd="sng" algn="ctr">
                      <a:solidFill>
                        <a:srgbClr val="E3E7EF"/>
                      </a:solidFill>
                      <a:prstDash val="solid"/>
                      <a:round/>
                      <a:headEnd type="none" w="med" len="med"/>
                      <a:tailEnd type="none" w="med" len="med"/>
                    </a:lnT>
                    <a:lnB w="9525" cap="flat" cmpd="sng" algn="ctr">
                      <a:solidFill>
                        <a:srgbClr val="E3E7EF"/>
                      </a:solidFill>
                      <a:prstDash val="solid"/>
                      <a:round/>
                      <a:headEnd type="none" w="med" len="med"/>
                      <a:tailEnd type="none" w="med" len="med"/>
                    </a:lnB>
                  </a:tcPr>
                </a:tc>
              </a:tr>
            </a:tbl>
          </a:graphicData>
        </a:graphic>
      </p:graphicFrame>
      <p:sp>
        <p:nvSpPr>
          <p:cNvPr id="13" name="text-183"/>
          <p:cNvSpPr txBox="1"/>
          <p:nvPr/>
        </p:nvSpPr>
        <p:spPr>
          <a:xfrm>
            <a:off x="548640" y="5349240"/>
            <a:ext cx="11064240" cy="777240"/>
          </a:xfrm>
          <a:prstGeom prst="rect">
            <a:avLst/>
          </a:prstGeom>
          <a:noFill/>
          <a:ln/>
        </p:spPr>
        <p:txBody>
          <a:bodyPr wrap="square" lIns="0" tIns="0" rIns="0" bIns="0" rtlCol="0" anchor="t"/>
          <a:lstStyle/>
          <a:p>
            <a:pPr indent="0" marL="0">
              <a:buNone/>
            </a:pPr>
            <a:r>
              <a:rPr lang="en-US" sz="1200" dirty="0">
                <a:solidFill>
                  <a:schemeClr val="tx2"/>
                </a:solidFill>
              </a:rPr>
              <a:t>i9-13900HX laptop, 48 GB, Docker Desktop on WSL2; client on the same host with 4 to 8 processes; 80% reads, 20% writes. Repeat 20 × 4 runs: 1,347 and 1,801 ops/s. With the default MAX_QUEUED_QUERIES of 25, 18% of the 200 × 20 requests were rejected. These are not server-capacity figures.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Three FalkorDB 6.0.1 findings</a:t>
            </a:r>
            <a:endParaRPr lang="en-US" sz="3400" dirty="0"/>
          </a:p>
        </p:txBody>
      </p:sp>
      <p:sp>
        <p:nvSpPr>
          <p:cNvPr id="3" name="card-184"/>
          <p:cNvSpPr/>
          <p:nvPr/>
        </p:nvSpPr>
        <p:spPr>
          <a:xfrm>
            <a:off x="548640" y="1325880"/>
            <a:ext cx="3429000" cy="2560320"/>
          </a:xfrm>
          <a:prstGeom prst="roundRect">
            <a:avLst>
              <a:gd name="adj" fmla="val 3571"/>
            </a:avLst>
          </a:prstGeom>
          <a:solidFill>
            <a:schemeClr val="bg2"/>
          </a:solidFill>
          <a:ln w="12700">
            <a:solidFill>
              <a:schemeClr val="accent4"/>
            </a:solidFill>
            <a:prstDash val="solid"/>
          </a:ln>
        </p:spPr>
      </p:sp>
      <p:sp>
        <p:nvSpPr>
          <p:cNvPr id="4" name="node-185"/>
          <p:cNvSpPr txBox="1"/>
          <p:nvPr/>
        </p:nvSpPr>
        <p:spPr>
          <a:xfrm>
            <a:off x="777240" y="1508760"/>
            <a:ext cx="1737360" cy="347472"/>
          </a:xfrm>
          <a:prstGeom prst="roundRect">
            <a:avLst>
              <a:gd name="adj" fmla="val 31579"/>
            </a:avLst>
          </a:prstGeom>
          <a:solidFill>
            <a:schemeClr val="accent1"/>
          </a:solidFill>
          <a:ln w="15875">
            <a:solidFill>
              <a:schemeClr val="accent1"/>
            </a:solidFill>
          </a:ln>
        </p:spPr>
        <p:txBody>
          <a:bodyPr wrap="square" lIns="25400" tIns="25400" rIns="25400" bIns="25400" rtlCol="0" anchor="ctr"/>
          <a:lstStyle/>
          <a:p>
            <a:pPr algn="ctr" indent="0" marL="0">
              <a:buNone/>
            </a:pPr>
            <a:r>
              <a:rPr lang="en-US" sz="1100" b="1" dirty="0">
                <a:solidFill>
                  <a:schemeClr val="bg1"/>
                </a:solidFill>
              </a:rPr>
              <a:t>6.0.1 only</a:t>
            </a:r>
            <a:endParaRPr lang="en-US" sz="1100" dirty="0"/>
          </a:p>
        </p:txBody>
      </p:sp>
      <p:sp>
        <p:nvSpPr>
          <p:cNvPr id="5" name="text-186"/>
          <p:cNvSpPr txBox="1"/>
          <p:nvPr/>
        </p:nvSpPr>
        <p:spPr>
          <a:xfrm>
            <a:off x="777240" y="2011680"/>
            <a:ext cx="3017520" cy="685800"/>
          </a:xfrm>
          <a:prstGeom prst="rect">
            <a:avLst/>
          </a:prstGeom>
          <a:noFill/>
          <a:ln/>
        </p:spPr>
        <p:txBody>
          <a:bodyPr wrap="square" lIns="0" tIns="0" rIns="0" bIns="0" rtlCol="0" anchor="t"/>
          <a:lstStyle/>
          <a:p>
            <a:pPr indent="0" marL="0">
              <a:buNone/>
            </a:pPr>
            <a:r>
              <a:rPr lang="en-US" sz="1700" b="1" dirty="0">
                <a:solidFill>
                  <a:schemeClr val="tx1"/>
                </a:solidFill>
              </a:rPr>
              <a:t>MATCH … WHERE, then MATCH, drops the filter</a:t>
            </a:r>
            <a:endParaRPr lang="en-US" sz="1700" dirty="0"/>
          </a:p>
        </p:txBody>
      </p:sp>
      <p:sp>
        <p:nvSpPr>
          <p:cNvPr id="6" name="text-187"/>
          <p:cNvSpPr txBox="1"/>
          <p:nvPr/>
        </p:nvSpPr>
        <p:spPr>
          <a:xfrm>
            <a:off x="777240" y="2697480"/>
            <a:ext cx="3017520" cy="1463040"/>
          </a:xfrm>
          <a:prstGeom prst="rect">
            <a:avLst/>
          </a:prstGeom>
          <a:noFill/>
          <a:ln/>
        </p:spPr>
        <p:txBody>
          <a:bodyPr wrap="square" lIns="0" tIns="0" rIns="0" bIns="0" rtlCol="0" anchor="t"/>
          <a:lstStyle/>
          <a:p>
            <a:pPr indent="0" marL="0">
              <a:buNone/>
            </a:pPr>
            <a:r>
              <a:rPr lang="en-US" sz="1300" dirty="0">
                <a:solidFill>
                  <a:schemeClr val="tx2"/>
                </a:solidFill>
              </a:rPr>
              <a:t>The first WHERE is silently ignored and the plan has no Filter. 4.22.0 is correct. Our cypher/ uses WITH barriers, and model-written Cypher is guarded.</a:t>
            </a:r>
            <a:endParaRPr lang="en-US" sz="1300" dirty="0"/>
          </a:p>
        </p:txBody>
      </p:sp>
      <p:sp>
        <p:nvSpPr>
          <p:cNvPr id="7" name="card-188"/>
          <p:cNvSpPr/>
          <p:nvPr/>
        </p:nvSpPr>
        <p:spPr>
          <a:xfrm>
            <a:off x="4343400" y="1325880"/>
            <a:ext cx="3429000" cy="2560320"/>
          </a:xfrm>
          <a:prstGeom prst="roundRect">
            <a:avLst>
              <a:gd name="adj" fmla="val 3571"/>
            </a:avLst>
          </a:prstGeom>
          <a:solidFill>
            <a:schemeClr val="bg2"/>
          </a:solidFill>
          <a:ln w="12700">
            <a:solidFill>
              <a:schemeClr val="accent4"/>
            </a:solidFill>
            <a:prstDash val="solid"/>
          </a:ln>
        </p:spPr>
      </p:sp>
      <p:sp>
        <p:nvSpPr>
          <p:cNvPr id="8" name="node-189"/>
          <p:cNvSpPr txBox="1"/>
          <p:nvPr/>
        </p:nvSpPr>
        <p:spPr>
          <a:xfrm>
            <a:off x="4572000" y="1508760"/>
            <a:ext cx="1737360" cy="347472"/>
          </a:xfrm>
          <a:prstGeom prst="roundRect">
            <a:avLst>
              <a:gd name="adj" fmla="val 31579"/>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100" b="1" dirty="0">
                <a:solidFill>
                  <a:schemeClr val="tx1"/>
                </a:solidFill>
              </a:rPr>
              <a:t>6.0.1 and 4.22.0</a:t>
            </a:r>
            <a:endParaRPr lang="en-US" sz="1100" dirty="0"/>
          </a:p>
        </p:txBody>
      </p:sp>
      <p:sp>
        <p:nvSpPr>
          <p:cNvPr id="9" name="text-190"/>
          <p:cNvSpPr txBox="1"/>
          <p:nvPr/>
        </p:nvSpPr>
        <p:spPr>
          <a:xfrm>
            <a:off x="4572000" y="2011680"/>
            <a:ext cx="3017520" cy="685800"/>
          </a:xfrm>
          <a:prstGeom prst="rect">
            <a:avLst/>
          </a:prstGeom>
          <a:noFill/>
          <a:ln/>
        </p:spPr>
        <p:txBody>
          <a:bodyPr wrap="square" lIns="0" tIns="0" rIns="0" bIns="0" rtlCol="0" anchor="t"/>
          <a:lstStyle/>
          <a:p>
            <a:pPr indent="0" marL="0">
              <a:buNone/>
            </a:pPr>
            <a:r>
              <a:rPr lang="en-US" sz="1700" b="1" dirty="0">
                <a:solidFill>
                  <a:schemeClr val="tx1"/>
                </a:solidFill>
              </a:rPr>
              <a:t>GRAPH.MEMORY USAGE reads zero</a:t>
            </a:r>
            <a:endParaRPr lang="en-US" sz="1700" dirty="0"/>
          </a:p>
        </p:txBody>
      </p:sp>
      <p:sp>
        <p:nvSpPr>
          <p:cNvPr id="10" name="text-191"/>
          <p:cNvSpPr txBox="1"/>
          <p:nvPr/>
        </p:nvSpPr>
        <p:spPr>
          <a:xfrm>
            <a:off x="4572000" y="2697480"/>
            <a:ext cx="3017520" cy="1463040"/>
          </a:xfrm>
          <a:prstGeom prst="rect">
            <a:avLst/>
          </a:prstGeom>
          <a:noFill/>
          <a:ln/>
        </p:spPr>
        <p:txBody>
          <a:bodyPr wrap="square" lIns="0" tIns="0" rIns="0" bIns="0" rtlCol="0" anchor="t"/>
          <a:lstStyle/>
          <a:p>
            <a:pPr indent="0" marL="0">
              <a:buNone/>
            </a:pPr>
            <a:r>
              <a:rPr lang="en-US" sz="1300" dirty="0">
                <a:solidFill>
                  <a:schemeClr val="tx2"/>
                </a:solidFill>
              </a:rPr>
              <a:t>Values truncate to whole MB, and HNSW vector index memory is never counted. A 250-node tenant reads 0 in every field.</a:t>
            </a:r>
            <a:endParaRPr lang="en-US" sz="1300" dirty="0"/>
          </a:p>
        </p:txBody>
      </p:sp>
      <p:sp>
        <p:nvSpPr>
          <p:cNvPr id="11" name="card-192"/>
          <p:cNvSpPr/>
          <p:nvPr/>
        </p:nvSpPr>
        <p:spPr>
          <a:xfrm>
            <a:off x="8138160" y="1325880"/>
            <a:ext cx="3429000" cy="2560320"/>
          </a:xfrm>
          <a:prstGeom prst="roundRect">
            <a:avLst>
              <a:gd name="adj" fmla="val 3571"/>
            </a:avLst>
          </a:prstGeom>
          <a:solidFill>
            <a:schemeClr val="bg2"/>
          </a:solidFill>
          <a:ln w="12700">
            <a:solidFill>
              <a:schemeClr val="accent4"/>
            </a:solidFill>
            <a:prstDash val="solid"/>
          </a:ln>
        </p:spPr>
      </p:sp>
      <p:sp>
        <p:nvSpPr>
          <p:cNvPr id="12" name="node-193"/>
          <p:cNvSpPr txBox="1"/>
          <p:nvPr/>
        </p:nvSpPr>
        <p:spPr>
          <a:xfrm>
            <a:off x="8366760" y="1508760"/>
            <a:ext cx="1737360" cy="347472"/>
          </a:xfrm>
          <a:prstGeom prst="roundRect">
            <a:avLst>
              <a:gd name="adj" fmla="val 31579"/>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100" b="1" dirty="0">
                <a:solidFill>
                  <a:schemeClr val="tx1"/>
                </a:solidFill>
              </a:rPr>
              <a:t>6.0.1 and 4.22.0</a:t>
            </a:r>
            <a:endParaRPr lang="en-US" sz="1100" dirty="0"/>
          </a:p>
        </p:txBody>
      </p:sp>
      <p:sp>
        <p:nvSpPr>
          <p:cNvPr id="13" name="text-194"/>
          <p:cNvSpPr txBox="1"/>
          <p:nvPr/>
        </p:nvSpPr>
        <p:spPr>
          <a:xfrm>
            <a:off x="8366760" y="2011680"/>
            <a:ext cx="3017520" cy="685800"/>
          </a:xfrm>
          <a:prstGeom prst="rect">
            <a:avLst/>
          </a:prstGeom>
          <a:noFill/>
          <a:ln/>
        </p:spPr>
        <p:txBody>
          <a:bodyPr wrap="square" lIns="0" tIns="0" rIns="0" bIns="0" rtlCol="0" anchor="t"/>
          <a:lstStyle/>
          <a:p>
            <a:pPr indent="0" marL="0">
              <a:buNone/>
            </a:pPr>
            <a:r>
              <a:rPr lang="en-US" sz="1700" b="1" dirty="0">
                <a:solidFill>
                  <a:schemeClr val="tx1"/>
                </a:solidFill>
              </a:rPr>
              <a:t>%R~ selector rejects RO_QUERY</a:t>
            </a:r>
            <a:endParaRPr lang="en-US" sz="1700" dirty="0"/>
          </a:p>
        </p:txBody>
      </p:sp>
      <p:sp>
        <p:nvSpPr>
          <p:cNvPr id="14" name="text-195"/>
          <p:cNvSpPr txBox="1"/>
          <p:nvPr/>
        </p:nvSpPr>
        <p:spPr>
          <a:xfrm>
            <a:off x="8366760" y="2697480"/>
            <a:ext cx="3017520" cy="1463040"/>
          </a:xfrm>
          <a:prstGeom prst="rect">
            <a:avLst/>
          </a:prstGeom>
          <a:noFill/>
          <a:ln/>
        </p:spPr>
        <p:txBody>
          <a:bodyPr wrap="square" lIns="0" tIns="0" rIns="0" bIns="0" rtlCol="0" anchor="t"/>
          <a:lstStyle/>
          <a:p>
            <a:pPr indent="0" marL="0">
              <a:buNone/>
            </a:pPr>
            <a:r>
              <a:rPr lang="en-US" sz="1300" dirty="0">
                <a:solidFill>
                  <a:schemeClr val="tx2"/>
                </a:solidFill>
              </a:rPr>
              <a:t>The documented read-only key selector refuses GRAPH.RO_QUERY. %RW~ and ~ work, so we restrict commands instead.</a:t>
            </a:r>
            <a:endParaRPr lang="en-US" sz="1300" dirty="0"/>
          </a:p>
        </p:txBody>
      </p:sp>
      <p:sp>
        <p:nvSpPr>
          <p:cNvPr id="15" name="text-196"/>
          <p:cNvSpPr txBox="1"/>
          <p:nvPr/>
        </p:nvSpPr>
        <p:spPr>
          <a:xfrm>
            <a:off x="548640" y="4114800"/>
            <a:ext cx="7315200" cy="274320"/>
          </a:xfrm>
          <a:prstGeom prst="rect">
            <a:avLst/>
          </a:prstGeom>
          <a:noFill/>
          <a:ln/>
        </p:spPr>
        <p:txBody>
          <a:bodyPr wrap="square" lIns="0" tIns="0" rIns="0" bIns="0" rtlCol="0" anchor="t"/>
          <a:lstStyle/>
          <a:p>
            <a:pPr indent="0" marL="0">
              <a:buNone/>
            </a:pPr>
            <a:r>
              <a:rPr lang="en-US" sz="1100" b="1" spc="100" kern="0" dirty="0">
                <a:solidFill>
                  <a:schemeClr val="tx2"/>
                </a:solidFill>
              </a:rPr>
              <a:t>FINDING 1, MINIMAL REPRODUCTION</a:t>
            </a:r>
            <a:endParaRPr lang="en-US" sz="1100" dirty="0"/>
          </a:p>
        </p:txBody>
      </p:sp>
      <p:sp>
        <p:nvSpPr>
          <p:cNvPr id="16" name="code-197"/>
          <p:cNvSpPr txBox="1"/>
          <p:nvPr/>
        </p:nvSpPr>
        <p:spPr>
          <a:xfrm>
            <a:off x="548640" y="4434840"/>
            <a:ext cx="11064240" cy="868680"/>
          </a:xfrm>
          <a:prstGeom prst="roundRect">
            <a:avLst>
              <a:gd name="adj" fmla="val 8421"/>
            </a:avLst>
          </a:prstGeom>
          <a:solidFill>
            <a:schemeClr val="bg2"/>
          </a:solidFill>
          <a:ln w="12700">
            <a:solidFill>
              <a:schemeClr val="accent4"/>
            </a:solidFill>
          </a:ln>
        </p:spPr>
        <p:txBody>
          <a:bodyPr wrap="square" lIns="127000" tIns="152400" rIns="152400" bIns="127000"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MATCH (en:Entity) WHERE en.name = 'Alpha' MATCH (ep:Episode)-[:MENTIONS]-&gt;(en) RETURN en.name, ep.id</a:t>
            </a:r>
            <a:endParaRPr lang="en-US" sz="1200" dirty="0"/>
          </a:p>
          <a:p>
            <a:pPr algn="l" indent="0" marL="0">
              <a:buNone/>
            </a:pPr>
            <a:r>
              <a:rPr lang="en-US" sz="1200" dirty="0">
                <a:solidFill>
                  <a:schemeClr val="tx1"/>
                </a:solidFill>
                <a:latin typeface="Courier New" pitchFamily="34" charset="0"/>
                <a:ea typeface="Courier New" pitchFamily="34" charset="-122"/>
                <a:cs typeface="Courier New" pitchFamily="34" charset="-120"/>
              </a:rPr>
              <a:t>// 6.0.1 returns Alpha e1, Beta e2, Beta e3     4.22.0 returns only Alpha e1</a:t>
            </a:r>
            <a:endParaRPr lang="en-US" sz="1200" dirty="0"/>
          </a:p>
        </p:txBody>
      </p:sp>
      <p:sp>
        <p:nvSpPr>
          <p:cNvPr id="17" name="text-198"/>
          <p:cNvSpPr txBox="1"/>
          <p:nvPr/>
        </p:nvSpPr>
        <p:spPr>
          <a:xfrm>
            <a:off x="548640" y="5486400"/>
            <a:ext cx="11064240" cy="320040"/>
          </a:xfrm>
          <a:prstGeom prst="rect">
            <a:avLst/>
          </a:prstGeom>
          <a:noFill/>
          <a:ln/>
        </p:spPr>
        <p:txBody>
          <a:bodyPr wrap="square" lIns="0" tIns="0" rIns="0" bIns="0" rtlCol="0" anchor="t"/>
          <a:lstStyle/>
          <a:p>
            <a:pPr indent="0" marL="0">
              <a:buNone/>
            </a:pPr>
            <a:r>
              <a:rPr lang="en-US" sz="1200" i="1" dirty="0">
                <a:solidFill>
                  <a:schemeClr val="tx2"/>
                </a:solidFill>
              </a:rPr>
              <a:t>Drafted as issues with redis-cli reproductions in docs/falkordb-issues.md. Not yet posted.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Honest limits and what's next</a:t>
            </a:r>
            <a:endParaRPr lang="en-US" sz="3400" dirty="0"/>
          </a:p>
        </p:txBody>
      </p:sp>
      <p:sp>
        <p:nvSpPr>
          <p:cNvPr id="3" name="text-199"/>
          <p:cNvSpPr txBox="1"/>
          <p:nvPr/>
        </p:nvSpPr>
        <p:spPr>
          <a:xfrm>
            <a:off x="548640" y="1325880"/>
            <a:ext cx="5486400" cy="274320"/>
          </a:xfrm>
          <a:prstGeom prst="rect">
            <a:avLst/>
          </a:prstGeom>
          <a:noFill/>
          <a:ln/>
        </p:spPr>
        <p:txBody>
          <a:bodyPr wrap="square" lIns="0" tIns="0" rIns="0" bIns="0" rtlCol="0" anchor="t"/>
          <a:lstStyle/>
          <a:p>
            <a:pPr indent="0" marL="0">
              <a:buNone/>
            </a:pPr>
            <a:r>
              <a:rPr lang="en-US" sz="1100" b="1" spc="100" kern="0" dirty="0">
                <a:solidFill>
                  <a:schemeClr val="tx2"/>
                </a:solidFill>
              </a:rPr>
              <a:t>LIMITS TODAY</a:t>
            </a:r>
            <a:endParaRPr lang="en-US" sz="1100" dirty="0"/>
          </a:p>
        </p:txBody>
      </p:sp>
      <p:sp>
        <p:nvSpPr>
          <p:cNvPr id="4" name="text-200"/>
          <p:cNvSpPr txBox="1"/>
          <p:nvPr/>
        </p:nvSpPr>
        <p:spPr>
          <a:xfrm>
            <a:off x="548640" y="1645920"/>
            <a:ext cx="56692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Extraction with Gemma 4 26B scores P 0.42 / R 0.59 strict, so the demo replays hand-labelled facts; one live extraction is shown.</a:t>
            </a:r>
            <a:endParaRPr lang="en-US" sz="1500" dirty="0"/>
          </a:p>
          <a:p>
            <a:pPr marL="342900" indent="-342900">
              <a:spcAft>
                <a:spcPts val="800"/>
              </a:spcAft>
              <a:buSzPct val="100000"/>
              <a:buChar char="•"/>
            </a:pPr>
            <a:r>
              <a:rPr lang="en-US" sz="1500" dirty="0">
                <a:solidFill>
                  <a:schemeClr val="tx1"/>
                </a:solidFill>
              </a:rPr>
              <a:t>No HTTP user auth yet; isolation is at the database ACL level.</a:t>
            </a:r>
            <a:endParaRPr lang="en-US" sz="1500" dirty="0"/>
          </a:p>
          <a:p>
            <a:pPr marL="342900" indent="-342900">
              <a:spcAft>
                <a:spcPts val="800"/>
              </a:spcAft>
              <a:buSzPct val="100000"/>
              <a:buChar char="•"/>
            </a:pPr>
            <a:r>
              <a:rPr lang="en-US" sz="1500" dirty="0">
                <a:solidFill>
                  <a:schemeClr val="tx1"/>
                </a:solidFill>
              </a:rPr>
              <a:t>GitHub issues are simulated unless a token is set.</a:t>
            </a:r>
            <a:endParaRPr lang="en-US" sz="1500" dirty="0"/>
          </a:p>
          <a:p>
            <a:pPr marL="342900" indent="-342900">
              <a:spcAft>
                <a:spcPts val="800"/>
              </a:spcAft>
              <a:buSzPct val="100000"/>
              <a:buChar char="•"/>
            </a:pPr>
            <a:r>
              <a:rPr lang="en-US" sz="1500" dirty="0">
                <a:solidFill>
                  <a:schemeClr val="tx1"/>
                </a:solidFill>
              </a:rPr>
              <a:t>Benchmarks come from one laptop, not a server.</a:t>
            </a:r>
            <a:endParaRPr lang="en-US" sz="1500" dirty="0"/>
          </a:p>
        </p:txBody>
      </p:sp>
      <p:graphicFrame>
        <p:nvGraphicFramePr>
          <p:cNvPr id="5" name="chart-201" descr=""/>
          <p:cNvGraphicFramePr/>
          <p:nvPr/>
        </p:nvGraphicFramePr>
        <p:xfrm>
          <a:off x="6583680" y="1280160"/>
          <a:ext cx="5029200" cy="3017520"/>
        </p:xfrm>
        <a:graphic xmlns:a="http://schemas.openxmlformats.org/drawingml/2006/main">
          <a:graphicData uri="http://schemas.openxmlformats.org/drawingml/2006/chart">
            <c:chart xmlns:c="http://schemas.openxmlformats.org/drawingml/2006/chart" r:id="rId1"/>
          </a:graphicData>
        </a:graphic>
      </p:graphicFrame>
      <p:sp>
        <p:nvSpPr>
          <p:cNvPr id="6" name="text-202"/>
          <p:cNvSpPr txBox="1"/>
          <p:nvPr/>
        </p:nvSpPr>
        <p:spPr>
          <a:xfrm>
            <a:off x="548640" y="4526280"/>
            <a:ext cx="5486400" cy="274320"/>
          </a:xfrm>
          <a:prstGeom prst="rect">
            <a:avLst/>
          </a:prstGeom>
          <a:noFill/>
          <a:ln/>
        </p:spPr>
        <p:txBody>
          <a:bodyPr wrap="square" lIns="0" tIns="0" rIns="0" bIns="0" rtlCol="0" anchor="t"/>
          <a:lstStyle/>
          <a:p>
            <a:pPr indent="0" marL="0">
              <a:buNone/>
            </a:pPr>
            <a:r>
              <a:rPr lang="en-US" sz="1100" b="1" spc="100" kern="0" dirty="0">
                <a:solidFill>
                  <a:schemeClr val="tx2"/>
                </a:solidFill>
              </a:rPr>
              <a:t>NEXT</a:t>
            </a:r>
            <a:endParaRPr lang="en-US" sz="1100" dirty="0"/>
          </a:p>
        </p:txBody>
      </p:sp>
      <p:sp>
        <p:nvSpPr>
          <p:cNvPr id="7" name="node-203"/>
          <p:cNvSpPr txBox="1"/>
          <p:nvPr/>
        </p:nvSpPr>
        <p:spPr>
          <a:xfrm>
            <a:off x="548640" y="4846320"/>
            <a:ext cx="2606040" cy="914400"/>
          </a:xfrm>
          <a:prstGeom prst="roundRect">
            <a:avLst>
              <a:gd name="adj" fmla="val 12000"/>
            </a:avLst>
          </a:prstGeom>
          <a:solidFill>
            <a:schemeClr val="accent1"/>
          </a:solidFill>
          <a:ln w="15875">
            <a:solidFill>
              <a:schemeClr val="accent1"/>
            </a:solidFill>
          </a:ln>
        </p:spPr>
        <p:txBody>
          <a:bodyPr wrap="square" lIns="25400" tIns="25400" rIns="25400" bIns="25400" rtlCol="0" anchor="ctr"/>
          <a:lstStyle/>
          <a:p>
            <a:pPr algn="ctr" indent="0" marL="0">
              <a:buNone/>
            </a:pPr>
            <a:r>
              <a:rPr lang="en-US" sz="1300" b="1" dirty="0">
                <a:solidFill>
                  <a:schemeClr val="bg1"/>
                </a:solidFill>
              </a:rPr>
              <a:t>Semantic eval match and a larger model</a:t>
            </a:r>
            <a:endParaRPr lang="en-US" sz="1300" dirty="0"/>
          </a:p>
        </p:txBody>
      </p:sp>
      <p:sp>
        <p:nvSpPr>
          <p:cNvPr id="8" name="node-204"/>
          <p:cNvSpPr txBox="1"/>
          <p:nvPr/>
        </p:nvSpPr>
        <p:spPr>
          <a:xfrm>
            <a:off x="3346704" y="4846320"/>
            <a:ext cx="2606040" cy="914400"/>
          </a:xfrm>
          <a:prstGeom prst="roundRect">
            <a:avLst>
              <a:gd name="adj" fmla="val 12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HTTP auth mapped to tenant ACL users</a:t>
            </a:r>
            <a:endParaRPr lang="en-US" sz="1300" dirty="0"/>
          </a:p>
        </p:txBody>
      </p:sp>
      <p:sp>
        <p:nvSpPr>
          <p:cNvPr id="9" name="node-205"/>
          <p:cNvSpPr txBox="1"/>
          <p:nvPr/>
        </p:nvSpPr>
        <p:spPr>
          <a:xfrm>
            <a:off x="6144768" y="4846320"/>
            <a:ext cx="2606040" cy="914400"/>
          </a:xfrm>
          <a:prstGeom prst="roundRect">
            <a:avLst>
              <a:gd name="adj" fmla="val 12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Post the three FalkorDB issues</a:t>
            </a:r>
            <a:endParaRPr lang="en-US" sz="1300" dirty="0"/>
          </a:p>
        </p:txBody>
      </p:sp>
      <p:sp>
        <p:nvSpPr>
          <p:cNvPr id="10" name="node-206"/>
          <p:cNvSpPr txBox="1"/>
          <p:nvPr/>
        </p:nvSpPr>
        <p:spPr>
          <a:xfrm>
            <a:off x="8942832" y="4846320"/>
            <a:ext cx="2606040" cy="914400"/>
          </a:xfrm>
          <a:prstGeom prst="roundRect">
            <a:avLst>
              <a:gd name="adj" fmla="val 12000"/>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Real issue tracker and skills shared through commons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Tracks, stack and team</a:t>
            </a:r>
            <a:endParaRPr lang="en-US" sz="3400" dirty="0"/>
          </a:p>
        </p:txBody>
      </p:sp>
      <p:sp>
        <p:nvSpPr>
          <p:cNvPr id="3" name="text-207"/>
          <p:cNvSpPr txBox="1"/>
          <p:nvPr/>
        </p:nvSpPr>
        <p:spPr>
          <a:xfrm>
            <a:off x="548640" y="1325880"/>
            <a:ext cx="3291840" cy="274320"/>
          </a:xfrm>
          <a:prstGeom prst="rect">
            <a:avLst/>
          </a:prstGeom>
          <a:noFill/>
          <a:ln/>
        </p:spPr>
        <p:txBody>
          <a:bodyPr wrap="square" lIns="0" tIns="0" rIns="0" bIns="0" rtlCol="0" anchor="t"/>
          <a:lstStyle/>
          <a:p>
            <a:pPr indent="0" marL="0">
              <a:buNone/>
            </a:pPr>
            <a:r>
              <a:rPr lang="en-US" sz="1100" b="1" spc="100" kern="0" dirty="0">
                <a:solidFill>
                  <a:schemeClr val="tx2"/>
                </a:solidFill>
              </a:rPr>
              <a:t>TRACKS</a:t>
            </a:r>
            <a:endParaRPr lang="en-US" sz="1100" dirty="0"/>
          </a:p>
        </p:txBody>
      </p:sp>
      <p:sp>
        <p:nvSpPr>
          <p:cNvPr id="4" name="node-208"/>
          <p:cNvSpPr txBox="1"/>
          <p:nvPr/>
        </p:nvSpPr>
        <p:spPr>
          <a:xfrm>
            <a:off x="548640" y="1691640"/>
            <a:ext cx="3291840" cy="777240"/>
          </a:xfrm>
          <a:prstGeom prst="roundRect">
            <a:avLst>
              <a:gd name="adj" fmla="val 14118"/>
            </a:avLst>
          </a:prstGeom>
          <a:solidFill>
            <a:schemeClr val="accent1"/>
          </a:solidFill>
          <a:ln w="15875">
            <a:solidFill>
              <a:schemeClr val="accent1"/>
            </a:solidFill>
          </a:ln>
        </p:spPr>
        <p:txBody>
          <a:bodyPr wrap="square" lIns="25400" tIns="25400" rIns="25400" bIns="25400" rtlCol="0" anchor="ctr"/>
          <a:lstStyle/>
          <a:p>
            <a:pPr algn="ctr" indent="0" marL="0">
              <a:buNone/>
            </a:pPr>
            <a:r>
              <a:rPr lang="en-US" sz="1300" b="1" dirty="0">
                <a:solidFill>
                  <a:schemeClr val="bg1"/>
                </a:solidFill>
              </a:rPr>
              <a:t>Track 2 (primary)</a:t>
            </a:r>
            <a:endParaRPr lang="en-US" sz="1300" dirty="0"/>
          </a:p>
          <a:p>
            <a:pPr algn="ctr" indent="0" marL="0">
              <a:buNone/>
            </a:pPr>
            <a:r>
              <a:rPr lang="en-US" sz="1300" b="1" dirty="0">
                <a:solidFill>
                  <a:schemeClr val="bg1"/>
                </a:solidFill>
              </a:rPr>
              <a:t>Agent Memory and Coordination</a:t>
            </a:r>
            <a:endParaRPr lang="en-US" sz="1300" dirty="0"/>
          </a:p>
        </p:txBody>
      </p:sp>
      <p:sp>
        <p:nvSpPr>
          <p:cNvPr id="5" name="node-209"/>
          <p:cNvSpPr txBox="1"/>
          <p:nvPr/>
        </p:nvSpPr>
        <p:spPr>
          <a:xfrm>
            <a:off x="548640" y="2651760"/>
            <a:ext cx="3291840" cy="777240"/>
          </a:xfrm>
          <a:prstGeom prst="roundRect">
            <a:avLst>
              <a:gd name="adj" fmla="val 14118"/>
            </a:avLst>
          </a:prstGeom>
          <a:solidFill>
            <a:schemeClr val="bg1"/>
          </a:solidFill>
          <a:ln w="15875">
            <a:solidFill>
              <a:schemeClr val="accent1"/>
            </a:solidFill>
          </a:ln>
        </p:spPr>
        <p:txBody>
          <a:bodyPr wrap="square" lIns="25400" tIns="25400" rIns="25400" bIns="25400" rtlCol="0" anchor="ctr"/>
          <a:lstStyle/>
          <a:p>
            <a:pPr algn="ctr" indent="0" marL="0">
              <a:buNone/>
            </a:pPr>
            <a:r>
              <a:rPr lang="en-US" sz="1300" b="1" dirty="0">
                <a:solidFill>
                  <a:schemeClr val="tx1"/>
                </a:solidFill>
              </a:rPr>
              <a:t>Track 3</a:t>
            </a:r>
            <a:endParaRPr lang="en-US" sz="1300" dirty="0"/>
          </a:p>
          <a:p>
            <a:pPr algn="ctr" indent="0" marL="0">
              <a:buNone/>
            </a:pPr>
            <a:r>
              <a:rPr lang="en-US" sz="1300" b="1" dirty="0">
                <a:solidFill>
                  <a:schemeClr val="tx1"/>
                </a:solidFill>
              </a:rPr>
              <a:t>Company Brain</a:t>
            </a:r>
            <a:endParaRPr lang="en-US" sz="1300" dirty="0"/>
          </a:p>
        </p:txBody>
      </p:sp>
      <p:sp>
        <p:nvSpPr>
          <p:cNvPr id="6" name="text-210"/>
          <p:cNvSpPr txBox="1"/>
          <p:nvPr/>
        </p:nvSpPr>
        <p:spPr>
          <a:xfrm>
            <a:off x="4251960" y="1325880"/>
            <a:ext cx="3840480" cy="274320"/>
          </a:xfrm>
          <a:prstGeom prst="rect">
            <a:avLst/>
          </a:prstGeom>
          <a:noFill/>
          <a:ln/>
        </p:spPr>
        <p:txBody>
          <a:bodyPr wrap="square" lIns="0" tIns="0" rIns="0" bIns="0" rtlCol="0" anchor="t"/>
          <a:lstStyle/>
          <a:p>
            <a:pPr indent="0" marL="0">
              <a:buNone/>
            </a:pPr>
            <a:r>
              <a:rPr lang="en-US" sz="1100" b="1" spc="100" kern="0" dirty="0">
                <a:solidFill>
                  <a:schemeClr val="tx2"/>
                </a:solidFill>
              </a:rPr>
              <a:t>STACK: OPEN MODELS, OPEN-SOURCE GRAPH DB</a:t>
            </a:r>
            <a:endParaRPr lang="en-US" sz="1100" dirty="0"/>
          </a:p>
        </p:txBody>
      </p:sp>
      <p:sp>
        <p:nvSpPr>
          <p:cNvPr id="7" name="node-211"/>
          <p:cNvSpPr txBox="1"/>
          <p:nvPr/>
        </p:nvSpPr>
        <p:spPr>
          <a:xfrm>
            <a:off x="4251960" y="1691640"/>
            <a:ext cx="1828800" cy="457200"/>
          </a:xfrm>
          <a:prstGeom prst="roundRect">
            <a:avLst>
              <a:gd name="adj" fmla="val 24000"/>
            </a:avLst>
          </a:prstGeom>
          <a:solidFill>
            <a:schemeClr val="accent1"/>
          </a:solidFill>
          <a:ln w="15875">
            <a:solidFill>
              <a:schemeClr val="accent1"/>
            </a:solidFill>
          </a:ln>
        </p:spPr>
        <p:txBody>
          <a:bodyPr wrap="square" lIns="25400" tIns="25400" rIns="25400" bIns="25400" rtlCol="0" anchor="ctr"/>
          <a:lstStyle/>
          <a:p>
            <a:pPr algn="ctr" indent="0" marL="0">
              <a:buNone/>
            </a:pPr>
            <a:r>
              <a:rPr lang="en-US" sz="1200" b="1" dirty="0">
                <a:solidFill>
                  <a:schemeClr val="bg1"/>
                </a:solidFill>
              </a:rPr>
              <a:t>FalkorDB 6.0.1</a:t>
            </a:r>
            <a:endParaRPr lang="en-US" sz="1200" dirty="0"/>
          </a:p>
        </p:txBody>
      </p:sp>
      <p:sp>
        <p:nvSpPr>
          <p:cNvPr id="8" name="node-212"/>
          <p:cNvSpPr txBox="1"/>
          <p:nvPr/>
        </p:nvSpPr>
        <p:spPr>
          <a:xfrm>
            <a:off x="6217920" y="1691640"/>
            <a:ext cx="182880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200" dirty="0">
                <a:solidFill>
                  <a:schemeClr val="tx1"/>
                </a:solidFill>
              </a:rPr>
              <a:t>Redis pub/sub</a:t>
            </a:r>
            <a:endParaRPr lang="en-US" sz="1200" dirty="0"/>
          </a:p>
        </p:txBody>
      </p:sp>
      <p:sp>
        <p:nvSpPr>
          <p:cNvPr id="9" name="node-213"/>
          <p:cNvSpPr txBox="1"/>
          <p:nvPr/>
        </p:nvSpPr>
        <p:spPr>
          <a:xfrm>
            <a:off x="4251960" y="2258568"/>
            <a:ext cx="182880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200" dirty="0">
                <a:solidFill>
                  <a:schemeClr val="tx1"/>
                </a:solidFill>
              </a:rPr>
              <a:t>Gemma 4 26B (Gemini API)</a:t>
            </a:r>
            <a:endParaRPr lang="en-US" sz="1200" dirty="0"/>
          </a:p>
        </p:txBody>
      </p:sp>
      <p:sp>
        <p:nvSpPr>
          <p:cNvPr id="10" name="node-214"/>
          <p:cNvSpPr txBox="1"/>
          <p:nvPr/>
        </p:nvSpPr>
        <p:spPr>
          <a:xfrm>
            <a:off x="6217920" y="2258568"/>
            <a:ext cx="182880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200" dirty="0">
                <a:solidFill>
                  <a:schemeClr val="tx1"/>
                </a:solidFill>
              </a:rPr>
              <a:t>EmbeddingGemma (CPU)</a:t>
            </a:r>
            <a:endParaRPr lang="en-US" sz="1200" dirty="0"/>
          </a:p>
        </p:txBody>
      </p:sp>
      <p:sp>
        <p:nvSpPr>
          <p:cNvPr id="11" name="node-215"/>
          <p:cNvSpPr txBox="1"/>
          <p:nvPr/>
        </p:nvSpPr>
        <p:spPr>
          <a:xfrm>
            <a:off x="4251960" y="2825496"/>
            <a:ext cx="182880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200" dirty="0">
                <a:solidFill>
                  <a:schemeClr val="tx1"/>
                </a:solidFill>
              </a:rPr>
              <a:t>JavaScript UDF</a:t>
            </a:r>
            <a:endParaRPr lang="en-US" sz="1200" dirty="0"/>
          </a:p>
        </p:txBody>
      </p:sp>
      <p:sp>
        <p:nvSpPr>
          <p:cNvPr id="12" name="node-216"/>
          <p:cNvSpPr txBox="1"/>
          <p:nvPr/>
        </p:nvSpPr>
        <p:spPr>
          <a:xfrm>
            <a:off x="6217920" y="2825496"/>
            <a:ext cx="182880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200" dirty="0">
                <a:solidFill>
                  <a:schemeClr val="tx1"/>
                </a:solidFill>
              </a:rPr>
              <a:t>FastAPI, Python</a:t>
            </a:r>
            <a:endParaRPr lang="en-US" sz="1200" dirty="0"/>
          </a:p>
        </p:txBody>
      </p:sp>
      <p:sp>
        <p:nvSpPr>
          <p:cNvPr id="13" name="node-217"/>
          <p:cNvSpPr txBox="1"/>
          <p:nvPr/>
        </p:nvSpPr>
        <p:spPr>
          <a:xfrm>
            <a:off x="4251960" y="3392424"/>
            <a:ext cx="182880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200" dirty="0">
                <a:solidFill>
                  <a:schemeClr val="tx1"/>
                </a:solidFill>
              </a:rPr>
              <a:t>Next.js</a:t>
            </a:r>
            <a:endParaRPr lang="en-US" sz="1200" dirty="0"/>
          </a:p>
        </p:txBody>
      </p:sp>
      <p:sp>
        <p:nvSpPr>
          <p:cNvPr id="14" name="node-218"/>
          <p:cNvSpPr txBox="1"/>
          <p:nvPr/>
        </p:nvSpPr>
        <p:spPr>
          <a:xfrm>
            <a:off x="6217920" y="3392424"/>
            <a:ext cx="1828800" cy="457200"/>
          </a:xfrm>
          <a:prstGeom prst="roundRect">
            <a:avLst>
              <a:gd name="adj" fmla="val 24000"/>
            </a:avLst>
          </a:prstGeom>
          <a:solidFill>
            <a:schemeClr val="accent2"/>
          </a:solidFill>
          <a:ln w="15875">
            <a:solidFill>
              <a:schemeClr val="accent2"/>
            </a:solidFill>
          </a:ln>
        </p:spPr>
        <p:txBody>
          <a:bodyPr wrap="square" lIns="25400" tIns="25400" rIns="25400" bIns="25400" rtlCol="0" anchor="ctr"/>
          <a:lstStyle/>
          <a:p>
            <a:pPr algn="ctr" indent="0" marL="0">
              <a:buNone/>
            </a:pPr>
            <a:r>
              <a:rPr lang="en-US" sz="1200" dirty="0">
                <a:solidFill>
                  <a:schemeClr val="tx1"/>
                </a:solidFill>
              </a:rPr>
              <a:t>MCP server</a:t>
            </a:r>
            <a:endParaRPr lang="en-US" sz="1200" dirty="0"/>
          </a:p>
        </p:txBody>
      </p:sp>
      <p:sp>
        <p:nvSpPr>
          <p:cNvPr id="15" name="text-219"/>
          <p:cNvSpPr txBox="1"/>
          <p:nvPr/>
        </p:nvSpPr>
        <p:spPr>
          <a:xfrm>
            <a:off x="8503920" y="1325880"/>
            <a:ext cx="3108960" cy="274320"/>
          </a:xfrm>
          <a:prstGeom prst="rect">
            <a:avLst/>
          </a:prstGeom>
          <a:noFill/>
          <a:ln/>
        </p:spPr>
        <p:txBody>
          <a:bodyPr wrap="square" lIns="0" tIns="0" rIns="0" bIns="0" rtlCol="0" anchor="t"/>
          <a:lstStyle/>
          <a:p>
            <a:pPr indent="0" marL="0">
              <a:buNone/>
            </a:pPr>
            <a:r>
              <a:rPr lang="en-US" sz="1100" b="1" spc="100" kern="0" dirty="0">
                <a:solidFill>
                  <a:schemeClr val="tx2"/>
                </a:solidFill>
              </a:rPr>
              <a:t>TEAM VULCAN</a:t>
            </a:r>
            <a:endParaRPr lang="en-US" sz="1100" dirty="0"/>
          </a:p>
        </p:txBody>
      </p:sp>
      <p:sp>
        <p:nvSpPr>
          <p:cNvPr id="16" name="text-220"/>
          <p:cNvSpPr txBox="1"/>
          <p:nvPr/>
        </p:nvSpPr>
        <p:spPr>
          <a:xfrm>
            <a:off x="8503920" y="1691640"/>
            <a:ext cx="3108960" cy="2926080"/>
          </a:xfrm>
          <a:prstGeom prst="rect">
            <a:avLst/>
          </a:prstGeom>
          <a:noFill/>
          <a:ln/>
        </p:spPr>
        <p:txBody>
          <a:bodyPr wrap="square" lIns="0" tIns="0" rIns="0" bIns="0" rtlCol="0" anchor="t"/>
          <a:lstStyle/>
          <a:p>
            <a:pPr indent="0" marL="0">
              <a:buNone/>
            </a:pPr>
            <a:r>
              <a:rPr lang="en-US" sz="1500" b="1" dirty="0">
                <a:solidFill>
                  <a:schemeClr val="tx1"/>
                </a:solidFill>
              </a:rPr>
              <a:t>Pallab Das</a:t>
            </a:r>
            <a:endParaRPr lang="en-US" sz="1500" dirty="0"/>
          </a:p>
          <a:p>
            <a:pPr indent="0" marL="0">
              <a:buNone/>
            </a:pPr>
            <a:r>
              <a:rPr lang="en-US" sz="1500" dirty="0">
                <a:solidFill>
                  <a:schemeClr val="tx2"/>
                </a:solidFill>
              </a:rPr>
              <a:t>@PDGamerSG</a:t>
            </a:r>
            <a:endParaRPr lang="en-US" sz="1500" dirty="0"/>
          </a:p>
          <a:p>
            <a:pPr indent="0" marL="0">
              <a:buNone/>
            </a:pPr>
            <a:r>
              <a:rPr lang="en-US" sz="1500" b="1" dirty="0">
                <a:solidFill>
                  <a:schemeClr val="tx1"/>
                </a:solidFill>
              </a:rPr>
              <a:t>Yuvraj Singh</a:t>
            </a:r>
            <a:endParaRPr lang="en-US" sz="1500" dirty="0"/>
          </a:p>
          <a:p>
            <a:pPr indent="0" marL="0">
              <a:buNone/>
            </a:pPr>
            <a:r>
              <a:rPr lang="en-US" sz="1500" dirty="0">
                <a:solidFill>
                  <a:schemeClr val="tx2"/>
                </a:solidFill>
              </a:rPr>
              <a:t>@Yuvraj-025</a:t>
            </a:r>
            <a:endParaRPr lang="en-US" sz="1500" dirty="0"/>
          </a:p>
          <a:p>
            <a:pPr indent="0" marL="0">
              <a:buNone/>
            </a:pPr>
            <a:r>
              <a:rPr lang="en-US" sz="1500" b="1" dirty="0">
                <a:solidFill>
                  <a:schemeClr val="tx1"/>
                </a:solidFill>
              </a:rPr>
              <a:t>Rudra Pratap</a:t>
            </a:r>
            <a:endParaRPr lang="en-US" sz="1500" dirty="0"/>
          </a:p>
          <a:p>
            <a:pPr indent="0" marL="0">
              <a:buNone/>
            </a:pPr>
            <a:r>
              <a:rPr lang="en-US" sz="1500" dirty="0">
                <a:solidFill>
                  <a:schemeClr val="tx2"/>
                </a:solidFill>
              </a:rPr>
              <a:t>@rpratap2111</a:t>
            </a:r>
            <a:endParaRPr lang="en-US" sz="1500" dirty="0"/>
          </a:p>
          <a:p>
            <a:pPr indent="0" marL="0">
              <a:buNone/>
            </a:pPr>
            <a:r>
              <a:rPr lang="en-US" sz="1500" b="1" dirty="0">
                <a:solidFill>
                  <a:schemeClr val="tx1"/>
                </a:solidFill>
              </a:rPr>
              <a:t>Aditya Arnav</a:t>
            </a:r>
            <a:endParaRPr lang="en-US" sz="1500" dirty="0"/>
          </a:p>
          <a:p>
            <a:pPr indent="0" marL="0">
              <a:buNone/>
            </a:pPr>
            <a:r>
              <a:rPr lang="en-US" sz="1500" dirty="0">
                <a:solidFill>
                  <a:schemeClr val="tx2"/>
                </a:solidFill>
              </a:rPr>
              <a:t>@Hydra-Of-Malice</a:t>
            </a:r>
            <a:endParaRPr lang="en-US" sz="1500" dirty="0"/>
          </a:p>
        </p:txBody>
      </p:sp>
      <p:sp>
        <p:nvSpPr>
          <p:cNvPr id="17" name="card-221"/>
          <p:cNvSpPr/>
          <p:nvPr/>
        </p:nvSpPr>
        <p:spPr>
          <a:xfrm>
            <a:off x="548640" y="4160520"/>
            <a:ext cx="11064240" cy="960120"/>
          </a:xfrm>
          <a:prstGeom prst="roundRect">
            <a:avLst>
              <a:gd name="adj" fmla="val 9524"/>
            </a:avLst>
          </a:prstGeom>
          <a:solidFill>
            <a:schemeClr val="bg1"/>
          </a:solidFill>
          <a:ln w="22225">
            <a:solidFill>
              <a:schemeClr val="accent1"/>
            </a:solidFill>
            <a:prstDash val="solid"/>
          </a:ln>
        </p:spPr>
      </p:sp>
      <p:sp>
        <p:nvSpPr>
          <p:cNvPr id="18" name="text-222"/>
          <p:cNvSpPr txBox="1"/>
          <p:nvPr/>
        </p:nvSpPr>
        <p:spPr>
          <a:xfrm>
            <a:off x="822960" y="4297680"/>
            <a:ext cx="10515600" cy="86868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Repo  </a:t>
            </a:r>
            <a:pPr indent="0" marL="0">
              <a:spcAft>
                <a:spcPts val="400"/>
              </a:spcAft>
              <a:buNone/>
            </a:pPr>
            <a:r>
              <a:rPr lang="en-US" sz="1600" dirty="0">
                <a:solidFill>
                  <a:schemeClr val="tx1"/>
                </a:solidFill>
                <a:latin typeface="Courier New" pitchFamily="34" charset="0"/>
                <a:ea typeface="Courier New" pitchFamily="34" charset="-122"/>
                <a:cs typeface="Courier New" pitchFamily="34" charset="-120"/>
              </a:rPr>
              <a:t>github.com/Hydra-Of-Malice/FalkorDB</a:t>
            </a:r>
            <a:endParaRPr lang="en-US" sz="1600" dirty="0"/>
          </a:p>
          <a:p>
            <a:pPr indent="0" marL="0">
              <a:spcAft>
                <a:spcPts val="400"/>
              </a:spcAft>
              <a:buNone/>
            </a:pPr>
            <a:r>
              <a:rPr lang="en-US" sz="1600" dirty="0">
                <a:solidFill>
                  <a:schemeClr val="tx2"/>
                </a:solidFill>
              </a:rPr>
              <a:t>Live demo, video, Cypher and setup are linked from the README.</a:t>
            </a:r>
            <a:endParaRPr lang="en-US" sz="1600" dirty="0"/>
          </a:p>
        </p:txBody>
      </p:sp>
      <p:sp>
        <p:nvSpPr>
          <p:cNvPr id="19" name="text-223"/>
          <p:cNvSpPr txBox="1"/>
          <p:nvPr/>
        </p:nvSpPr>
        <p:spPr>
          <a:xfrm>
            <a:off x="548640" y="5440680"/>
            <a:ext cx="11064240" cy="411480"/>
          </a:xfrm>
          <a:prstGeom prst="rect">
            <a:avLst/>
          </a:prstGeom>
          <a:noFill/>
          <a:ln/>
        </p:spPr>
        <p:txBody>
          <a:bodyPr wrap="square" lIns="0" tIns="0" rIns="0" bIns="0" rtlCol="0" anchor="t"/>
          <a:lstStyle/>
          <a:p>
            <a:pPr indent="0" marL="0">
              <a:buNone/>
            </a:pPr>
            <a:r>
              <a:rPr lang="en-US" sz="1800" i="1" dirty="0">
                <a:solidFill>
                  <a:schemeClr val="accent1"/>
                </a:solidFill>
              </a:rPr>
              <a:t>Who owns the work, why decisions changed, and what the team knew at the time.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Minutes">
  <a:themeElements>
    <a:clrScheme name="Minutes">
      <a:dk1>
        <a:srgbClr val="182138"/>
      </a:dk1>
      <a:lt1>
        <a:srgbClr val="FFFFFF"/>
      </a:lt1>
      <a:dk2>
        <a:srgbClr val="566079"/>
      </a:dk2>
      <a:lt2>
        <a:srgbClr val="F2F5FF"/>
      </a:lt2>
      <a:accent1>
        <a:srgbClr val="3155ED"/>
      </a:accent1>
      <a:accent2>
        <a:srgbClr val="DCE3FD"/>
      </a:accent2>
      <a:accent3>
        <a:srgbClr val="8C95A8"/>
      </a:accent3>
      <a:accent4>
        <a:srgbClr val="E3E7EF"/>
      </a:accent4>
      <a:accent5>
        <a:srgbClr val="0F1A3A"/>
      </a:accent5>
      <a:accent6>
        <a:srgbClr val="B8C6FA"/>
      </a:accent6>
      <a:hlink>
        <a:srgbClr val="3155ED"/>
      </a:hlink>
      <a:folHlink>
        <a:srgbClr val="566079"/>
      </a:folHlink>
    </a:clrScheme>
    <a:fontScheme name="Minut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Team Vulcan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Minutes: pitch deck</dc:title>
  <dc:subject>PptxGenJS Presentation</dc:subject>
  <dc:creator>Team Vulcan</dc:creator>
  <cp:lastModifiedBy>Team Vulcan</cp:lastModifiedBy>
  <cp:revision>1</cp:revision>
  <dcterms:created xsi:type="dcterms:W3CDTF">2026-10-11T19:18:42Z</dcterms:created>
  <dcterms:modified xsi:type="dcterms:W3CDTF">2026-10-11T19:18:42Z</dcterms:modified>
</cp:coreProperties>
</file>