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dde589-756f-12de-53a8-3137fcc6d72d}">
          <p14:sldIdLst>
            <p14:sldId id="256"/>
          </p14:sldIdLst>
        </p14:section>
        <p14:section name="Problem and product" id="{c4fbba9a-4ccc-821c-1394-7fbff23daa02}">
          <p14:sldIdLst>
            <p14:sldId id="257"/>
            <p14:sldId id="258"/>
          </p14:sldIdLst>
        </p14:section>
        <p14:section name="How it works" id="{86182202-eda7-7638-b853-53765aaea67e}">
          <p14:sldIdLst>
            <p14:sldId id="259"/>
            <p14:sldId id="260"/>
            <p14:sldId id="261"/>
            <p14:sldId id="262"/>
          </p14:sldIdLst>
        </p14:section>
        <p14:section name="Coordination and trust" id="{c2566b9d-f9c1-79e4-9621-c6e0d20fe214}">
          <p14:sldIdLst>
            <p14:sldId id="263"/>
            <p14:sldId id="264"/>
            <p14:sldId id="265"/>
          </p14:sldIdLst>
        </p14:section>
        <p14:section name="Close" id="{d99b10e7-5abb-8105-a15c-b9c60012a53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82138"/>
                </a:solidFill>
                <a:latin typeface="+mn-lt"/>
              </a:defRPr>
            </a:pPr>
            <a:r>
              <a:rPr sz="1200" b="0" i="0" u="none" strike="noStrike">
                <a:solidFill>
                  <a:srgbClr val="182138"/>
                </a:solidFill>
                <a:latin typeface="+mn-lt"/>
              </a:rPr>
              <a:t>Live extraction, strict match (F1 0.49)</a:t>
            </a:r>
          </a:p>
        </c:rich>
      </c:tx>
      <c:layout/>
      <c:overlay val="0"/>
    </c:title>
    <c:autoTitleDeleted val="0"/>
    <c:plotArea>
      <c:layout/>
      <c:barChart>
        <c:barDir val="col"/>
        <c:grouping val="clustered"/>
        <c:varyColors val="0"/>
        <c:ser>
          <c:idx val="0"/>
          <c:order val="0"/>
          <c:tx>
            <c:strRef>
              <c:f>Sheet1!$B$1</c:f>
              <c:strCache>
                <c:ptCount val="1"/>
                <c:pt idx="0">
                  <c:v>Measured</c:v>
                </c:pt>
              </c:strCache>
            </c:strRef>
          </c:tx>
          <c:spPr>
            <a:solidFill>
              <a:srgbClr val="3155ED"/>
            </a:solidFill>
            <a:effectLst/>
          </c:spPr>
          <c:invertIfNegative val="0"/>
          <c:dLbls>
            <c:numFmt formatCode="0.00" sourceLinked="0"/>
            <c:txPr>
              <a:bodyPr/>
              <a:lstStyle/>
              <a:p>
                <a:pPr>
                  <a:defRPr b="0" i="0" strike="noStrike" sz="1100" u="none">
                    <a:solidFill>
                      <a:srgbClr val="182138"/>
                    </a:solidFill>
                    <a:latin typeface="+mn-lt"/>
                  </a:defRPr>
                </a:pPr>
              </a:p>
            </c:txPr>
            <c:showLegendKey val="0"/>
            <c:showVal val="1"/>
            <c:showCatName val="0"/>
            <c:showSerName val="0"/>
            <c:showPercent val="0"/>
            <c:showBubbleSize val="0"/>
            <c:showLeaderLines val="0"/>
          </c:dLbls>
          <c:cat>
            <c:multiLvlStrRef>
              <c:f>Sheet1!$A$2:$A$3</c:f>
              <c:multiLvlStrCache>
                <c:ptCount val="2"/>
                <c:lvl>
                  <c:pt idx="0">
                    <c:v>Precision</c:v>
                  </c:pt>
                  <c:pt idx="1">
                    <c:v>Recall</c:v>
                  </c:pt>
                </c:lvl>
              </c:multiLvlStrCache>
            </c:multiLvlStrRef>
          </c:cat>
          <c:val>
            <c:numRef>
              <c:f>Sheet1!$B$2:$B$3</c:f>
              <c:numCache>
                <c:formatCode>General</c:formatCode>
                <c:ptCount val="2"/>
                <c:pt idx="0">
                  <c:v>0.42</c:v>
                </c:pt>
                <c:pt idx="1">
                  <c:v>0.59</c:v>
                </c:pt>
              </c:numCache>
            </c:numRef>
          </c:val>
        </c:ser>
        <c:ser>
          <c:idx val="1"/>
          <c:order val="1"/>
          <c:tx>
            <c:strRef>
              <c:f>Sheet1!$C$1</c:f>
              <c:strCache>
                <c:ptCount val="1"/>
                <c:pt idx="0">
                  <c:v>Goal</c:v>
                </c:pt>
              </c:strCache>
            </c:strRef>
          </c:tx>
          <c:spPr>
            <a:solidFill>
              <a:srgbClr val="B8C6FA"/>
            </a:solidFill>
            <a:effectLst/>
          </c:spPr>
          <c:invertIfNegative val="0"/>
          <c:dLbls>
            <c:numFmt formatCode="0.00" sourceLinked="0"/>
            <c:txPr>
              <a:bodyPr/>
              <a:lstStyle/>
              <a:p>
                <a:pPr>
                  <a:defRPr b="0" i="0" strike="noStrike" sz="1100" u="none">
                    <a:solidFill>
                      <a:srgbClr val="182138"/>
                    </a:solidFill>
                    <a:latin typeface="+mn-lt"/>
                  </a:defRPr>
                </a:pPr>
              </a:p>
            </c:txPr>
            <c:showLegendKey val="0"/>
            <c:showVal val="1"/>
            <c:showCatName val="0"/>
            <c:showSerName val="0"/>
            <c:showPercent val="0"/>
            <c:showBubbleSize val="0"/>
            <c:showLeaderLines val="0"/>
          </c:dLbls>
          <c:cat>
            <c:multiLvlStrRef>
              <c:f>Sheet1!$A$2:$A$3</c:f>
              <c:multiLvlStrCache>
                <c:ptCount val="2"/>
                <c:lvl>
                  <c:pt idx="0">
                    <c:v>Precision</c:v>
                  </c:pt>
                  <c:pt idx="1">
                    <c:v>Recall</c:v>
                  </c:pt>
                </c:lvl>
              </c:multiLvlStrCache>
            </c:multiLvlStrRef>
          </c:cat>
          <c:val>
            <c:numRef>
              <c:f>Sheet1!$C$2:$C$3</c:f>
              <c:numCache>
                <c:formatCode>General</c:formatCode>
                <c:ptCount val="2"/>
                <c:pt idx="0">
                  <c:v>0.8</c:v>
                </c:pt>
                <c:pt idx="1">
                  <c:v>0.7</c:v>
                </c:pt>
              </c:numCache>
            </c:numRef>
          </c:val>
        </c:ser>
        <c:dLbls>
          <c:numFmt formatCode="0.00" sourceLinked="0"/>
          <c:txPr>
            <a:bodyPr/>
            <a:lstStyle/>
            <a:p>
              <a:pPr>
                <a:defRPr b="0" i="0" strike="noStrike" sz="1100" u="none">
                  <a:solidFill>
                    <a:srgbClr val="182138"/>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82138"/>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7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07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6607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a company memory in FalkorDB, built from meetings and email. It knows who owns what, why it changed, and what the change affects. Team Vulcan, Graph Hacks 2026. Track 3, Company Brain, is the primary entry; Track 2, Agent Memory and Coordination, is the second. The drawing is the ripple effect: the runbook depends on the Razorpay decision, which PayU superseded.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a changed decision that nobody downstream hears about. In the synthetic Orbit team, three open work items were planned on decisions that later changed: the payment runbook (Priya), the navigation accessibility tests (Sana) and the UPI release handoff (Rahul). Search can find mentions of PayU; it cannot say which work depends on the old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kinds of company knowledge, all in one FalkorDB graph per team: people, decisions, commitments, work and sources. Work is the Track 3 addition: an explicit dependency from a work item to the decision it was planned on, with an owner and a versioned document. The Orbit corpus: 6 meetings, 5 email threads, 4 people, and a synthetic delivery register with 5 tracked work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graph per team, team_&lt;slug&gt;. Sources become Episodes with speaker attribution. Facts are bi-temporal and superseded, never deleted. A WorkItem DEPENDS_ON the fact it was planned on, is OWNED_BY a person and DOCUMENTED_IN a versioned document. A FollowUpDraft is FOR_WORK a work item and BASED_ON the current fact. Tasks and Agents carry the coordination. All timestamps are epoch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Track 3 centrepiece. The synthetic delivery register says the payment runbook depends on the kickoff vendor decision, Razorpay. FalkorDB finds the active fact with the same key, PayU from the Sept 23 customer call, and follows SUPERSEDES back to the baseline. Open work plus a real supersession path plus a changed value means needs review, with Priya as the accountable owner. Only explicit dependencies count: no co-mention, vector similarity or model guess creates one. The overview shows the recorded relationships and the executed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Why panel answers which query ran, how the router decided, and which sources back the answer. Who owns the decision log routes to the ownership template, cypher/54_owners, which prefers an explicit assignment over the speaker fallback: Aditya announced it in the Sept 29 email, Rahul owns it. Every source opens the email or the transcript line at its timestamp. In scripted demo mode this answer is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across sources: the UPI flow due date changes three times, twice in speech and once in email, always by Priya. The old fact is expired and linked by SUPERSEDES across sources, never deleted. The timeline at Sept 16 returns UPI due the 25th and vendor Razorpay; PayU arrives on Sept 23. Belief at any valid time is one Cypher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 2, in support of the Company Brain. A changed fact starts work: the board's move it to Friday supersedes the PayU integration date, Oct 1 to Fri Oct 2. The Scheduler claims the task with one compare-and-set write and hands it to FollowUp through a HANDED_OFF edge that carries the subgraph ids it needs. FollowUp drafts the follow-up; the GitHub issue is simulated because no token is set. 25 agents race for one task: 1 winner, 24 losers. The standup routine is procedural memory, a Skill with Steps and a success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its own graph and two ACL users, so a company brain for one team cannot read another's. Orbit's read-only user running GRAPH.RO_QUERY on team_nimbus gets NOPERM. Limits stated plainly: the HTTP API does not authenticate users yet, and the commons graph (tenant registry, published skills) is writable by every team's read-write user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Recorded prior runs, not new measurements. Harness: packages/hiveboard/bench/harness.py. Same-machine comparison of engines, alternating runs. The single-graph rows show per-graph write serialisation, which is why Minutes uses one graph per team. The 200 by 20 run needed MAX_QUEUED_QUERIES raised to 1000; compose sets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Extraction quality is the main open problem: the target was 0.80 precision and 0.70 recall, and strict matching counts a rephrased subject as a miss plus a false positive. The demo graph replays reviewed gold labels. Answers in the recorded demo are scripted templates unless Gemma mode is used. Dependencies come from an authored delivery register. There is no HTTP user auth yet. These are next steps, not finished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enters Track 3, Company Brain, as the primary entry and Track 2, Agent Memory and Coordination, as the second. Open models: Gemma 4 and EmbeddingGemma. Open-source graph database: FalkorDB.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18872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3" name="Text 0"/>
          <p:cNvSpPr/>
          <p:nvPr>
            <p:ph idx="101" type="body" hasCustomPrompt="1"/>
          </p:nvPr>
        </p:nvSpPr>
        <p:spPr>
          <a:xfrm>
            <a:off x="731520" y="3200400"/>
            <a:ext cx="6766560" cy="137160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Minutes · Team Vulcan · Graph Hacks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188720"/>
          </a:xfrm>
          <a:prstGeom prst="rect">
            <a:avLst/>
          </a:prstGeom>
          <a:noFill/>
          <a:ln/>
        </p:spPr>
        <p:txBody>
          <a:bodyPr wrap="square" lIns="0" tIns="0" rIns="0" bIns="0" rtlCol="0" anchor="b"/>
          <a:lstStyle/>
          <a:p>
            <a:pPr algn="l" indent="0" marL="0">
              <a:buNone/>
            </a:pPr>
            <a:r>
              <a:rPr lang="en-US" sz="6600" b="1" dirty="0">
                <a:solidFill>
                  <a:schemeClr val="tx1"/>
                </a:solidFill>
              </a:rPr>
              <a:t>Minutes</a:t>
            </a:r>
            <a:endParaRPr lang="en-US" sz="6600" dirty="0"/>
          </a:p>
        </p:txBody>
      </p:sp>
      <p:sp>
        <p:nvSpPr>
          <p:cNvPr id="3" name="Text 0"/>
          <p:cNvSpPr/>
          <p:nvPr>
            <p:ph idx="101" type="body" hasCustomPrompt="1"/>
          </p:nvPr>
        </p:nvSpPr>
        <p:spPr>
          <a:xfrm>
            <a:off x="731520" y="3200400"/>
            <a:ext cx="6766560" cy="1371600"/>
          </a:xfrm>
          <a:prstGeom prst="rect">
            <a:avLst/>
          </a:prstGeom>
          <a:noFill/>
          <a:ln/>
        </p:spPr>
        <p:txBody>
          <a:bodyPr wrap="square" lIns="0" tIns="0" rIns="0" bIns="0" rtlCol="0" anchor="t"/>
          <a:lstStyle/>
          <a:p>
            <a:pPr algn="l" indent="0" marL="0">
              <a:buNone/>
            </a:pPr>
            <a:r>
              <a:rPr lang="en-US" sz="2200" dirty="0">
                <a:solidFill>
                  <a:schemeClr val="tx2"/>
                </a:solidFill>
              </a:rPr>
              <a:t>A company memory in FalkorDB, built from meetings and email. It knows who owns what, why it changed, and what the change affects.</a:t>
            </a:r>
            <a:endParaRPr lang="en-US" sz="2200" dirty="0"/>
          </a:p>
        </p:txBody>
      </p:sp>
      <p:sp>
        <p:nvSpPr>
          <p:cNvPr id="4" name="text-1"/>
          <p:cNvSpPr txBox="1"/>
          <p:nvPr/>
        </p:nvSpPr>
        <p:spPr>
          <a:xfrm>
            <a:off x="731520" y="5394960"/>
            <a:ext cx="7498080" cy="365760"/>
          </a:xfrm>
          <a:prstGeom prst="rect">
            <a:avLst/>
          </a:prstGeom>
          <a:noFill/>
          <a:ln/>
        </p:spPr>
        <p:txBody>
          <a:bodyPr wrap="square" lIns="0" tIns="0" rIns="0" bIns="0" rtlCol="0" anchor="t"/>
          <a:lstStyle/>
          <a:p>
            <a:pPr indent="0" marL="0">
              <a:buNone/>
            </a:pPr>
            <a:r>
              <a:rPr lang="en-US" sz="1600" b="1" dirty="0">
                <a:solidFill>
                  <a:schemeClr val="tx1"/>
                </a:solidFill>
              </a:rPr>
              <a:t>Team Vulcan</a:t>
            </a:r>
            <a:pPr indent="0" marL="0">
              <a:buNone/>
            </a:pPr>
            <a:r>
              <a:rPr lang="en-US" sz="1600" dirty="0">
                <a:solidFill>
                  <a:schemeClr val="tx2"/>
                </a:solidFill>
              </a:rPr>
              <a:t>  ·  Graph Hacks: Context for AI Agents 2026  ·  Tracks 3 and 2</a:t>
            </a:r>
            <a:endParaRPr lang="en-US" sz="1600" dirty="0"/>
          </a:p>
        </p:txBody>
      </p:sp>
      <p:sp>
        <p:nvSpPr>
          <p:cNvPr id="5" name="node-2"/>
          <p:cNvSpPr txBox="1"/>
          <p:nvPr/>
        </p:nvSpPr>
        <p:spPr>
          <a:xfrm>
            <a:off x="8138160" y="914400"/>
            <a:ext cx="1463040" cy="457200"/>
          </a:xfrm>
          <a:prstGeom prst="roundRect">
            <a:avLst>
              <a:gd name="adj" fmla="val 24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Meeting</a:t>
            </a:r>
            <a:endParaRPr lang="en-US" sz="1300" dirty="0"/>
          </a:p>
        </p:txBody>
      </p:sp>
      <p:sp>
        <p:nvSpPr>
          <p:cNvPr id="6" name="node-3"/>
          <p:cNvSpPr txBox="1"/>
          <p:nvPr/>
        </p:nvSpPr>
        <p:spPr>
          <a:xfrm>
            <a:off x="10149840" y="914400"/>
            <a:ext cx="1463040" cy="457200"/>
          </a:xfrm>
          <a:prstGeom prst="roundRect">
            <a:avLst>
              <a:gd name="adj" fmla="val 24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Email</a:t>
            </a:r>
            <a:endParaRPr lang="en-US" sz="1300" dirty="0"/>
          </a:p>
        </p:txBody>
      </p:sp>
      <p:sp>
        <p:nvSpPr>
          <p:cNvPr id="7" name="node-4"/>
          <p:cNvSpPr txBox="1"/>
          <p:nvPr/>
        </p:nvSpPr>
        <p:spPr>
          <a:xfrm>
            <a:off x="9098280" y="2148840"/>
            <a:ext cx="1645920" cy="502920"/>
          </a:xfrm>
          <a:prstGeom prst="roundRect">
            <a:avLst>
              <a:gd name="adj" fmla="val 21818"/>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300" b="1" dirty="0">
                <a:solidFill>
                  <a:schemeClr val="bg1"/>
                </a:solidFill>
              </a:rPr>
              <a:t>PayU</a:t>
            </a:r>
            <a:endParaRPr lang="en-US" sz="1300" dirty="0"/>
          </a:p>
        </p:txBody>
      </p:sp>
      <p:sp>
        <p:nvSpPr>
          <p:cNvPr id="8" name="node-5"/>
          <p:cNvSpPr txBox="1"/>
          <p:nvPr/>
        </p:nvSpPr>
        <p:spPr>
          <a:xfrm>
            <a:off x="9098280" y="3611880"/>
            <a:ext cx="1645920" cy="502920"/>
          </a:xfrm>
          <a:prstGeom prst="roundRect">
            <a:avLst>
              <a:gd name="adj" fmla="val 21818"/>
            </a:avLst>
          </a:prstGeom>
          <a:solidFill>
            <a:schemeClr val="bg2"/>
          </a:solidFill>
          <a:ln w="15875">
            <a:solidFill>
              <a:schemeClr val="accent3"/>
            </a:solidFill>
          </a:ln>
        </p:spPr>
        <p:txBody>
          <a:bodyPr wrap="square" lIns="25400" tIns="25400" rIns="25400" bIns="25400" rtlCol="0" anchor="ctr"/>
          <a:lstStyle/>
          <a:p>
            <a:pPr algn="ctr" indent="0" marL="0">
              <a:buNone/>
            </a:pPr>
            <a:r>
              <a:rPr lang="en-US" sz="1200" dirty="0">
                <a:solidFill>
                  <a:schemeClr val="tx2"/>
                </a:solidFill>
              </a:rPr>
              <a:t>Razorpay (old)</a:t>
            </a:r>
            <a:endParaRPr lang="en-US" sz="1200" dirty="0"/>
          </a:p>
        </p:txBody>
      </p:sp>
      <p:sp>
        <p:nvSpPr>
          <p:cNvPr id="9" name="node-6"/>
          <p:cNvSpPr txBox="1"/>
          <p:nvPr/>
        </p:nvSpPr>
        <p:spPr>
          <a:xfrm>
            <a:off x="9098280" y="5074920"/>
            <a:ext cx="1645920" cy="502920"/>
          </a:xfrm>
          <a:prstGeom prst="roundRect">
            <a:avLst>
              <a:gd name="adj" fmla="val 21818"/>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300" dirty="0">
                <a:solidFill>
                  <a:schemeClr val="tx1"/>
                </a:solidFill>
              </a:rPr>
              <a:t>Runbook</a:t>
            </a:r>
            <a:endParaRPr lang="en-US" sz="1300" dirty="0"/>
          </a:p>
        </p:txBody>
      </p:sp>
      <p:sp>
        <p:nvSpPr>
          <p:cNvPr id="10" name="edge-7"/>
          <p:cNvSpPr/>
          <p:nvPr/>
        </p:nvSpPr>
        <p:spPr>
          <a:xfrm flipH="1" flipV="1">
            <a:off x="8915400" y="1371600"/>
            <a:ext cx="640080" cy="777240"/>
          </a:xfrm>
          <a:prstGeom prst="line">
            <a:avLst/>
          </a:prstGeom>
          <a:noFill/>
          <a:ln w="19050">
            <a:solidFill>
              <a:schemeClr val="tx2"/>
            </a:solidFill>
            <a:prstDash val="solid"/>
            <a:tailEnd type="triangle"/>
          </a:ln>
        </p:spPr>
      </p:sp>
      <p:sp>
        <p:nvSpPr>
          <p:cNvPr id="11" name="edge-8"/>
          <p:cNvSpPr/>
          <p:nvPr/>
        </p:nvSpPr>
        <p:spPr>
          <a:xfrm flipV="1">
            <a:off x="10287000" y="1371600"/>
            <a:ext cx="594360" cy="777240"/>
          </a:xfrm>
          <a:prstGeom prst="line">
            <a:avLst/>
          </a:prstGeom>
          <a:noFill/>
          <a:ln w="19050">
            <a:solidFill>
              <a:schemeClr val="tx2"/>
            </a:solidFill>
            <a:prstDash val="solid"/>
            <a:tailEnd type="triangle"/>
          </a:ln>
        </p:spPr>
      </p:sp>
      <p:sp>
        <p:nvSpPr>
          <p:cNvPr id="12" name="edge-9"/>
          <p:cNvSpPr/>
          <p:nvPr/>
        </p:nvSpPr>
        <p:spPr>
          <a:xfrm>
            <a:off x="9921240" y="2651760"/>
            <a:ext cx="0" cy="960120"/>
          </a:xfrm>
          <a:prstGeom prst="line">
            <a:avLst/>
          </a:prstGeom>
          <a:noFill/>
          <a:ln w="19050">
            <a:solidFill>
              <a:schemeClr val="accent1"/>
            </a:solidFill>
            <a:prstDash val="solid"/>
            <a:tailEnd type="triangle"/>
          </a:ln>
        </p:spPr>
      </p:sp>
      <p:sp>
        <p:nvSpPr>
          <p:cNvPr id="13" name="edge-label-10"/>
          <p:cNvSpPr txBox="1"/>
          <p:nvPr/>
        </p:nvSpPr>
        <p:spPr>
          <a:xfrm>
            <a:off x="9418320" y="3017520"/>
            <a:ext cx="1005840" cy="237744"/>
          </a:xfrm>
          <a:prstGeom prst="rect">
            <a:avLst/>
          </a:prstGeom>
          <a:solidFill>
            <a:schemeClr val="bg1"/>
          </a:solidFill>
          <a:ln/>
        </p:spPr>
        <p:txBody>
          <a:bodyPr wrap="square" lIns="0" tIns="0" rIns="0" bIns="0" rtlCol="0" anchor="ctr"/>
          <a:lstStyle/>
          <a:p>
            <a:pPr algn="ctr" indent="0" marL="0">
              <a:buNone/>
            </a:pPr>
            <a:r>
              <a:rPr lang="en-US" sz="1000" b="1" dirty="0">
                <a:solidFill>
                  <a:schemeClr val="accent1"/>
                </a:solidFill>
                <a:latin typeface="Courier New" pitchFamily="34" charset="0"/>
                <a:ea typeface="Courier New" pitchFamily="34" charset="-122"/>
                <a:cs typeface="Courier New" pitchFamily="34" charset="-120"/>
              </a:rPr>
              <a:t>SUPERSEDES</a:t>
            </a:r>
            <a:endParaRPr lang="en-US" sz="1000" dirty="0"/>
          </a:p>
        </p:txBody>
      </p:sp>
      <p:sp>
        <p:nvSpPr>
          <p:cNvPr id="14" name="edge-11"/>
          <p:cNvSpPr/>
          <p:nvPr/>
        </p:nvSpPr>
        <p:spPr>
          <a:xfrm flipV="1">
            <a:off x="9921240" y="4114800"/>
            <a:ext cx="0" cy="960120"/>
          </a:xfrm>
          <a:prstGeom prst="line">
            <a:avLst/>
          </a:prstGeom>
          <a:noFill/>
          <a:ln w="19050">
            <a:solidFill>
              <a:schemeClr val="accent1"/>
            </a:solidFill>
            <a:prstDash val="solid"/>
            <a:tailEnd type="triangle"/>
          </a:ln>
        </p:spPr>
      </p:sp>
      <p:sp>
        <p:nvSpPr>
          <p:cNvPr id="15" name="edge-label-12"/>
          <p:cNvSpPr txBox="1"/>
          <p:nvPr/>
        </p:nvSpPr>
        <p:spPr>
          <a:xfrm>
            <a:off x="9418320" y="4480560"/>
            <a:ext cx="1005840" cy="237744"/>
          </a:xfrm>
          <a:prstGeom prst="rect">
            <a:avLst/>
          </a:prstGeom>
          <a:solidFill>
            <a:schemeClr val="bg1"/>
          </a:solidFill>
          <a:ln/>
        </p:spPr>
        <p:txBody>
          <a:bodyPr wrap="square" lIns="0" tIns="0" rIns="0" bIns="0" rtlCol="0" anchor="ctr"/>
          <a:lstStyle/>
          <a:p>
            <a:pPr algn="ctr" indent="0" marL="0">
              <a:buNone/>
            </a:pPr>
            <a:r>
              <a:rPr lang="en-US" sz="1000" b="1" dirty="0">
                <a:solidFill>
                  <a:schemeClr val="accent1"/>
                </a:solidFill>
                <a:latin typeface="Courier New" pitchFamily="34" charset="0"/>
                <a:ea typeface="Courier New" pitchFamily="34" charset="-122"/>
                <a:cs typeface="Courier New" pitchFamily="34" charset="-120"/>
              </a:rPr>
              <a:t>DEPENDS_ON</a:t>
            </a:r>
            <a:endParaRPr lang="en-US" sz="1000" dirty="0"/>
          </a:p>
        </p:txBody>
      </p:sp>
      <p:sp>
        <p:nvSpPr>
          <p:cNvPr id="16" name="text-13"/>
          <p:cNvSpPr txBox="1"/>
          <p:nvPr/>
        </p:nvSpPr>
        <p:spPr>
          <a:xfrm>
            <a:off x="8778240" y="5650992"/>
            <a:ext cx="2286000" cy="274320"/>
          </a:xfrm>
          <a:prstGeom prst="rect">
            <a:avLst/>
          </a:prstGeom>
          <a:noFill/>
          <a:ln/>
        </p:spPr>
        <p:txBody>
          <a:bodyPr wrap="square" lIns="0" tIns="0" rIns="0" bIns="0" rtlCol="0" anchor="t"/>
          <a:lstStyle/>
          <a:p>
            <a:pPr algn="ctr" indent="0" marL="0">
              <a:buNone/>
            </a:pPr>
            <a:r>
              <a:rPr lang="en-US" sz="1200" dirty="0">
                <a:solidFill>
                  <a:schemeClr val="tx2"/>
                </a:solidFill>
              </a:rPr>
              <a:t>needs review · Priya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A decision changes, and the work never hears</a:t>
            </a:r>
            <a:endParaRPr lang="en-US" sz="3400" dirty="0"/>
          </a:p>
        </p:txBody>
      </p:sp>
      <p:sp>
        <p:nvSpPr>
          <p:cNvPr id="3" name="dot-14"/>
          <p:cNvSpPr txBox="1"/>
          <p:nvPr/>
        </p:nvSpPr>
        <p:spPr>
          <a:xfrm>
            <a:off x="548640" y="155448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4" name="text-15"/>
          <p:cNvSpPr txBox="1"/>
          <p:nvPr/>
        </p:nvSpPr>
        <p:spPr>
          <a:xfrm>
            <a:off x="1188720" y="1536192"/>
            <a:ext cx="5120640" cy="411480"/>
          </a:xfrm>
          <a:prstGeom prst="rect">
            <a:avLst/>
          </a:prstGeom>
          <a:noFill/>
          <a:ln/>
        </p:spPr>
        <p:txBody>
          <a:bodyPr wrap="square" lIns="0" tIns="0" rIns="0" bIns="0" rtlCol="0" anchor="t"/>
          <a:lstStyle/>
          <a:p>
            <a:pPr indent="0" marL="0">
              <a:buNone/>
            </a:pPr>
            <a:r>
              <a:rPr lang="en-US" sz="2000" b="1" dirty="0">
                <a:solidFill>
                  <a:schemeClr val="tx1"/>
                </a:solidFill>
              </a:rPr>
              <a:t>Decisions change in meetings and email</a:t>
            </a:r>
            <a:endParaRPr lang="en-US" sz="2000" dirty="0"/>
          </a:p>
        </p:txBody>
      </p:sp>
      <p:sp>
        <p:nvSpPr>
          <p:cNvPr id="5" name="text-16"/>
          <p:cNvSpPr txBox="1"/>
          <p:nvPr/>
        </p:nvSpPr>
        <p:spPr>
          <a:xfrm>
            <a:off x="1188720" y="1965960"/>
            <a:ext cx="4937760" cy="731520"/>
          </a:xfrm>
          <a:prstGeom prst="rect">
            <a:avLst/>
          </a:prstGeom>
          <a:noFill/>
          <a:ln/>
        </p:spPr>
        <p:txBody>
          <a:bodyPr wrap="square" lIns="0" tIns="0" rIns="0" bIns="0" rtlCol="0" anchor="t"/>
          <a:lstStyle/>
          <a:p>
            <a:pPr indent="0" marL="0">
              <a:buNone/>
            </a:pPr>
            <a:r>
              <a:rPr lang="en-US" sz="1500" dirty="0">
                <a:solidFill>
                  <a:schemeClr val="tx2"/>
                </a:solidFill>
              </a:rPr>
              <a:t>Razorpay at the kickoff on Sept 7; PayU at the customer call on Sept 23.</a:t>
            </a:r>
            <a:endParaRPr lang="en-US" sz="1500" dirty="0"/>
          </a:p>
        </p:txBody>
      </p:sp>
      <p:sp>
        <p:nvSpPr>
          <p:cNvPr id="6" name="dot-17"/>
          <p:cNvSpPr txBox="1"/>
          <p:nvPr/>
        </p:nvSpPr>
        <p:spPr>
          <a:xfrm>
            <a:off x="548640" y="297180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18"/>
          <p:cNvSpPr txBox="1"/>
          <p:nvPr/>
        </p:nvSpPr>
        <p:spPr>
          <a:xfrm>
            <a:off x="1188720" y="2953512"/>
            <a:ext cx="5120640" cy="411480"/>
          </a:xfrm>
          <a:prstGeom prst="rect">
            <a:avLst/>
          </a:prstGeom>
          <a:noFill/>
          <a:ln/>
        </p:spPr>
        <p:txBody>
          <a:bodyPr wrap="square" lIns="0" tIns="0" rIns="0" bIns="0" rtlCol="0" anchor="t"/>
          <a:lstStyle/>
          <a:p>
            <a:pPr indent="0" marL="0">
              <a:buNone/>
            </a:pPr>
            <a:r>
              <a:rPr lang="en-US" sz="2000" b="1" dirty="0">
                <a:solidFill>
                  <a:schemeClr val="tx1"/>
                </a:solidFill>
              </a:rPr>
              <a:t>Work is planned on the old version</a:t>
            </a:r>
            <a:endParaRPr lang="en-US" sz="2000" dirty="0"/>
          </a:p>
        </p:txBody>
      </p:sp>
      <p:sp>
        <p:nvSpPr>
          <p:cNvPr id="8" name="text-19"/>
          <p:cNvSpPr txBox="1"/>
          <p:nvPr/>
        </p:nvSpPr>
        <p:spPr>
          <a:xfrm>
            <a:off x="1188720" y="3383280"/>
            <a:ext cx="4937760" cy="731520"/>
          </a:xfrm>
          <a:prstGeom prst="rect">
            <a:avLst/>
          </a:prstGeom>
          <a:noFill/>
          <a:ln/>
        </p:spPr>
        <p:txBody>
          <a:bodyPr wrap="square" lIns="0" tIns="0" rIns="0" bIns="0" rtlCol="0" anchor="t"/>
          <a:lstStyle/>
          <a:p>
            <a:pPr indent="0" marL="0">
              <a:buNone/>
            </a:pPr>
            <a:r>
              <a:rPr lang="en-US" sz="1500" dirty="0">
                <a:solidFill>
                  <a:schemeClr val="tx2"/>
                </a:solidFill>
              </a:rPr>
              <a:t>The payment runbook still specifies Razorpay APIs and onboarding steps.</a:t>
            </a:r>
            <a:endParaRPr lang="en-US" sz="1500" dirty="0"/>
          </a:p>
        </p:txBody>
      </p:sp>
      <p:sp>
        <p:nvSpPr>
          <p:cNvPr id="9" name="dot-20"/>
          <p:cNvSpPr txBox="1"/>
          <p:nvPr/>
        </p:nvSpPr>
        <p:spPr>
          <a:xfrm>
            <a:off x="548640" y="438912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0" name="text-21"/>
          <p:cNvSpPr txBox="1"/>
          <p:nvPr/>
        </p:nvSpPr>
        <p:spPr>
          <a:xfrm>
            <a:off x="1188720" y="4370832"/>
            <a:ext cx="5120640" cy="411480"/>
          </a:xfrm>
          <a:prstGeom prst="rect">
            <a:avLst/>
          </a:prstGeom>
          <a:noFill/>
          <a:ln/>
        </p:spPr>
        <p:txBody>
          <a:bodyPr wrap="square" lIns="0" tIns="0" rIns="0" bIns="0" rtlCol="0" anchor="t"/>
          <a:lstStyle/>
          <a:p>
            <a:pPr indent="0" marL="0">
              <a:buNone/>
            </a:pPr>
            <a:r>
              <a:rPr lang="en-US" sz="2000" b="1" dirty="0">
                <a:solidFill>
                  <a:schemeClr val="tx1"/>
                </a:solidFill>
              </a:rPr>
              <a:t>Nobody connects the two</a:t>
            </a:r>
            <a:endParaRPr lang="en-US" sz="2000" dirty="0"/>
          </a:p>
        </p:txBody>
      </p:sp>
      <p:sp>
        <p:nvSpPr>
          <p:cNvPr id="11" name="text-22"/>
          <p:cNvSpPr txBox="1"/>
          <p:nvPr/>
        </p:nvSpPr>
        <p:spPr>
          <a:xfrm>
            <a:off x="1188720" y="4800600"/>
            <a:ext cx="4937760" cy="731520"/>
          </a:xfrm>
          <a:prstGeom prst="rect">
            <a:avLst/>
          </a:prstGeom>
          <a:noFill/>
          <a:ln/>
        </p:spPr>
        <p:txBody>
          <a:bodyPr wrap="square" lIns="0" tIns="0" rIns="0" bIns="0" rtlCol="0" anchor="t"/>
          <a:lstStyle/>
          <a:p>
            <a:pPr indent="0" marL="0">
              <a:buNone/>
            </a:pPr>
            <a:r>
              <a:rPr lang="en-US" sz="1500" dirty="0">
                <a:solidFill>
                  <a:schemeClr val="tx2"/>
                </a:solidFill>
              </a:rPr>
              <a:t>Search finds mentions. It does not know which work depends on which decision.</a:t>
            </a:r>
            <a:endParaRPr lang="en-US" sz="1500" dirty="0"/>
          </a:p>
        </p:txBody>
      </p:sp>
      <p:sp>
        <p:nvSpPr>
          <p:cNvPr id="12" name="card-23"/>
          <p:cNvSpPr/>
          <p:nvPr/>
        </p:nvSpPr>
        <p:spPr>
          <a:xfrm>
            <a:off x="6675120" y="1463040"/>
            <a:ext cx="4937760" cy="4480560"/>
          </a:xfrm>
          <a:prstGeom prst="roundRect">
            <a:avLst>
              <a:gd name="adj" fmla="val 2041"/>
            </a:avLst>
          </a:prstGeom>
          <a:solidFill>
            <a:schemeClr val="bg2"/>
          </a:solidFill>
          <a:ln w="12700">
            <a:solidFill>
              <a:schemeClr val="accent4"/>
            </a:solidFill>
            <a:prstDash val="solid"/>
          </a:ln>
        </p:spPr>
      </p:sp>
      <p:sp>
        <p:nvSpPr>
          <p:cNvPr id="13" name="text-24"/>
          <p:cNvSpPr txBox="1"/>
          <p:nvPr/>
        </p:nvSpPr>
        <p:spPr>
          <a:xfrm>
            <a:off x="7040880" y="1737360"/>
            <a:ext cx="4206240" cy="274320"/>
          </a:xfrm>
          <a:prstGeom prst="rect">
            <a:avLst/>
          </a:prstGeom>
          <a:noFill/>
          <a:ln/>
        </p:spPr>
        <p:txBody>
          <a:bodyPr wrap="square" lIns="0" tIns="0" rIns="0" bIns="0" rtlCol="0" anchor="t"/>
          <a:lstStyle/>
          <a:p>
            <a:pPr indent="0" marL="0">
              <a:buNone/>
            </a:pPr>
            <a:r>
              <a:rPr lang="en-US" sz="1100" b="1" spc="100" kern="0" dirty="0">
                <a:solidFill>
                  <a:schemeClr val="tx2"/>
                </a:solidFill>
              </a:rPr>
              <a:t>ONE TEAM, THREE CHANGED DECISIONS</a:t>
            </a:r>
            <a:endParaRPr lang="en-US" sz="1100" dirty="0"/>
          </a:p>
        </p:txBody>
      </p:sp>
      <p:sp>
        <p:nvSpPr>
          <p:cNvPr id="14" name="text-25"/>
          <p:cNvSpPr txBox="1"/>
          <p:nvPr/>
        </p:nvSpPr>
        <p:spPr>
          <a:xfrm>
            <a:off x="7040880" y="2103120"/>
            <a:ext cx="4389120" cy="457200"/>
          </a:xfrm>
          <a:prstGeom prst="rect">
            <a:avLst/>
          </a:prstGeom>
          <a:noFill/>
          <a:ln/>
        </p:spPr>
        <p:txBody>
          <a:bodyPr wrap="square" lIns="0" tIns="0" rIns="0" bIns="0" rtlCol="0" anchor="t"/>
          <a:lstStyle/>
          <a:p>
            <a:pPr indent="0" marL="0">
              <a:buNone/>
            </a:pPr>
            <a:r>
              <a:rPr lang="en-US" sz="2200" b="1" dirty="0">
                <a:solidFill>
                  <a:schemeClr val="tx1"/>
                </a:solidFill>
              </a:rPr>
              <a:t>Which open work is out of date?</a:t>
            </a:r>
            <a:endParaRPr lang="en-US" sz="2200" dirty="0"/>
          </a:p>
        </p:txBody>
      </p:sp>
      <p:sp>
        <p:nvSpPr>
          <p:cNvPr id="15" name="text-26"/>
          <p:cNvSpPr txBox="1"/>
          <p:nvPr/>
        </p:nvSpPr>
        <p:spPr>
          <a:xfrm>
            <a:off x="7040880" y="2788920"/>
            <a:ext cx="3291840" cy="320040"/>
          </a:xfrm>
          <a:prstGeom prst="rect">
            <a:avLst/>
          </a:prstGeom>
          <a:noFill/>
          <a:ln/>
        </p:spPr>
        <p:txBody>
          <a:bodyPr wrap="square" lIns="0" tIns="0" rIns="0" bIns="0" rtlCol="0" anchor="t"/>
          <a:lstStyle/>
          <a:p>
            <a:pPr indent="0" marL="0">
              <a:buNone/>
            </a:pPr>
            <a:r>
              <a:rPr lang="en-US" sz="1500" b="1" dirty="0">
                <a:solidFill>
                  <a:schemeClr val="tx1"/>
                </a:solidFill>
              </a:rPr>
              <a:t>Payment integration runbook</a:t>
            </a:r>
            <a:endParaRPr lang="en-US" sz="1500" dirty="0"/>
          </a:p>
        </p:txBody>
      </p:sp>
      <p:sp>
        <p:nvSpPr>
          <p:cNvPr id="16" name="text-27"/>
          <p:cNvSpPr txBox="1"/>
          <p:nvPr/>
        </p:nvSpPr>
        <p:spPr>
          <a:xfrm>
            <a:off x="10332720" y="2788920"/>
            <a:ext cx="1005840" cy="320040"/>
          </a:xfrm>
          <a:prstGeom prst="rect">
            <a:avLst/>
          </a:prstGeom>
          <a:noFill/>
          <a:ln/>
        </p:spPr>
        <p:txBody>
          <a:bodyPr wrap="square" lIns="0" tIns="0" rIns="0" bIns="0" rtlCol="0" anchor="t"/>
          <a:lstStyle/>
          <a:p>
            <a:pPr algn="r" indent="0" marL="0">
              <a:buNone/>
            </a:pPr>
            <a:r>
              <a:rPr lang="en-US" sz="1500" dirty="0">
                <a:solidFill>
                  <a:schemeClr val="tx2"/>
                </a:solidFill>
              </a:rPr>
              <a:t>Priya</a:t>
            </a:r>
            <a:endParaRPr lang="en-US" sz="1500" dirty="0"/>
          </a:p>
        </p:txBody>
      </p:sp>
      <p:sp>
        <p:nvSpPr>
          <p:cNvPr id="17" name="text-28"/>
          <p:cNvSpPr txBox="1"/>
          <p:nvPr/>
        </p:nvSpPr>
        <p:spPr>
          <a:xfrm>
            <a:off x="7040880" y="3090672"/>
            <a:ext cx="4297680" cy="301752"/>
          </a:xfrm>
          <a:prstGeom prst="rect">
            <a:avLst/>
          </a:prstGeom>
          <a:noFill/>
          <a:ln/>
        </p:spPr>
        <p:txBody>
          <a:bodyPr wrap="square" lIns="0" tIns="0" rIns="0" bIns="0" rtlCol="0" anchor="t"/>
          <a:lstStyle/>
          <a:p>
            <a:pPr indent="0" marL="0">
              <a:buNone/>
            </a:pPr>
            <a:r>
              <a:rPr lang="en-US" sz="1400" strike="sngStrike" dirty="0">
                <a:solidFill>
                  <a:schemeClr val="accent3"/>
                </a:solidFill>
              </a:rPr>
              <a:t>Razorpay</a:t>
            </a:r>
            <a:pPr indent="0" marL="0">
              <a:buNone/>
            </a:pPr>
            <a:r>
              <a:rPr lang="en-US" sz="1400" dirty="0">
                <a:solidFill>
                  <a:schemeClr val="tx2"/>
                </a:solidFill>
              </a:rPr>
              <a:t>  →  </a:t>
            </a:r>
            <a:pPr indent="0" marL="0">
              <a:buNone/>
            </a:pPr>
            <a:r>
              <a:rPr lang="en-US" sz="1400" b="1" dirty="0">
                <a:solidFill>
                  <a:schemeClr val="accent1"/>
                </a:solidFill>
              </a:rPr>
              <a:t>PayU</a:t>
            </a:r>
            <a:endParaRPr lang="en-US" sz="1400" dirty="0"/>
          </a:p>
        </p:txBody>
      </p:sp>
      <p:sp>
        <p:nvSpPr>
          <p:cNvPr id="18" name="text-29"/>
          <p:cNvSpPr txBox="1"/>
          <p:nvPr/>
        </p:nvSpPr>
        <p:spPr>
          <a:xfrm>
            <a:off x="7040880" y="3502152"/>
            <a:ext cx="3291840" cy="320040"/>
          </a:xfrm>
          <a:prstGeom prst="rect">
            <a:avLst/>
          </a:prstGeom>
          <a:noFill/>
          <a:ln/>
        </p:spPr>
        <p:txBody>
          <a:bodyPr wrap="square" lIns="0" tIns="0" rIns="0" bIns="0" rtlCol="0" anchor="t"/>
          <a:lstStyle/>
          <a:p>
            <a:pPr indent="0" marL="0">
              <a:buNone/>
            </a:pPr>
            <a:r>
              <a:rPr lang="en-US" sz="1500" b="1" dirty="0">
                <a:solidFill>
                  <a:schemeClr val="tx1"/>
                </a:solidFill>
              </a:rPr>
              <a:t>Navigation accessibility tests</a:t>
            </a:r>
            <a:endParaRPr lang="en-US" sz="1500" dirty="0"/>
          </a:p>
        </p:txBody>
      </p:sp>
      <p:sp>
        <p:nvSpPr>
          <p:cNvPr id="19" name="text-30"/>
          <p:cNvSpPr txBox="1"/>
          <p:nvPr/>
        </p:nvSpPr>
        <p:spPr>
          <a:xfrm>
            <a:off x="10332720" y="3502152"/>
            <a:ext cx="1005840" cy="320040"/>
          </a:xfrm>
          <a:prstGeom prst="rect">
            <a:avLst/>
          </a:prstGeom>
          <a:noFill/>
          <a:ln/>
        </p:spPr>
        <p:txBody>
          <a:bodyPr wrap="square" lIns="0" tIns="0" rIns="0" bIns="0" rtlCol="0" anchor="t"/>
          <a:lstStyle/>
          <a:p>
            <a:pPr algn="r" indent="0" marL="0">
              <a:buNone/>
            </a:pPr>
            <a:r>
              <a:rPr lang="en-US" sz="1500" dirty="0">
                <a:solidFill>
                  <a:schemeClr val="tx2"/>
                </a:solidFill>
              </a:rPr>
              <a:t>Sana</a:t>
            </a:r>
            <a:endParaRPr lang="en-US" sz="1500" dirty="0"/>
          </a:p>
        </p:txBody>
      </p:sp>
      <p:sp>
        <p:nvSpPr>
          <p:cNvPr id="20" name="text-31"/>
          <p:cNvSpPr txBox="1"/>
          <p:nvPr/>
        </p:nvSpPr>
        <p:spPr>
          <a:xfrm>
            <a:off x="7040880" y="3803904"/>
            <a:ext cx="4297680" cy="301752"/>
          </a:xfrm>
          <a:prstGeom prst="rect">
            <a:avLst/>
          </a:prstGeom>
          <a:noFill/>
          <a:ln/>
        </p:spPr>
        <p:txBody>
          <a:bodyPr wrap="square" lIns="0" tIns="0" rIns="0" bIns="0" rtlCol="0" anchor="t"/>
          <a:lstStyle/>
          <a:p>
            <a:pPr indent="0" marL="0">
              <a:buNone/>
            </a:pPr>
            <a:r>
              <a:rPr lang="en-US" sz="1400" strike="sngStrike" dirty="0">
                <a:solidFill>
                  <a:schemeClr val="accent3"/>
                </a:solidFill>
              </a:rPr>
              <a:t>Bottom tab bar</a:t>
            </a:r>
            <a:pPr indent="0" marL="0">
              <a:buNone/>
            </a:pPr>
            <a:r>
              <a:rPr lang="en-US" sz="1400" dirty="0">
                <a:solidFill>
                  <a:schemeClr val="tx2"/>
                </a:solidFill>
              </a:rPr>
              <a:t>  →  </a:t>
            </a:r>
            <a:pPr indent="0" marL="0">
              <a:buNone/>
            </a:pPr>
            <a:r>
              <a:rPr lang="en-US" sz="1400" b="1" dirty="0">
                <a:solidFill>
                  <a:schemeClr val="accent1"/>
                </a:solidFill>
              </a:rPr>
              <a:t>side drawer</a:t>
            </a:r>
            <a:endParaRPr lang="en-US" sz="1400" dirty="0"/>
          </a:p>
        </p:txBody>
      </p:sp>
      <p:sp>
        <p:nvSpPr>
          <p:cNvPr id="21" name="text-32"/>
          <p:cNvSpPr txBox="1"/>
          <p:nvPr/>
        </p:nvSpPr>
        <p:spPr>
          <a:xfrm>
            <a:off x="7040880" y="4215384"/>
            <a:ext cx="3291840" cy="320040"/>
          </a:xfrm>
          <a:prstGeom prst="rect">
            <a:avLst/>
          </a:prstGeom>
          <a:noFill/>
          <a:ln/>
        </p:spPr>
        <p:txBody>
          <a:bodyPr wrap="square" lIns="0" tIns="0" rIns="0" bIns="0" rtlCol="0" anchor="t"/>
          <a:lstStyle/>
          <a:p>
            <a:pPr indent="0" marL="0">
              <a:buNone/>
            </a:pPr>
            <a:r>
              <a:rPr lang="en-US" sz="1500" b="1" dirty="0">
                <a:solidFill>
                  <a:schemeClr val="tx1"/>
                </a:solidFill>
              </a:rPr>
              <a:t>UPI release handoff</a:t>
            </a:r>
            <a:endParaRPr lang="en-US" sz="1500" dirty="0"/>
          </a:p>
        </p:txBody>
      </p:sp>
      <p:sp>
        <p:nvSpPr>
          <p:cNvPr id="22" name="text-33"/>
          <p:cNvSpPr txBox="1"/>
          <p:nvPr/>
        </p:nvSpPr>
        <p:spPr>
          <a:xfrm>
            <a:off x="10332720" y="4215384"/>
            <a:ext cx="1005840" cy="320040"/>
          </a:xfrm>
          <a:prstGeom prst="rect">
            <a:avLst/>
          </a:prstGeom>
          <a:noFill/>
          <a:ln/>
        </p:spPr>
        <p:txBody>
          <a:bodyPr wrap="square" lIns="0" tIns="0" rIns="0" bIns="0" rtlCol="0" anchor="t"/>
          <a:lstStyle/>
          <a:p>
            <a:pPr algn="r" indent="0" marL="0">
              <a:buNone/>
            </a:pPr>
            <a:r>
              <a:rPr lang="en-US" sz="1500" dirty="0">
                <a:solidFill>
                  <a:schemeClr val="tx2"/>
                </a:solidFill>
              </a:rPr>
              <a:t>Rahul</a:t>
            </a:r>
            <a:endParaRPr lang="en-US" sz="1500" dirty="0"/>
          </a:p>
        </p:txBody>
      </p:sp>
      <p:sp>
        <p:nvSpPr>
          <p:cNvPr id="23" name="text-34"/>
          <p:cNvSpPr txBox="1"/>
          <p:nvPr/>
        </p:nvSpPr>
        <p:spPr>
          <a:xfrm>
            <a:off x="7040880" y="4517136"/>
            <a:ext cx="4297680" cy="301752"/>
          </a:xfrm>
          <a:prstGeom prst="rect">
            <a:avLst/>
          </a:prstGeom>
          <a:noFill/>
          <a:ln/>
        </p:spPr>
        <p:txBody>
          <a:bodyPr wrap="square" lIns="0" tIns="0" rIns="0" bIns="0" rtlCol="0" anchor="t"/>
          <a:lstStyle/>
          <a:p>
            <a:pPr indent="0" marL="0">
              <a:buNone/>
            </a:pPr>
            <a:r>
              <a:rPr lang="en-US" sz="1400" strike="sngStrike" dirty="0">
                <a:solidFill>
                  <a:schemeClr val="accent3"/>
                </a:solidFill>
              </a:rPr>
              <a:t>Sept 24</a:t>
            </a:r>
            <a:pPr indent="0" marL="0">
              <a:buNone/>
            </a:pPr>
            <a:r>
              <a:rPr lang="en-US" sz="1400" dirty="0">
                <a:solidFill>
                  <a:schemeClr val="tx2"/>
                </a:solidFill>
              </a:rPr>
              <a:t>  →  </a:t>
            </a:r>
            <a:pPr indent="0" marL="0">
              <a:buNone/>
            </a:pPr>
            <a:r>
              <a:rPr lang="en-US" sz="1400" b="1" dirty="0">
                <a:solidFill>
                  <a:schemeClr val="accent1"/>
                </a:solidFill>
              </a:rPr>
              <a:t>Sept 28</a:t>
            </a:r>
            <a:endParaRPr lang="en-US" sz="1400" dirty="0"/>
          </a:p>
        </p:txBody>
      </p:sp>
      <p:sp>
        <p:nvSpPr>
          <p:cNvPr id="24" name="text-35"/>
          <p:cNvSpPr txBox="1"/>
          <p:nvPr/>
        </p:nvSpPr>
        <p:spPr>
          <a:xfrm>
            <a:off x="7040880" y="5120640"/>
            <a:ext cx="4297680" cy="640080"/>
          </a:xfrm>
          <a:prstGeom prst="rect">
            <a:avLst/>
          </a:prstGeom>
          <a:noFill/>
          <a:ln/>
        </p:spPr>
        <p:txBody>
          <a:bodyPr wrap="square" lIns="0" tIns="0" rIns="0" bIns="0" rtlCol="0" anchor="t"/>
          <a:lstStyle/>
          <a:p>
            <a:pPr indent="0" marL="0">
              <a:buNone/>
            </a:pPr>
            <a:r>
              <a:rPr lang="en-US" sz="1400" i="1" dirty="0">
                <a:solidFill>
                  <a:schemeClr val="tx2"/>
                </a:solidFill>
              </a:rPr>
              <a:t>Without the dependency and the history, nobody is told.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What Minutes knows</a:t>
            </a:r>
            <a:endParaRPr lang="en-US" sz="3400" dirty="0"/>
          </a:p>
        </p:txBody>
      </p:sp>
      <p:sp>
        <p:nvSpPr>
          <p:cNvPr id="3" name="card-36"/>
          <p:cNvSpPr/>
          <p:nvPr/>
        </p:nvSpPr>
        <p:spPr>
          <a:xfrm>
            <a:off x="548640" y="1371600"/>
            <a:ext cx="2057400" cy="2971800"/>
          </a:xfrm>
          <a:prstGeom prst="roundRect">
            <a:avLst>
              <a:gd name="adj" fmla="val 4444"/>
            </a:avLst>
          </a:prstGeom>
          <a:solidFill>
            <a:schemeClr val="bg2"/>
          </a:solidFill>
          <a:ln w="12700">
            <a:solidFill>
              <a:schemeClr val="accent4"/>
            </a:solidFill>
            <a:prstDash val="solid"/>
          </a:ln>
        </p:spPr>
      </p:sp>
      <p:sp>
        <p:nvSpPr>
          <p:cNvPr id="4" name="dot-37"/>
          <p:cNvSpPr txBox="1"/>
          <p:nvPr/>
        </p:nvSpPr>
        <p:spPr>
          <a:xfrm>
            <a:off x="731520" y="155448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38"/>
          <p:cNvSpPr txBox="1"/>
          <p:nvPr/>
        </p:nvSpPr>
        <p:spPr>
          <a:xfrm>
            <a:off x="731520" y="2057400"/>
            <a:ext cx="1737360" cy="365760"/>
          </a:xfrm>
          <a:prstGeom prst="rect">
            <a:avLst/>
          </a:prstGeom>
          <a:noFill/>
          <a:ln/>
        </p:spPr>
        <p:txBody>
          <a:bodyPr wrap="square" lIns="0" tIns="0" rIns="0" bIns="0" rtlCol="0" anchor="t"/>
          <a:lstStyle/>
          <a:p>
            <a:pPr indent="0" marL="0">
              <a:buNone/>
            </a:pPr>
            <a:r>
              <a:rPr lang="en-US" sz="1800" b="1" dirty="0">
                <a:solidFill>
                  <a:schemeClr val="tx1"/>
                </a:solidFill>
              </a:rPr>
              <a:t>People</a:t>
            </a:r>
            <a:endParaRPr lang="en-US" sz="1800" dirty="0"/>
          </a:p>
        </p:txBody>
      </p:sp>
      <p:sp>
        <p:nvSpPr>
          <p:cNvPr id="6" name="text-39"/>
          <p:cNvSpPr txBox="1"/>
          <p:nvPr/>
        </p:nvSpPr>
        <p:spPr>
          <a:xfrm>
            <a:off x="731520" y="2468880"/>
            <a:ext cx="1737360" cy="1417320"/>
          </a:xfrm>
          <a:prstGeom prst="rect">
            <a:avLst/>
          </a:prstGeom>
          <a:noFill/>
          <a:ln/>
        </p:spPr>
        <p:txBody>
          <a:bodyPr wrap="square" lIns="0" tIns="0" rIns="0" bIns="0" rtlCol="0" anchor="t"/>
          <a:lstStyle/>
          <a:p>
            <a:pPr indent="0" marL="0">
              <a:buNone/>
            </a:pPr>
            <a:r>
              <a:rPr lang="en-US" sz="1400" dirty="0">
                <a:solidFill>
                  <a:schemeClr val="tx2"/>
                </a:solidFill>
              </a:rPr>
              <a:t>Speakers and senders, joined by a roster. The owner is kept apart from whoever announced the work.</a:t>
            </a:r>
            <a:endParaRPr lang="en-US" sz="1400" dirty="0"/>
          </a:p>
        </p:txBody>
      </p:sp>
      <p:sp>
        <p:nvSpPr>
          <p:cNvPr id="7" name="text-40"/>
          <p:cNvSpPr txBox="1"/>
          <p:nvPr/>
        </p:nvSpPr>
        <p:spPr>
          <a:xfrm>
            <a:off x="731520" y="3931920"/>
            <a:ext cx="1737360"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Person</a:t>
            </a:r>
            <a:endParaRPr lang="en-US" sz="1100" dirty="0"/>
          </a:p>
        </p:txBody>
      </p:sp>
      <p:sp>
        <p:nvSpPr>
          <p:cNvPr id="8" name="card-41"/>
          <p:cNvSpPr/>
          <p:nvPr/>
        </p:nvSpPr>
        <p:spPr>
          <a:xfrm>
            <a:off x="2800350" y="1371600"/>
            <a:ext cx="2057400" cy="2971800"/>
          </a:xfrm>
          <a:prstGeom prst="roundRect">
            <a:avLst>
              <a:gd name="adj" fmla="val 4444"/>
            </a:avLst>
          </a:prstGeom>
          <a:solidFill>
            <a:schemeClr val="bg2"/>
          </a:solidFill>
          <a:ln w="12700">
            <a:solidFill>
              <a:schemeClr val="accent4"/>
            </a:solidFill>
            <a:prstDash val="solid"/>
          </a:ln>
        </p:spPr>
      </p:sp>
      <p:sp>
        <p:nvSpPr>
          <p:cNvPr id="9" name="dot-42"/>
          <p:cNvSpPr txBox="1"/>
          <p:nvPr/>
        </p:nvSpPr>
        <p:spPr>
          <a:xfrm>
            <a:off x="2983230" y="155448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43"/>
          <p:cNvSpPr txBox="1"/>
          <p:nvPr/>
        </p:nvSpPr>
        <p:spPr>
          <a:xfrm>
            <a:off x="2983230" y="2057400"/>
            <a:ext cx="1737360" cy="365760"/>
          </a:xfrm>
          <a:prstGeom prst="rect">
            <a:avLst/>
          </a:prstGeom>
          <a:noFill/>
          <a:ln/>
        </p:spPr>
        <p:txBody>
          <a:bodyPr wrap="square" lIns="0" tIns="0" rIns="0" bIns="0" rtlCol="0" anchor="t"/>
          <a:lstStyle/>
          <a:p>
            <a:pPr indent="0" marL="0">
              <a:buNone/>
            </a:pPr>
            <a:r>
              <a:rPr lang="en-US" sz="1800" b="1" dirty="0">
                <a:solidFill>
                  <a:schemeClr val="tx1"/>
                </a:solidFill>
              </a:rPr>
              <a:t>Decisions</a:t>
            </a:r>
            <a:endParaRPr lang="en-US" sz="1800" dirty="0"/>
          </a:p>
        </p:txBody>
      </p:sp>
      <p:sp>
        <p:nvSpPr>
          <p:cNvPr id="11" name="text-44"/>
          <p:cNvSpPr txBox="1"/>
          <p:nvPr/>
        </p:nvSpPr>
        <p:spPr>
          <a:xfrm>
            <a:off x="2983230" y="2468880"/>
            <a:ext cx="1737360" cy="1417320"/>
          </a:xfrm>
          <a:prstGeom prst="rect">
            <a:avLst/>
          </a:prstGeom>
          <a:noFill/>
          <a:ln/>
        </p:spPr>
        <p:txBody>
          <a:bodyPr wrap="square" lIns="0" tIns="0" rIns="0" bIns="0" rtlCol="0" anchor="t"/>
          <a:lstStyle/>
          <a:p>
            <a:pPr indent="0" marL="0">
              <a:buNone/>
            </a:pPr>
            <a:r>
              <a:rPr lang="en-US" sz="1400" dirty="0">
                <a:solidFill>
                  <a:schemeClr val="tx2"/>
                </a:solidFill>
              </a:rPr>
              <a:t>Bi-temporal facts. A change expires the old version and links it with SUPERSEDES.</a:t>
            </a:r>
            <a:endParaRPr lang="en-US" sz="1400" dirty="0"/>
          </a:p>
        </p:txBody>
      </p:sp>
      <p:sp>
        <p:nvSpPr>
          <p:cNvPr id="12" name="text-45"/>
          <p:cNvSpPr txBox="1"/>
          <p:nvPr/>
        </p:nvSpPr>
        <p:spPr>
          <a:xfrm>
            <a:off x="2983230" y="3931920"/>
            <a:ext cx="1737360"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Fact:Decision</a:t>
            </a:r>
            <a:endParaRPr lang="en-US" sz="1100" dirty="0"/>
          </a:p>
        </p:txBody>
      </p:sp>
      <p:sp>
        <p:nvSpPr>
          <p:cNvPr id="13" name="card-46"/>
          <p:cNvSpPr/>
          <p:nvPr/>
        </p:nvSpPr>
        <p:spPr>
          <a:xfrm>
            <a:off x="5052060" y="1371600"/>
            <a:ext cx="2057400" cy="2971800"/>
          </a:xfrm>
          <a:prstGeom prst="roundRect">
            <a:avLst>
              <a:gd name="adj" fmla="val 4444"/>
            </a:avLst>
          </a:prstGeom>
          <a:solidFill>
            <a:schemeClr val="bg2"/>
          </a:solidFill>
          <a:ln w="12700">
            <a:solidFill>
              <a:schemeClr val="accent4"/>
            </a:solidFill>
            <a:prstDash val="solid"/>
          </a:ln>
        </p:spPr>
      </p:sp>
      <p:sp>
        <p:nvSpPr>
          <p:cNvPr id="14" name="dot-47"/>
          <p:cNvSpPr txBox="1"/>
          <p:nvPr/>
        </p:nvSpPr>
        <p:spPr>
          <a:xfrm>
            <a:off x="5234940" y="155448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5" name="text-48"/>
          <p:cNvSpPr txBox="1"/>
          <p:nvPr/>
        </p:nvSpPr>
        <p:spPr>
          <a:xfrm>
            <a:off x="5234940" y="2057400"/>
            <a:ext cx="1737360" cy="365760"/>
          </a:xfrm>
          <a:prstGeom prst="rect">
            <a:avLst/>
          </a:prstGeom>
          <a:noFill/>
          <a:ln/>
        </p:spPr>
        <p:txBody>
          <a:bodyPr wrap="square" lIns="0" tIns="0" rIns="0" bIns="0" rtlCol="0" anchor="t"/>
          <a:lstStyle/>
          <a:p>
            <a:pPr indent="0" marL="0">
              <a:buNone/>
            </a:pPr>
            <a:r>
              <a:rPr lang="en-US" sz="1800" b="1" dirty="0">
                <a:solidFill>
                  <a:schemeClr val="tx1"/>
                </a:solidFill>
              </a:rPr>
              <a:t>Commitments</a:t>
            </a:r>
            <a:endParaRPr lang="en-US" sz="1800" dirty="0"/>
          </a:p>
        </p:txBody>
      </p:sp>
      <p:sp>
        <p:nvSpPr>
          <p:cNvPr id="16" name="text-49"/>
          <p:cNvSpPr txBox="1"/>
          <p:nvPr/>
        </p:nvSpPr>
        <p:spPr>
          <a:xfrm>
            <a:off x="5234940" y="2468880"/>
            <a:ext cx="1737360" cy="1417320"/>
          </a:xfrm>
          <a:prstGeom prst="rect">
            <a:avLst/>
          </a:prstGeom>
          <a:noFill/>
          <a:ln/>
        </p:spPr>
        <p:txBody>
          <a:bodyPr wrap="square" lIns="0" tIns="0" rIns="0" bIns="0" rtlCol="0" anchor="t"/>
          <a:lstStyle/>
          <a:p>
            <a:pPr indent="0" marL="0">
              <a:buNone/>
            </a:pPr>
            <a:r>
              <a:rPr lang="en-US" sz="1400" dirty="0">
                <a:solidFill>
                  <a:schemeClr val="tx2"/>
                </a:solidFill>
              </a:rPr>
              <a:t>Due dates and completions, even when a spoken date moves by email.</a:t>
            </a:r>
            <a:endParaRPr lang="en-US" sz="1400" dirty="0"/>
          </a:p>
        </p:txBody>
      </p:sp>
      <p:sp>
        <p:nvSpPr>
          <p:cNvPr id="17" name="text-50"/>
          <p:cNvSpPr txBox="1"/>
          <p:nvPr/>
        </p:nvSpPr>
        <p:spPr>
          <a:xfrm>
            <a:off x="5234940" y="3931920"/>
            <a:ext cx="1737360"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Fact:Commitment</a:t>
            </a:r>
            <a:endParaRPr lang="en-US" sz="1100" dirty="0"/>
          </a:p>
        </p:txBody>
      </p:sp>
      <p:sp>
        <p:nvSpPr>
          <p:cNvPr id="18" name="card-51"/>
          <p:cNvSpPr/>
          <p:nvPr/>
        </p:nvSpPr>
        <p:spPr>
          <a:xfrm>
            <a:off x="7303770" y="1371600"/>
            <a:ext cx="2057400" cy="2971800"/>
          </a:xfrm>
          <a:prstGeom prst="roundRect">
            <a:avLst>
              <a:gd name="adj" fmla="val 4444"/>
            </a:avLst>
          </a:prstGeom>
          <a:solidFill>
            <a:schemeClr val="bg1"/>
          </a:solidFill>
          <a:ln w="22225">
            <a:solidFill>
              <a:schemeClr val="accent1"/>
            </a:solidFill>
            <a:prstDash val="solid"/>
          </a:ln>
        </p:spPr>
      </p:sp>
      <p:sp>
        <p:nvSpPr>
          <p:cNvPr id="19" name="dot-52"/>
          <p:cNvSpPr txBox="1"/>
          <p:nvPr/>
        </p:nvSpPr>
        <p:spPr>
          <a:xfrm>
            <a:off x="7486650" y="155448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text-53"/>
          <p:cNvSpPr txBox="1"/>
          <p:nvPr/>
        </p:nvSpPr>
        <p:spPr>
          <a:xfrm>
            <a:off x="7486650" y="2057400"/>
            <a:ext cx="1737360" cy="365760"/>
          </a:xfrm>
          <a:prstGeom prst="rect">
            <a:avLst/>
          </a:prstGeom>
          <a:noFill/>
          <a:ln/>
        </p:spPr>
        <p:txBody>
          <a:bodyPr wrap="square" lIns="0" tIns="0" rIns="0" bIns="0" rtlCol="0" anchor="t"/>
          <a:lstStyle/>
          <a:p>
            <a:pPr indent="0" marL="0">
              <a:buNone/>
            </a:pPr>
            <a:r>
              <a:rPr lang="en-US" sz="1800" b="1" dirty="0">
                <a:solidFill>
                  <a:schemeClr val="accent1"/>
                </a:solidFill>
              </a:rPr>
              <a:t>Work</a:t>
            </a:r>
            <a:endParaRPr lang="en-US" sz="1800" dirty="0"/>
          </a:p>
        </p:txBody>
      </p:sp>
      <p:sp>
        <p:nvSpPr>
          <p:cNvPr id="21" name="text-54"/>
          <p:cNvSpPr txBox="1"/>
          <p:nvPr/>
        </p:nvSpPr>
        <p:spPr>
          <a:xfrm>
            <a:off x="7486650" y="2468880"/>
            <a:ext cx="1737360" cy="1417320"/>
          </a:xfrm>
          <a:prstGeom prst="rect">
            <a:avLst/>
          </a:prstGeom>
          <a:noFill/>
          <a:ln/>
        </p:spPr>
        <p:txBody>
          <a:bodyPr wrap="square" lIns="0" tIns="0" rIns="0" bIns="0" rtlCol="0" anchor="t"/>
          <a:lstStyle/>
          <a:p>
            <a:pPr indent="0" marL="0">
              <a:buNone/>
            </a:pPr>
            <a:r>
              <a:rPr lang="en-US" sz="1400" dirty="0">
                <a:solidFill>
                  <a:schemeClr val="tx2"/>
                </a:solidFill>
              </a:rPr>
              <a:t>Work items that explicitly depend on a decision, with an owner and a versioned document.</a:t>
            </a:r>
            <a:endParaRPr lang="en-US" sz="1400" dirty="0"/>
          </a:p>
        </p:txBody>
      </p:sp>
      <p:sp>
        <p:nvSpPr>
          <p:cNvPr id="22" name="text-55"/>
          <p:cNvSpPr txBox="1"/>
          <p:nvPr/>
        </p:nvSpPr>
        <p:spPr>
          <a:xfrm>
            <a:off x="7486650" y="3931920"/>
            <a:ext cx="1737360"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WorkItem</a:t>
            </a:r>
            <a:endParaRPr lang="en-US" sz="1100" dirty="0"/>
          </a:p>
        </p:txBody>
      </p:sp>
      <p:sp>
        <p:nvSpPr>
          <p:cNvPr id="23" name="card-56"/>
          <p:cNvSpPr/>
          <p:nvPr/>
        </p:nvSpPr>
        <p:spPr>
          <a:xfrm>
            <a:off x="9555480" y="1371600"/>
            <a:ext cx="2057400" cy="2971800"/>
          </a:xfrm>
          <a:prstGeom prst="roundRect">
            <a:avLst>
              <a:gd name="adj" fmla="val 4444"/>
            </a:avLst>
          </a:prstGeom>
          <a:solidFill>
            <a:schemeClr val="bg2"/>
          </a:solidFill>
          <a:ln w="12700">
            <a:solidFill>
              <a:schemeClr val="accent4"/>
            </a:solidFill>
            <a:prstDash val="solid"/>
          </a:ln>
        </p:spPr>
      </p:sp>
      <p:sp>
        <p:nvSpPr>
          <p:cNvPr id="24" name="dot-57"/>
          <p:cNvSpPr txBox="1"/>
          <p:nvPr/>
        </p:nvSpPr>
        <p:spPr>
          <a:xfrm>
            <a:off x="9738360" y="155448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5" name="text-58"/>
          <p:cNvSpPr txBox="1"/>
          <p:nvPr/>
        </p:nvSpPr>
        <p:spPr>
          <a:xfrm>
            <a:off x="9738360" y="2057400"/>
            <a:ext cx="1737360" cy="365760"/>
          </a:xfrm>
          <a:prstGeom prst="rect">
            <a:avLst/>
          </a:prstGeom>
          <a:noFill/>
          <a:ln/>
        </p:spPr>
        <p:txBody>
          <a:bodyPr wrap="square" lIns="0" tIns="0" rIns="0" bIns="0" rtlCol="0" anchor="t"/>
          <a:lstStyle/>
          <a:p>
            <a:pPr indent="0" marL="0">
              <a:buNone/>
            </a:pPr>
            <a:r>
              <a:rPr lang="en-US" sz="1800" b="1" dirty="0">
                <a:solidFill>
                  <a:schemeClr val="tx1"/>
                </a:solidFill>
              </a:rPr>
              <a:t>Sources</a:t>
            </a:r>
            <a:endParaRPr lang="en-US" sz="1800" dirty="0"/>
          </a:p>
        </p:txBody>
      </p:sp>
      <p:sp>
        <p:nvSpPr>
          <p:cNvPr id="26" name="text-59"/>
          <p:cNvSpPr txBox="1"/>
          <p:nvPr/>
        </p:nvSpPr>
        <p:spPr>
          <a:xfrm>
            <a:off x="9738360" y="2468880"/>
            <a:ext cx="1737360" cy="1417320"/>
          </a:xfrm>
          <a:prstGeom prst="rect">
            <a:avLst/>
          </a:prstGeom>
          <a:noFill/>
          <a:ln/>
        </p:spPr>
        <p:txBody>
          <a:bodyPr wrap="square" lIns="0" tIns="0" rIns="0" bIns="0" rtlCol="0" anchor="t"/>
          <a:lstStyle/>
          <a:p>
            <a:pPr indent="0" marL="0">
              <a:buNone/>
            </a:pPr>
            <a:r>
              <a:rPr lang="en-US" sz="1400" dirty="0">
                <a:solidFill>
                  <a:schemeClr val="tx2"/>
                </a:solidFill>
              </a:rPr>
              <a:t>Every utterance and email is an Episode with a speaker, a time and a link back.</a:t>
            </a:r>
            <a:endParaRPr lang="en-US" sz="1400" dirty="0"/>
          </a:p>
        </p:txBody>
      </p:sp>
      <p:sp>
        <p:nvSpPr>
          <p:cNvPr id="27" name="text-60"/>
          <p:cNvSpPr txBox="1"/>
          <p:nvPr/>
        </p:nvSpPr>
        <p:spPr>
          <a:xfrm>
            <a:off x="9738360" y="3931920"/>
            <a:ext cx="1737360" cy="274320"/>
          </a:xfrm>
          <a:prstGeom prst="rect">
            <a:avLst/>
          </a:prstGeom>
          <a:noFill/>
          <a:ln/>
        </p:spPr>
        <p:txBody>
          <a:bodyPr wrap="square" lIns="0" tIns="0" rIns="0" bIns="0" rtlCol="0" anchor="t"/>
          <a:lstStyle/>
          <a:p>
            <a:pPr indent="0" marL="0">
              <a:buNone/>
            </a:pPr>
            <a:r>
              <a:rPr lang="en-US" sz="1100" dirty="0">
                <a:solidFill>
                  <a:schemeClr val="accent1"/>
                </a:solidFill>
                <a:latin typeface="Courier New" pitchFamily="34" charset="0"/>
                <a:ea typeface="Courier New" pitchFamily="34" charset="-122"/>
                <a:cs typeface="Courier New" pitchFamily="34" charset="-120"/>
              </a:rPr>
              <a:t>Episode</a:t>
            </a:r>
            <a:endParaRPr lang="en-US" sz="1100" dirty="0"/>
          </a:p>
        </p:txBody>
      </p:sp>
      <p:sp>
        <p:nvSpPr>
          <p:cNvPr id="28" name="text-61"/>
          <p:cNvSpPr txBox="1"/>
          <p:nvPr/>
        </p:nvSpPr>
        <p:spPr>
          <a:xfrm>
            <a:off x="548640" y="4617720"/>
            <a:ext cx="2011680" cy="685800"/>
          </a:xfrm>
          <a:prstGeom prst="rect">
            <a:avLst/>
          </a:prstGeom>
          <a:noFill/>
          <a:ln/>
        </p:spPr>
        <p:txBody>
          <a:bodyPr wrap="square" lIns="0" tIns="0" rIns="0" bIns="0" rtlCol="0" anchor="t"/>
          <a:lstStyle/>
          <a:p>
            <a:pPr indent="0" marL="0">
              <a:buNone/>
            </a:pPr>
            <a:r>
              <a:rPr lang="en-US" sz="4000" b="1" dirty="0">
                <a:solidFill>
                  <a:schemeClr val="accent1"/>
                </a:solidFill>
              </a:rPr>
              <a:t>6</a:t>
            </a:r>
            <a:endParaRPr lang="en-US" sz="4000" dirty="0"/>
          </a:p>
        </p:txBody>
      </p:sp>
      <p:sp>
        <p:nvSpPr>
          <p:cNvPr id="29" name="text-62"/>
          <p:cNvSpPr txBox="1"/>
          <p:nvPr/>
        </p:nvSpPr>
        <p:spPr>
          <a:xfrm>
            <a:off x="548640" y="5303520"/>
            <a:ext cx="2011680" cy="320040"/>
          </a:xfrm>
          <a:prstGeom prst="rect">
            <a:avLst/>
          </a:prstGeom>
          <a:noFill/>
          <a:ln/>
        </p:spPr>
        <p:txBody>
          <a:bodyPr wrap="square" lIns="0" tIns="0" rIns="0" bIns="0" rtlCol="0" anchor="t"/>
          <a:lstStyle/>
          <a:p>
            <a:pPr indent="0" marL="0">
              <a:buNone/>
            </a:pPr>
            <a:r>
              <a:rPr lang="en-US" sz="1400" dirty="0">
                <a:solidFill>
                  <a:schemeClr val="tx2"/>
                </a:solidFill>
              </a:rPr>
              <a:t>meetings</a:t>
            </a:r>
            <a:endParaRPr lang="en-US" sz="1400" dirty="0"/>
          </a:p>
        </p:txBody>
      </p:sp>
      <p:sp>
        <p:nvSpPr>
          <p:cNvPr id="30" name="text-63"/>
          <p:cNvSpPr txBox="1"/>
          <p:nvPr/>
        </p:nvSpPr>
        <p:spPr>
          <a:xfrm>
            <a:off x="2697480" y="4617720"/>
            <a:ext cx="201168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31" name="text-64"/>
          <p:cNvSpPr txBox="1"/>
          <p:nvPr/>
        </p:nvSpPr>
        <p:spPr>
          <a:xfrm>
            <a:off x="2697480" y="5303520"/>
            <a:ext cx="2011680" cy="320040"/>
          </a:xfrm>
          <a:prstGeom prst="rect">
            <a:avLst/>
          </a:prstGeom>
          <a:noFill/>
          <a:ln/>
        </p:spPr>
        <p:txBody>
          <a:bodyPr wrap="square" lIns="0" tIns="0" rIns="0" bIns="0" rtlCol="0" anchor="t"/>
          <a:lstStyle/>
          <a:p>
            <a:pPr indent="0" marL="0">
              <a:buNone/>
            </a:pPr>
            <a:r>
              <a:rPr lang="en-US" sz="1400" dirty="0">
                <a:solidFill>
                  <a:schemeClr val="tx2"/>
                </a:solidFill>
              </a:rPr>
              <a:t>email threads</a:t>
            </a:r>
            <a:endParaRPr lang="en-US" sz="1400" dirty="0"/>
          </a:p>
        </p:txBody>
      </p:sp>
      <p:sp>
        <p:nvSpPr>
          <p:cNvPr id="32" name="text-65"/>
          <p:cNvSpPr txBox="1"/>
          <p:nvPr/>
        </p:nvSpPr>
        <p:spPr>
          <a:xfrm>
            <a:off x="4846320" y="4617720"/>
            <a:ext cx="2011680" cy="685800"/>
          </a:xfrm>
          <a:prstGeom prst="rect">
            <a:avLst/>
          </a:prstGeom>
          <a:noFill/>
          <a:ln/>
        </p:spPr>
        <p:txBody>
          <a:bodyPr wrap="square" lIns="0" tIns="0" rIns="0" bIns="0" rtlCol="0" anchor="t"/>
          <a:lstStyle/>
          <a:p>
            <a:pPr indent="0" marL="0">
              <a:buNone/>
            </a:pPr>
            <a:r>
              <a:rPr lang="en-US" sz="4000" b="1" dirty="0">
                <a:solidFill>
                  <a:schemeClr val="accent1"/>
                </a:solidFill>
              </a:rPr>
              <a:t>4</a:t>
            </a:r>
            <a:endParaRPr lang="en-US" sz="4000" dirty="0"/>
          </a:p>
        </p:txBody>
      </p:sp>
      <p:sp>
        <p:nvSpPr>
          <p:cNvPr id="33" name="text-66"/>
          <p:cNvSpPr txBox="1"/>
          <p:nvPr/>
        </p:nvSpPr>
        <p:spPr>
          <a:xfrm>
            <a:off x="4846320" y="5303520"/>
            <a:ext cx="2011680" cy="320040"/>
          </a:xfrm>
          <a:prstGeom prst="rect">
            <a:avLst/>
          </a:prstGeom>
          <a:noFill/>
          <a:ln/>
        </p:spPr>
        <p:txBody>
          <a:bodyPr wrap="square" lIns="0" tIns="0" rIns="0" bIns="0" rtlCol="0" anchor="t"/>
          <a:lstStyle/>
          <a:p>
            <a:pPr indent="0" marL="0">
              <a:buNone/>
            </a:pPr>
            <a:r>
              <a:rPr lang="en-US" sz="1400" dirty="0">
                <a:solidFill>
                  <a:schemeClr val="tx2"/>
                </a:solidFill>
              </a:rPr>
              <a:t>people</a:t>
            </a:r>
            <a:endParaRPr lang="en-US" sz="1400" dirty="0"/>
          </a:p>
        </p:txBody>
      </p:sp>
      <p:sp>
        <p:nvSpPr>
          <p:cNvPr id="34" name="text-67"/>
          <p:cNvSpPr txBox="1"/>
          <p:nvPr/>
        </p:nvSpPr>
        <p:spPr>
          <a:xfrm>
            <a:off x="6995160" y="4617720"/>
            <a:ext cx="2011680" cy="685800"/>
          </a:xfrm>
          <a:prstGeom prst="rect">
            <a:avLst/>
          </a:prstGeom>
          <a:noFill/>
          <a:ln/>
        </p:spPr>
        <p:txBody>
          <a:bodyPr wrap="square" lIns="0" tIns="0" rIns="0" bIns="0" rtlCol="0" anchor="t"/>
          <a:lstStyle/>
          <a:p>
            <a:pPr indent="0" marL="0">
              <a:buNone/>
            </a:pPr>
            <a:r>
              <a:rPr lang="en-US" sz="4000" b="1" dirty="0">
                <a:solidFill>
                  <a:schemeClr val="accent1"/>
                </a:solidFill>
              </a:rPr>
              <a:t>5</a:t>
            </a:r>
            <a:endParaRPr lang="en-US" sz="4000" dirty="0"/>
          </a:p>
        </p:txBody>
      </p:sp>
      <p:sp>
        <p:nvSpPr>
          <p:cNvPr id="35" name="text-68"/>
          <p:cNvSpPr txBox="1"/>
          <p:nvPr/>
        </p:nvSpPr>
        <p:spPr>
          <a:xfrm>
            <a:off x="6995160" y="5303520"/>
            <a:ext cx="2011680" cy="320040"/>
          </a:xfrm>
          <a:prstGeom prst="rect">
            <a:avLst/>
          </a:prstGeom>
          <a:noFill/>
          <a:ln/>
        </p:spPr>
        <p:txBody>
          <a:bodyPr wrap="square" lIns="0" tIns="0" rIns="0" bIns="0" rtlCol="0" anchor="t"/>
          <a:lstStyle/>
          <a:p>
            <a:pPr indent="0" marL="0">
              <a:buNone/>
            </a:pPr>
            <a:r>
              <a:rPr lang="en-US" sz="1400" dirty="0">
                <a:solidFill>
                  <a:schemeClr val="tx2"/>
                </a:solidFill>
              </a:rPr>
              <a:t>tracked work items</a:t>
            </a:r>
            <a:endParaRPr lang="en-US" sz="1400" dirty="0"/>
          </a:p>
        </p:txBody>
      </p:sp>
      <p:sp>
        <p:nvSpPr>
          <p:cNvPr id="36" name="text-69"/>
          <p:cNvSpPr txBox="1"/>
          <p:nvPr/>
        </p:nvSpPr>
        <p:spPr>
          <a:xfrm>
            <a:off x="9144000" y="4709160"/>
            <a:ext cx="2468880" cy="1097280"/>
          </a:xfrm>
          <a:prstGeom prst="rect">
            <a:avLst/>
          </a:prstGeom>
          <a:noFill/>
          <a:ln/>
        </p:spPr>
        <p:txBody>
          <a:bodyPr wrap="square" lIns="0" tIns="0" rIns="0" bIns="0" rtlCol="0" anchor="t"/>
          <a:lstStyle/>
          <a:p>
            <a:pPr indent="0" marL="0">
              <a:buNone/>
            </a:pPr>
            <a:r>
              <a:rPr lang="en-US" sz="1300" i="1" dirty="0">
                <a:solidFill>
                  <a:schemeClr val="tx2"/>
                </a:solidFill>
              </a:rPr>
              <a:t>Orbit, a synthetic team we wrote, shipping a mobile app. Nimbus and Quill exist to show isolation.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graph model</a:t>
            </a:r>
            <a:endParaRPr lang="en-US" sz="3400" dirty="0"/>
          </a:p>
        </p:txBody>
      </p:sp>
      <p:sp>
        <p:nvSpPr>
          <p:cNvPr id="3" name="edge-70"/>
          <p:cNvSpPr/>
          <p:nvPr/>
        </p:nvSpPr>
        <p:spPr>
          <a:xfrm>
            <a:off x="2286000" y="1668780"/>
            <a:ext cx="411480" cy="502920"/>
          </a:xfrm>
          <a:prstGeom prst="line">
            <a:avLst/>
          </a:prstGeom>
          <a:noFill/>
          <a:ln w="19050">
            <a:solidFill>
              <a:schemeClr val="tx2"/>
            </a:solidFill>
            <a:prstDash val="solid"/>
            <a:tailEnd type="triangle"/>
          </a:ln>
        </p:spPr>
      </p:sp>
      <p:sp>
        <p:nvSpPr>
          <p:cNvPr id="4" name="edge-71"/>
          <p:cNvSpPr/>
          <p:nvPr/>
        </p:nvSpPr>
        <p:spPr>
          <a:xfrm flipV="1">
            <a:off x="2286000" y="2354580"/>
            <a:ext cx="411480" cy="502920"/>
          </a:xfrm>
          <a:prstGeom prst="line">
            <a:avLst/>
          </a:prstGeom>
          <a:noFill/>
          <a:ln w="19050">
            <a:solidFill>
              <a:schemeClr val="tx2"/>
            </a:solidFill>
            <a:prstDash val="solid"/>
            <a:tailEnd type="triangle"/>
          </a:ln>
        </p:spPr>
      </p:sp>
      <p:sp>
        <p:nvSpPr>
          <p:cNvPr id="5" name="edge-label-72"/>
          <p:cNvSpPr txBox="1"/>
          <p:nvPr/>
        </p:nvSpPr>
        <p:spPr>
          <a:xfrm>
            <a:off x="1828800" y="2148840"/>
            <a:ext cx="82296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HAS_EPISODE</a:t>
            </a:r>
            <a:endParaRPr lang="en-US" sz="900" dirty="0"/>
          </a:p>
        </p:txBody>
      </p:sp>
      <p:sp>
        <p:nvSpPr>
          <p:cNvPr id="6" name="edge-73"/>
          <p:cNvSpPr/>
          <p:nvPr/>
        </p:nvSpPr>
        <p:spPr>
          <a:xfrm flipV="1">
            <a:off x="4434840" y="1577340"/>
            <a:ext cx="2880360" cy="594360"/>
          </a:xfrm>
          <a:prstGeom prst="line">
            <a:avLst/>
          </a:prstGeom>
          <a:noFill/>
          <a:ln w="19050">
            <a:solidFill>
              <a:schemeClr val="tx2"/>
            </a:solidFill>
            <a:prstDash val="solid"/>
            <a:tailEnd type="triangle"/>
          </a:ln>
        </p:spPr>
      </p:sp>
      <p:sp>
        <p:nvSpPr>
          <p:cNvPr id="7" name="edge-label-74"/>
          <p:cNvSpPr txBox="1"/>
          <p:nvPr/>
        </p:nvSpPr>
        <p:spPr>
          <a:xfrm>
            <a:off x="5074920" y="1764792"/>
            <a:ext cx="160020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SPOKEN_BY / SENT_BY</a:t>
            </a:r>
            <a:endParaRPr lang="en-US" sz="900" dirty="0"/>
          </a:p>
        </p:txBody>
      </p:sp>
      <p:sp>
        <p:nvSpPr>
          <p:cNvPr id="8" name="edge-75"/>
          <p:cNvSpPr/>
          <p:nvPr/>
        </p:nvSpPr>
        <p:spPr>
          <a:xfrm flipH="1" flipV="1">
            <a:off x="3566160" y="2514600"/>
            <a:ext cx="1554480" cy="685800"/>
          </a:xfrm>
          <a:prstGeom prst="line">
            <a:avLst/>
          </a:prstGeom>
          <a:noFill/>
          <a:ln w="19050">
            <a:solidFill>
              <a:schemeClr val="tx2"/>
            </a:solidFill>
            <a:prstDash val="solid"/>
            <a:tailEnd type="triangle"/>
          </a:ln>
        </p:spPr>
      </p:sp>
      <p:sp>
        <p:nvSpPr>
          <p:cNvPr id="9" name="edge-label-76"/>
          <p:cNvSpPr txBox="1"/>
          <p:nvPr/>
        </p:nvSpPr>
        <p:spPr>
          <a:xfrm>
            <a:off x="3703320" y="2788920"/>
            <a:ext cx="96012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DERIVED_FROM</a:t>
            </a:r>
            <a:endParaRPr lang="en-US" sz="900" dirty="0"/>
          </a:p>
        </p:txBody>
      </p:sp>
      <p:sp>
        <p:nvSpPr>
          <p:cNvPr id="10" name="edge-77"/>
          <p:cNvSpPr/>
          <p:nvPr/>
        </p:nvSpPr>
        <p:spPr>
          <a:xfrm flipV="1">
            <a:off x="6309360" y="1828800"/>
            <a:ext cx="1371600" cy="1371600"/>
          </a:xfrm>
          <a:prstGeom prst="line">
            <a:avLst/>
          </a:prstGeom>
          <a:noFill/>
          <a:ln w="19050">
            <a:solidFill>
              <a:schemeClr val="tx2"/>
            </a:solidFill>
            <a:prstDash val="solid"/>
            <a:tailEnd type="triangle"/>
          </a:ln>
        </p:spPr>
      </p:sp>
      <p:sp>
        <p:nvSpPr>
          <p:cNvPr id="11" name="edge-label-78"/>
          <p:cNvSpPr txBox="1"/>
          <p:nvPr/>
        </p:nvSpPr>
        <p:spPr>
          <a:xfrm>
            <a:off x="6446520" y="2331720"/>
            <a:ext cx="73152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STATED_BY</a:t>
            </a:r>
            <a:endParaRPr lang="en-US" sz="900" dirty="0"/>
          </a:p>
        </p:txBody>
      </p:sp>
      <p:sp>
        <p:nvSpPr>
          <p:cNvPr id="12" name="edge-79"/>
          <p:cNvSpPr/>
          <p:nvPr/>
        </p:nvSpPr>
        <p:spPr>
          <a:xfrm>
            <a:off x="6583680" y="3451860"/>
            <a:ext cx="731520" cy="0"/>
          </a:xfrm>
          <a:prstGeom prst="line">
            <a:avLst/>
          </a:prstGeom>
          <a:noFill/>
          <a:ln w="25400">
            <a:solidFill>
              <a:schemeClr val="accent1"/>
            </a:solidFill>
            <a:prstDash val="solid"/>
            <a:tailEnd type="triangle"/>
          </a:ln>
        </p:spPr>
      </p:sp>
      <p:sp>
        <p:nvSpPr>
          <p:cNvPr id="13" name="edge-label-80"/>
          <p:cNvSpPr txBox="1"/>
          <p:nvPr/>
        </p:nvSpPr>
        <p:spPr>
          <a:xfrm>
            <a:off x="6583680" y="3017520"/>
            <a:ext cx="731520" cy="237744"/>
          </a:xfrm>
          <a:prstGeom prst="rect">
            <a:avLst/>
          </a:prstGeom>
          <a:solidFill>
            <a:schemeClr val="bg1"/>
          </a:solidFill>
          <a:ln/>
        </p:spPr>
        <p:txBody>
          <a:bodyPr wrap="square" lIns="0" tIns="0" rIns="0" bIns="0" rtlCol="0" anchor="ctr"/>
          <a:lstStyle/>
          <a:p>
            <a:pPr algn="ctr" indent="0" marL="0">
              <a:buNone/>
            </a:pPr>
            <a:r>
              <a:rPr lang="en-US" sz="900" b="1" dirty="0">
                <a:solidFill>
                  <a:schemeClr val="accent1"/>
                </a:solidFill>
                <a:latin typeface="Courier New" pitchFamily="34" charset="0"/>
                <a:ea typeface="Courier New" pitchFamily="34" charset="-122"/>
                <a:cs typeface="Courier New" pitchFamily="34" charset="-120"/>
              </a:rPr>
              <a:t>SUPERSEDES</a:t>
            </a:r>
            <a:endParaRPr lang="en-US" sz="900" dirty="0"/>
          </a:p>
        </p:txBody>
      </p:sp>
      <p:sp>
        <p:nvSpPr>
          <p:cNvPr id="14" name="edge-81"/>
          <p:cNvSpPr/>
          <p:nvPr/>
        </p:nvSpPr>
        <p:spPr>
          <a:xfrm flipH="1">
            <a:off x="9052560" y="3451860"/>
            <a:ext cx="850392" cy="0"/>
          </a:xfrm>
          <a:prstGeom prst="line">
            <a:avLst/>
          </a:prstGeom>
          <a:noFill/>
          <a:ln w="25400">
            <a:solidFill>
              <a:schemeClr val="accent1"/>
            </a:solidFill>
            <a:prstDash val="solid"/>
            <a:tailEnd type="triangle"/>
          </a:ln>
        </p:spPr>
      </p:sp>
      <p:sp>
        <p:nvSpPr>
          <p:cNvPr id="15" name="edge-label-82"/>
          <p:cNvSpPr txBox="1"/>
          <p:nvPr/>
        </p:nvSpPr>
        <p:spPr>
          <a:xfrm>
            <a:off x="9098280" y="3017520"/>
            <a:ext cx="758952" cy="237744"/>
          </a:xfrm>
          <a:prstGeom prst="rect">
            <a:avLst/>
          </a:prstGeom>
          <a:solidFill>
            <a:schemeClr val="bg1"/>
          </a:solidFill>
          <a:ln/>
        </p:spPr>
        <p:txBody>
          <a:bodyPr wrap="square" lIns="0" tIns="0" rIns="0" bIns="0" rtlCol="0" anchor="ctr"/>
          <a:lstStyle/>
          <a:p>
            <a:pPr algn="ctr" indent="0" marL="0">
              <a:buNone/>
            </a:pPr>
            <a:r>
              <a:rPr lang="en-US" sz="900" b="1" dirty="0">
                <a:solidFill>
                  <a:schemeClr val="accent1"/>
                </a:solidFill>
                <a:latin typeface="Courier New" pitchFamily="34" charset="0"/>
                <a:ea typeface="Courier New" pitchFamily="34" charset="-122"/>
                <a:cs typeface="Courier New" pitchFamily="34" charset="-120"/>
              </a:rPr>
              <a:t>DEPENDS_ON</a:t>
            </a:r>
            <a:endParaRPr lang="en-US" sz="900" dirty="0"/>
          </a:p>
        </p:txBody>
      </p:sp>
      <p:sp>
        <p:nvSpPr>
          <p:cNvPr id="16" name="edge-83"/>
          <p:cNvSpPr/>
          <p:nvPr/>
        </p:nvSpPr>
        <p:spPr>
          <a:xfrm flipH="1" flipV="1">
            <a:off x="9052560" y="1577340"/>
            <a:ext cx="1719072" cy="1623060"/>
          </a:xfrm>
          <a:prstGeom prst="line">
            <a:avLst/>
          </a:prstGeom>
          <a:noFill/>
          <a:ln w="19050">
            <a:solidFill>
              <a:schemeClr val="tx2"/>
            </a:solidFill>
            <a:prstDash val="solid"/>
            <a:tailEnd type="triangle"/>
          </a:ln>
        </p:spPr>
      </p:sp>
      <p:sp>
        <p:nvSpPr>
          <p:cNvPr id="17" name="edge-label-84"/>
          <p:cNvSpPr txBox="1"/>
          <p:nvPr/>
        </p:nvSpPr>
        <p:spPr>
          <a:xfrm>
            <a:off x="9555480" y="2103120"/>
            <a:ext cx="68580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OWNED_BY</a:t>
            </a:r>
            <a:endParaRPr lang="en-US" sz="900" dirty="0"/>
          </a:p>
        </p:txBody>
      </p:sp>
      <p:sp>
        <p:nvSpPr>
          <p:cNvPr id="18" name="edge-85"/>
          <p:cNvSpPr/>
          <p:nvPr/>
        </p:nvSpPr>
        <p:spPr>
          <a:xfrm>
            <a:off x="10771632" y="3703320"/>
            <a:ext cx="0" cy="1280160"/>
          </a:xfrm>
          <a:prstGeom prst="line">
            <a:avLst/>
          </a:prstGeom>
          <a:noFill/>
          <a:ln w="19050">
            <a:solidFill>
              <a:schemeClr val="tx2"/>
            </a:solidFill>
            <a:prstDash val="solid"/>
            <a:tailEnd type="triangle"/>
          </a:ln>
        </p:spPr>
      </p:sp>
      <p:sp>
        <p:nvSpPr>
          <p:cNvPr id="19" name="edge-label-86"/>
          <p:cNvSpPr txBox="1"/>
          <p:nvPr/>
        </p:nvSpPr>
        <p:spPr>
          <a:xfrm>
            <a:off x="10287000" y="4206240"/>
            <a:ext cx="96012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DOCUMENTED_IN</a:t>
            </a:r>
            <a:endParaRPr lang="en-US" sz="900" dirty="0"/>
          </a:p>
        </p:txBody>
      </p:sp>
      <p:sp>
        <p:nvSpPr>
          <p:cNvPr id="20" name="edge-87"/>
          <p:cNvSpPr/>
          <p:nvPr/>
        </p:nvSpPr>
        <p:spPr>
          <a:xfrm flipV="1">
            <a:off x="8869680" y="3703320"/>
            <a:ext cx="1216152" cy="1280160"/>
          </a:xfrm>
          <a:prstGeom prst="line">
            <a:avLst/>
          </a:prstGeom>
          <a:noFill/>
          <a:ln w="19050">
            <a:solidFill>
              <a:schemeClr val="tx2"/>
            </a:solidFill>
            <a:prstDash val="solid"/>
            <a:tailEnd type="triangle"/>
          </a:ln>
        </p:spPr>
      </p:sp>
      <p:sp>
        <p:nvSpPr>
          <p:cNvPr id="21" name="edge-label-88"/>
          <p:cNvSpPr txBox="1"/>
          <p:nvPr/>
        </p:nvSpPr>
        <p:spPr>
          <a:xfrm>
            <a:off x="9144000" y="4251960"/>
            <a:ext cx="68580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FOR_WORK</a:t>
            </a:r>
            <a:endParaRPr lang="en-US" sz="900" dirty="0"/>
          </a:p>
        </p:txBody>
      </p:sp>
      <p:sp>
        <p:nvSpPr>
          <p:cNvPr id="22" name="edge-89"/>
          <p:cNvSpPr/>
          <p:nvPr/>
        </p:nvSpPr>
        <p:spPr>
          <a:xfrm flipH="1" flipV="1">
            <a:off x="6400800" y="3703320"/>
            <a:ext cx="1097280" cy="1280160"/>
          </a:xfrm>
          <a:prstGeom prst="line">
            <a:avLst/>
          </a:prstGeom>
          <a:noFill/>
          <a:ln w="19050">
            <a:solidFill>
              <a:schemeClr val="tx2"/>
            </a:solidFill>
            <a:prstDash val="solid"/>
            <a:tailEnd type="triangle"/>
          </a:ln>
        </p:spPr>
      </p:sp>
      <p:sp>
        <p:nvSpPr>
          <p:cNvPr id="23" name="edge-label-90"/>
          <p:cNvSpPr txBox="1"/>
          <p:nvPr/>
        </p:nvSpPr>
        <p:spPr>
          <a:xfrm>
            <a:off x="6629400" y="4251960"/>
            <a:ext cx="68580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BASED_ON</a:t>
            </a:r>
            <a:endParaRPr lang="en-US" sz="900" dirty="0"/>
          </a:p>
        </p:txBody>
      </p:sp>
      <p:sp>
        <p:nvSpPr>
          <p:cNvPr id="24" name="edge-91"/>
          <p:cNvSpPr/>
          <p:nvPr/>
        </p:nvSpPr>
        <p:spPr>
          <a:xfrm flipV="1">
            <a:off x="4251960" y="3703320"/>
            <a:ext cx="868680" cy="1280160"/>
          </a:xfrm>
          <a:prstGeom prst="line">
            <a:avLst/>
          </a:prstGeom>
          <a:noFill/>
          <a:ln w="19050">
            <a:solidFill>
              <a:schemeClr val="tx2"/>
            </a:solidFill>
            <a:prstDash val="solid"/>
            <a:tailEnd type="triangle"/>
          </a:ln>
        </p:spPr>
      </p:sp>
      <p:sp>
        <p:nvSpPr>
          <p:cNvPr id="25" name="edge-label-92"/>
          <p:cNvSpPr txBox="1"/>
          <p:nvPr/>
        </p:nvSpPr>
        <p:spPr>
          <a:xfrm>
            <a:off x="4023360" y="4251960"/>
            <a:ext cx="50292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ABOUT</a:t>
            </a:r>
            <a:endParaRPr lang="en-US" sz="900" dirty="0"/>
          </a:p>
        </p:txBody>
      </p:sp>
      <p:sp>
        <p:nvSpPr>
          <p:cNvPr id="26" name="edge-93"/>
          <p:cNvSpPr/>
          <p:nvPr/>
        </p:nvSpPr>
        <p:spPr>
          <a:xfrm flipH="1">
            <a:off x="2286000" y="5234940"/>
            <a:ext cx="411480" cy="0"/>
          </a:xfrm>
          <a:prstGeom prst="line">
            <a:avLst/>
          </a:prstGeom>
          <a:noFill/>
          <a:ln w="19050">
            <a:solidFill>
              <a:schemeClr val="tx2"/>
            </a:solidFill>
            <a:prstDash val="solid"/>
            <a:tailEnd type="triangle"/>
          </a:ln>
        </p:spPr>
      </p:sp>
      <p:sp>
        <p:nvSpPr>
          <p:cNvPr id="27" name="edge-label-94"/>
          <p:cNvSpPr txBox="1"/>
          <p:nvPr/>
        </p:nvSpPr>
        <p:spPr>
          <a:xfrm>
            <a:off x="1051560" y="5596128"/>
            <a:ext cx="2377440" cy="237744"/>
          </a:xfrm>
          <a:prstGeom prst="rect">
            <a:avLst/>
          </a:prstGeom>
          <a:solidFill>
            <a:schemeClr val="bg1"/>
          </a:solidFill>
          <a:ln/>
        </p:spPr>
        <p:txBody>
          <a:bodyPr wrap="square" lIns="0" tIns="0" rIns="0" bIns="0" rtlCol="0" anchor="ctr"/>
          <a:lstStyle/>
          <a:p>
            <a:pPr algn="ctr" indent="0" marL="0">
              <a:buNone/>
            </a:pPr>
            <a:r>
              <a:rPr lang="en-US" sz="900" dirty="0">
                <a:solidFill>
                  <a:schemeClr val="tx2"/>
                </a:solidFill>
                <a:latin typeface="Courier New" pitchFamily="34" charset="0"/>
                <a:ea typeface="Courier New" pitchFamily="34" charset="-122"/>
                <a:cs typeface="Courier New" pitchFamily="34" charset="-120"/>
              </a:rPr>
              <a:t>CLAIMED_BY · HANDED_OFF</a:t>
            </a:r>
            <a:endParaRPr lang="en-US" sz="900" dirty="0"/>
          </a:p>
        </p:txBody>
      </p:sp>
      <p:sp>
        <p:nvSpPr>
          <p:cNvPr id="28" name="node-95"/>
          <p:cNvSpPr txBox="1"/>
          <p:nvPr/>
        </p:nvSpPr>
        <p:spPr>
          <a:xfrm>
            <a:off x="548640" y="1417320"/>
            <a:ext cx="173736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Meeting</a:t>
            </a:r>
            <a:endParaRPr lang="en-US" sz="1300" dirty="0"/>
          </a:p>
        </p:txBody>
      </p:sp>
      <p:sp>
        <p:nvSpPr>
          <p:cNvPr id="29" name="node-96"/>
          <p:cNvSpPr txBox="1"/>
          <p:nvPr/>
        </p:nvSpPr>
        <p:spPr>
          <a:xfrm>
            <a:off x="548640" y="2606040"/>
            <a:ext cx="173736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EmailThread</a:t>
            </a:r>
            <a:endParaRPr lang="en-US" sz="1300" dirty="0"/>
          </a:p>
        </p:txBody>
      </p:sp>
      <p:sp>
        <p:nvSpPr>
          <p:cNvPr id="30" name="node-97"/>
          <p:cNvSpPr txBox="1"/>
          <p:nvPr/>
        </p:nvSpPr>
        <p:spPr>
          <a:xfrm>
            <a:off x="2697480" y="2011680"/>
            <a:ext cx="1737360" cy="502920"/>
          </a:xfrm>
          <a:prstGeom prst="roundRect">
            <a:avLst>
              <a:gd name="adj" fmla="val 21818"/>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300" dirty="0">
                <a:solidFill>
                  <a:schemeClr val="tx1"/>
                </a:solidFill>
              </a:rPr>
              <a:t>Episode</a:t>
            </a:r>
            <a:endParaRPr lang="en-US" sz="1300" dirty="0"/>
          </a:p>
        </p:txBody>
      </p:sp>
      <p:sp>
        <p:nvSpPr>
          <p:cNvPr id="31" name="node-98"/>
          <p:cNvSpPr txBox="1"/>
          <p:nvPr/>
        </p:nvSpPr>
        <p:spPr>
          <a:xfrm>
            <a:off x="7315200" y="1325880"/>
            <a:ext cx="173736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Person</a:t>
            </a:r>
            <a:endParaRPr lang="en-US" sz="1300" dirty="0"/>
          </a:p>
        </p:txBody>
      </p:sp>
      <p:sp>
        <p:nvSpPr>
          <p:cNvPr id="32" name="node-99"/>
          <p:cNvSpPr txBox="1"/>
          <p:nvPr/>
        </p:nvSpPr>
        <p:spPr>
          <a:xfrm>
            <a:off x="4846320" y="3200400"/>
            <a:ext cx="1737360" cy="502920"/>
          </a:xfrm>
          <a:prstGeom prst="roundRect">
            <a:avLst>
              <a:gd name="adj" fmla="val 21818"/>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200" b="1" dirty="0">
                <a:solidFill>
                  <a:schemeClr val="bg1"/>
                </a:solidFill>
              </a:rPr>
              <a:t>Fact / Decision</a:t>
            </a:r>
            <a:endParaRPr lang="en-US" sz="1200" dirty="0"/>
          </a:p>
        </p:txBody>
      </p:sp>
      <p:sp>
        <p:nvSpPr>
          <p:cNvPr id="33" name="node-100"/>
          <p:cNvSpPr txBox="1"/>
          <p:nvPr/>
        </p:nvSpPr>
        <p:spPr>
          <a:xfrm>
            <a:off x="7315200" y="3200400"/>
            <a:ext cx="1737360" cy="502920"/>
          </a:xfrm>
          <a:prstGeom prst="roundRect">
            <a:avLst>
              <a:gd name="adj" fmla="val 21818"/>
            </a:avLst>
          </a:prstGeom>
          <a:solidFill>
            <a:schemeClr val="bg2"/>
          </a:solidFill>
          <a:ln w="15875">
            <a:solidFill>
              <a:schemeClr val="accent3"/>
            </a:solidFill>
          </a:ln>
        </p:spPr>
        <p:txBody>
          <a:bodyPr wrap="square" lIns="25400" tIns="25400" rIns="25400" bIns="25400" rtlCol="0" anchor="ctr"/>
          <a:lstStyle/>
          <a:p>
            <a:pPr algn="ctr" indent="0" marL="0">
              <a:buNone/>
            </a:pPr>
            <a:r>
              <a:rPr lang="en-US" sz="1200" dirty="0">
                <a:solidFill>
                  <a:schemeClr val="tx2"/>
                </a:solidFill>
              </a:rPr>
              <a:t>Fact (old)</a:t>
            </a:r>
            <a:endParaRPr lang="en-US" sz="1200" dirty="0"/>
          </a:p>
        </p:txBody>
      </p:sp>
      <p:sp>
        <p:nvSpPr>
          <p:cNvPr id="34" name="node-101"/>
          <p:cNvSpPr txBox="1"/>
          <p:nvPr/>
        </p:nvSpPr>
        <p:spPr>
          <a:xfrm>
            <a:off x="9902952" y="3200400"/>
            <a:ext cx="1737360" cy="502920"/>
          </a:xfrm>
          <a:prstGeom prst="roundRect">
            <a:avLst>
              <a:gd name="adj" fmla="val 21818"/>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200" b="1" dirty="0">
                <a:solidFill>
                  <a:schemeClr val="bg1"/>
                </a:solidFill>
              </a:rPr>
              <a:t>WorkItem</a:t>
            </a:r>
            <a:endParaRPr lang="en-US" sz="1200" dirty="0"/>
          </a:p>
        </p:txBody>
      </p:sp>
      <p:sp>
        <p:nvSpPr>
          <p:cNvPr id="35" name="node-102"/>
          <p:cNvSpPr txBox="1"/>
          <p:nvPr/>
        </p:nvSpPr>
        <p:spPr>
          <a:xfrm>
            <a:off x="9902952" y="4983480"/>
            <a:ext cx="1737360" cy="502920"/>
          </a:xfrm>
          <a:prstGeom prst="roundRect">
            <a:avLst>
              <a:gd name="adj" fmla="val 21818"/>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300" dirty="0">
                <a:solidFill>
                  <a:schemeClr val="tx1"/>
                </a:solidFill>
              </a:rPr>
              <a:t>Document</a:t>
            </a:r>
            <a:endParaRPr lang="en-US" sz="1300" dirty="0"/>
          </a:p>
        </p:txBody>
      </p:sp>
      <p:sp>
        <p:nvSpPr>
          <p:cNvPr id="36" name="node-103"/>
          <p:cNvSpPr txBox="1"/>
          <p:nvPr/>
        </p:nvSpPr>
        <p:spPr>
          <a:xfrm>
            <a:off x="7315200" y="4983480"/>
            <a:ext cx="1737360" cy="502920"/>
          </a:xfrm>
          <a:prstGeom prst="roundRect">
            <a:avLst>
              <a:gd name="adj" fmla="val 21818"/>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FollowUpDraft</a:t>
            </a:r>
            <a:endParaRPr lang="en-US" sz="1200" dirty="0"/>
          </a:p>
        </p:txBody>
      </p:sp>
      <p:sp>
        <p:nvSpPr>
          <p:cNvPr id="37" name="node-104"/>
          <p:cNvSpPr txBox="1"/>
          <p:nvPr/>
        </p:nvSpPr>
        <p:spPr>
          <a:xfrm>
            <a:off x="2697480" y="4983480"/>
            <a:ext cx="173736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Task</a:t>
            </a:r>
            <a:endParaRPr lang="en-US" sz="1300" dirty="0"/>
          </a:p>
        </p:txBody>
      </p:sp>
      <p:sp>
        <p:nvSpPr>
          <p:cNvPr id="38" name="node-105"/>
          <p:cNvSpPr txBox="1"/>
          <p:nvPr/>
        </p:nvSpPr>
        <p:spPr>
          <a:xfrm>
            <a:off x="548640" y="4983480"/>
            <a:ext cx="173736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Agent</a:t>
            </a:r>
            <a:endParaRPr lang="en-US" sz="1300" dirty="0"/>
          </a:p>
        </p:txBody>
      </p:sp>
      <p:sp>
        <p:nvSpPr>
          <p:cNvPr id="39" name="text-106"/>
          <p:cNvSpPr txBox="1"/>
          <p:nvPr/>
        </p:nvSpPr>
        <p:spPr>
          <a:xfrm>
            <a:off x="548640" y="5897880"/>
            <a:ext cx="11064240" cy="457200"/>
          </a:xfrm>
          <a:prstGeom prst="rect">
            <a:avLst/>
          </a:prstGeom>
          <a:noFill/>
          <a:ln/>
        </p:spPr>
        <p:txBody>
          <a:bodyPr wrap="square" lIns="0" tIns="0" rIns="0" bIns="0" rtlCol="0" anchor="t"/>
          <a:lstStyle/>
          <a:p>
            <a:pPr indent="0" marL="0">
              <a:buNone/>
            </a:pPr>
            <a:r>
              <a:rPr lang="en-US" sz="1200" dirty="0">
                <a:solidFill>
                  <a:schemeClr val="tx2"/>
                </a:solidFill>
              </a:rPr>
              <a:t>Also in every team graph: Skill and Step (procedural memory), Entity and MENTIONS, Artifact. Facts carry valid_from, valid_to, created_at, expired_at and status. Indexes: range, full-text and HNSW vector (768-d cosine).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The ripple effect: work built on a changed decision</a:t>
            </a:r>
            <a:endParaRPr lang="en-US" sz="3400" dirty="0"/>
          </a:p>
        </p:txBody>
      </p:sp>
      <p:sp>
        <p:nvSpPr>
          <p:cNvPr id="3" name="node-107"/>
          <p:cNvSpPr txBox="1"/>
          <p:nvPr/>
        </p:nvSpPr>
        <p:spPr>
          <a:xfrm>
            <a:off x="548640" y="1325880"/>
            <a:ext cx="3291840" cy="914400"/>
          </a:xfrm>
          <a:prstGeom prst="roundRect">
            <a:avLst>
              <a:gd name="adj" fmla="val 12000"/>
            </a:avLst>
          </a:prstGeom>
          <a:solidFill>
            <a:schemeClr val="accent1"/>
          </a:solidFill>
          <a:ln w="15875">
            <a:solidFill>
              <a:schemeClr val="accent1"/>
            </a:solidFill>
          </a:ln>
        </p:spPr>
        <p:txBody>
          <a:bodyPr wrap="square" lIns="50800" tIns="152400" rIns="152400" bIns="50800" rtlCol="0" anchor="ctr"/>
          <a:lstStyle/>
          <a:p>
            <a:pPr algn="l" indent="0" marL="0">
              <a:buNone/>
            </a:pPr>
            <a:r>
              <a:rPr lang="en-US" sz="1500" b="1" dirty="0">
                <a:solidFill>
                  <a:schemeClr val="bg1"/>
                </a:solidFill>
              </a:rPr>
              <a:t>Update the payment integration runbook</a:t>
            </a:r>
            <a:endParaRPr lang="en-US" sz="1500" dirty="0"/>
          </a:p>
          <a:p>
            <a:pPr algn="l" indent="0" marL="0">
              <a:buNone/>
            </a:pPr>
            <a:r>
              <a:rPr lang="en-US" sz="1200" dirty="0">
                <a:solidFill>
                  <a:schemeClr val="bg1"/>
                </a:solidFill>
              </a:rPr>
              <a:t>WorkItem · open · owner Priya</a:t>
            </a:r>
            <a:endParaRPr lang="en-US" sz="1500" dirty="0"/>
          </a:p>
        </p:txBody>
      </p:sp>
      <p:sp>
        <p:nvSpPr>
          <p:cNvPr id="4" name="node-108"/>
          <p:cNvSpPr txBox="1"/>
          <p:nvPr/>
        </p:nvSpPr>
        <p:spPr>
          <a:xfrm>
            <a:off x="4846320" y="1325880"/>
            <a:ext cx="2743200" cy="914400"/>
          </a:xfrm>
          <a:prstGeom prst="roundRect">
            <a:avLst>
              <a:gd name="adj" fmla="val 12000"/>
            </a:avLst>
          </a:prstGeom>
          <a:solidFill>
            <a:schemeClr val="bg2"/>
          </a:solidFill>
          <a:ln w="15875">
            <a:solidFill>
              <a:schemeClr val="accent3"/>
            </a:solidFill>
          </a:ln>
        </p:spPr>
        <p:txBody>
          <a:bodyPr wrap="square" lIns="50800" tIns="152400" rIns="152400" bIns="50800" rtlCol="0" anchor="ctr"/>
          <a:lstStyle/>
          <a:p>
            <a:pPr algn="l" indent="0" marL="0">
              <a:buNone/>
            </a:pPr>
            <a:r>
              <a:rPr lang="en-US" sz="1800" b="1" strike="sngStrike" dirty="0">
                <a:solidFill>
                  <a:schemeClr val="tx2"/>
                </a:solidFill>
              </a:rPr>
              <a:t>Razorpay</a:t>
            </a:r>
            <a:endParaRPr lang="en-US" sz="1800" dirty="0"/>
          </a:p>
          <a:p>
            <a:pPr algn="l" indent="0" marL="0">
              <a:buNone/>
            </a:pPr>
            <a:r>
              <a:rPr lang="en-US" sz="1200" dirty="0">
                <a:solidFill>
                  <a:schemeClr val="tx2"/>
                </a:solidFill>
              </a:rPr>
              <a:t>Kickoff, Sept 7 · superseded</a:t>
            </a:r>
            <a:endParaRPr lang="en-US" sz="1800" dirty="0"/>
          </a:p>
        </p:txBody>
      </p:sp>
      <p:sp>
        <p:nvSpPr>
          <p:cNvPr id="5" name="node-109"/>
          <p:cNvSpPr txBox="1"/>
          <p:nvPr/>
        </p:nvSpPr>
        <p:spPr>
          <a:xfrm>
            <a:off x="8595360" y="1325880"/>
            <a:ext cx="3017520" cy="914400"/>
          </a:xfrm>
          <a:prstGeom prst="roundRect">
            <a:avLst>
              <a:gd name="adj" fmla="val 12000"/>
            </a:avLst>
          </a:prstGeom>
          <a:solidFill>
            <a:schemeClr val="bg1"/>
          </a:solidFill>
          <a:ln w="22225">
            <a:solidFill>
              <a:schemeClr val="accent1"/>
            </a:solidFill>
          </a:ln>
        </p:spPr>
        <p:txBody>
          <a:bodyPr wrap="square" lIns="50800" tIns="152400" rIns="152400" bIns="50800" rtlCol="0" anchor="ctr"/>
          <a:lstStyle/>
          <a:p>
            <a:pPr algn="l" indent="0" marL="0">
              <a:buNone/>
            </a:pPr>
            <a:r>
              <a:rPr lang="en-US" sz="1800" b="1" dirty="0">
                <a:solidFill>
                  <a:schemeClr val="accent1"/>
                </a:solidFill>
              </a:rPr>
              <a:t>PayU</a:t>
            </a:r>
            <a:endParaRPr lang="en-US" sz="1800" dirty="0"/>
          </a:p>
          <a:p>
            <a:pPr algn="l" indent="0" marL="0">
              <a:buNone/>
            </a:pPr>
            <a:r>
              <a:rPr lang="en-US" sz="1200" dirty="0">
                <a:solidFill>
                  <a:schemeClr val="tx1"/>
                </a:solidFill>
              </a:rPr>
              <a:t>Customer call, Sept 23 · active</a:t>
            </a:r>
            <a:endParaRPr lang="en-US" sz="1800" dirty="0"/>
          </a:p>
        </p:txBody>
      </p:sp>
      <p:sp>
        <p:nvSpPr>
          <p:cNvPr id="6" name="edge-110"/>
          <p:cNvSpPr/>
          <p:nvPr/>
        </p:nvSpPr>
        <p:spPr>
          <a:xfrm>
            <a:off x="3886200" y="1783080"/>
            <a:ext cx="914400" cy="0"/>
          </a:xfrm>
          <a:prstGeom prst="line">
            <a:avLst/>
          </a:prstGeom>
          <a:noFill/>
          <a:ln w="25400">
            <a:solidFill>
              <a:schemeClr val="accent1"/>
            </a:solidFill>
            <a:prstDash val="solid"/>
            <a:tailEnd type="triangle"/>
          </a:ln>
        </p:spPr>
      </p:sp>
      <p:sp>
        <p:nvSpPr>
          <p:cNvPr id="7" name="edge-label-111"/>
          <p:cNvSpPr txBox="1"/>
          <p:nvPr/>
        </p:nvSpPr>
        <p:spPr>
          <a:xfrm>
            <a:off x="3931920" y="1463040"/>
            <a:ext cx="822960" cy="237744"/>
          </a:xfrm>
          <a:prstGeom prst="rect">
            <a:avLst/>
          </a:prstGeom>
          <a:solidFill>
            <a:schemeClr val="bg1"/>
          </a:solidFill>
          <a:ln/>
        </p:spPr>
        <p:txBody>
          <a:bodyPr wrap="square" lIns="0" tIns="0" rIns="0" bIns="0" rtlCol="0" anchor="ctr"/>
          <a:lstStyle/>
          <a:p>
            <a:pPr algn="ctr" indent="0" marL="0">
              <a:buNone/>
            </a:pPr>
            <a:r>
              <a:rPr lang="en-US" sz="900" b="1" dirty="0">
                <a:solidFill>
                  <a:schemeClr val="accent1"/>
                </a:solidFill>
                <a:latin typeface="Courier New" pitchFamily="34" charset="0"/>
                <a:ea typeface="Courier New" pitchFamily="34" charset="-122"/>
                <a:cs typeface="Courier New" pitchFamily="34" charset="-120"/>
              </a:rPr>
              <a:t>DEPENDS_ON</a:t>
            </a:r>
            <a:endParaRPr lang="en-US" sz="900" dirty="0"/>
          </a:p>
        </p:txBody>
      </p:sp>
      <p:sp>
        <p:nvSpPr>
          <p:cNvPr id="8" name="edge-112"/>
          <p:cNvSpPr/>
          <p:nvPr/>
        </p:nvSpPr>
        <p:spPr>
          <a:xfrm flipH="1">
            <a:off x="7635240" y="1783080"/>
            <a:ext cx="914400" cy="0"/>
          </a:xfrm>
          <a:prstGeom prst="line">
            <a:avLst/>
          </a:prstGeom>
          <a:noFill/>
          <a:ln w="25400">
            <a:solidFill>
              <a:schemeClr val="accent1"/>
            </a:solidFill>
            <a:prstDash val="solid"/>
            <a:tailEnd type="triangle"/>
          </a:ln>
        </p:spPr>
      </p:sp>
      <p:sp>
        <p:nvSpPr>
          <p:cNvPr id="9" name="edge-label-113"/>
          <p:cNvSpPr txBox="1"/>
          <p:nvPr/>
        </p:nvSpPr>
        <p:spPr>
          <a:xfrm>
            <a:off x="7680960" y="1463040"/>
            <a:ext cx="822960" cy="237744"/>
          </a:xfrm>
          <a:prstGeom prst="rect">
            <a:avLst/>
          </a:prstGeom>
          <a:solidFill>
            <a:schemeClr val="bg1"/>
          </a:solidFill>
          <a:ln/>
        </p:spPr>
        <p:txBody>
          <a:bodyPr wrap="square" lIns="0" tIns="0" rIns="0" bIns="0" rtlCol="0" anchor="ctr"/>
          <a:lstStyle/>
          <a:p>
            <a:pPr algn="ctr" indent="0" marL="0">
              <a:buNone/>
            </a:pPr>
            <a:r>
              <a:rPr lang="en-US" sz="900" b="1" dirty="0">
                <a:solidFill>
                  <a:schemeClr val="accent1"/>
                </a:solidFill>
                <a:latin typeface="Courier New" pitchFamily="34" charset="0"/>
                <a:ea typeface="Courier New" pitchFamily="34" charset="-122"/>
                <a:cs typeface="Courier New" pitchFamily="34" charset="-120"/>
              </a:rPr>
              <a:t>SUPERSEDES</a:t>
            </a:r>
            <a:endParaRPr lang="en-US" sz="900" dirty="0"/>
          </a:p>
        </p:txBody>
      </p:sp>
      <p:sp>
        <p:nvSpPr>
          <p:cNvPr id="10" name="card-114"/>
          <p:cNvSpPr/>
          <p:nvPr/>
        </p:nvSpPr>
        <p:spPr>
          <a:xfrm>
            <a:off x="548640" y="2468880"/>
            <a:ext cx="11064240" cy="502920"/>
          </a:xfrm>
          <a:prstGeom prst="roundRect">
            <a:avLst>
              <a:gd name="adj" fmla="val 18182"/>
            </a:avLst>
          </a:prstGeom>
          <a:solidFill>
            <a:schemeClr val="bg2"/>
          </a:solidFill>
          <a:ln w="12700">
            <a:solidFill>
              <a:schemeClr val="accent4"/>
            </a:solidFill>
            <a:prstDash val="solid"/>
          </a:ln>
        </p:spPr>
      </p:sp>
      <p:sp>
        <p:nvSpPr>
          <p:cNvPr id="11" name="text-115"/>
          <p:cNvSpPr txBox="1"/>
          <p:nvPr/>
        </p:nvSpPr>
        <p:spPr>
          <a:xfrm>
            <a:off x="777240" y="2560320"/>
            <a:ext cx="10698480" cy="320040"/>
          </a:xfrm>
          <a:prstGeom prst="rect">
            <a:avLst/>
          </a:prstGeom>
          <a:noFill/>
          <a:ln/>
        </p:spPr>
        <p:txBody>
          <a:bodyPr wrap="square" lIns="0" tIns="0" rIns="0" bIns="0" rtlCol="0" anchor="ctr"/>
          <a:lstStyle/>
          <a:p>
            <a:pPr indent="0" marL="0">
              <a:buNone/>
            </a:pPr>
            <a:r>
              <a:rPr lang="en-US" sz="1400" b="1" dirty="0">
                <a:solidFill>
                  <a:schemeClr val="accent1"/>
                </a:solidFill>
              </a:rPr>
              <a:t>Needs review</a:t>
            </a:r>
            <a:pPr indent="0" marL="0">
              <a:buNone/>
            </a:pPr>
            <a:r>
              <a:rPr lang="en-US" sz="1400" dirty="0">
                <a:solidFill>
                  <a:schemeClr val="tx1"/>
                </a:solidFill>
              </a:rPr>
              <a:t>   Razorpay → PayU · Priya responsible · evidence: both transcript lines and the dependency document</a:t>
            </a:r>
            <a:endParaRPr lang="en-US" sz="1400" dirty="0"/>
          </a:p>
        </p:txBody>
      </p:sp>
      <p:sp>
        <p:nvSpPr>
          <p:cNvPr id="12" name="text-116"/>
          <p:cNvSpPr txBox="1"/>
          <p:nvPr/>
        </p:nvSpPr>
        <p:spPr>
          <a:xfrm>
            <a:off x="548640" y="3200400"/>
            <a:ext cx="5029200" cy="274320"/>
          </a:xfrm>
          <a:prstGeom prst="rect">
            <a:avLst/>
          </a:prstGeom>
          <a:noFill/>
          <a:ln/>
        </p:spPr>
        <p:txBody>
          <a:bodyPr wrap="square" lIns="0" tIns="0" rIns="0" bIns="0" rtlCol="0" anchor="t"/>
          <a:lstStyle/>
          <a:p>
            <a:pPr indent="0" marL="0">
              <a:buNone/>
            </a:pPr>
            <a:r>
              <a:rPr lang="en-US" sz="1100" b="1" spc="100" kern="0" dirty="0">
                <a:solidFill>
                  <a:schemeClr val="tx2"/>
                </a:solidFill>
              </a:rPr>
              <a:t>THE TRAVERSAL, IN WORDS</a:t>
            </a:r>
            <a:endParaRPr lang="en-US" sz="1100" dirty="0"/>
          </a:p>
        </p:txBody>
      </p:sp>
      <p:sp>
        <p:nvSpPr>
          <p:cNvPr id="13" name="dot-117"/>
          <p:cNvSpPr txBox="1"/>
          <p:nvPr/>
        </p:nvSpPr>
        <p:spPr>
          <a:xfrm>
            <a:off x="548640" y="3566160"/>
            <a:ext cx="329184" cy="32918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4" name="text-118"/>
          <p:cNvSpPr txBox="1"/>
          <p:nvPr/>
        </p:nvSpPr>
        <p:spPr>
          <a:xfrm>
            <a:off x="1005840" y="3538728"/>
            <a:ext cx="4572000" cy="566928"/>
          </a:xfrm>
          <a:prstGeom prst="rect">
            <a:avLst/>
          </a:prstGeom>
          <a:noFill/>
          <a:ln/>
        </p:spPr>
        <p:txBody>
          <a:bodyPr wrap="square" lIns="0" tIns="0" rIns="0" bIns="0" rtlCol="0" anchor="t"/>
          <a:lstStyle/>
          <a:p>
            <a:pPr indent="0" marL="0">
              <a:buNone/>
            </a:pPr>
            <a:r>
              <a:rPr lang="en-US" sz="1400" dirty="0">
                <a:solidFill>
                  <a:schemeClr val="tx1"/>
                </a:solidFill>
              </a:rPr>
              <a:t>Start at each WorkItem and the fact it DEPENDS_ON: the baseline.</a:t>
            </a:r>
            <a:endParaRPr lang="en-US" sz="1400" dirty="0"/>
          </a:p>
        </p:txBody>
      </p:sp>
      <p:sp>
        <p:nvSpPr>
          <p:cNvPr id="15" name="dot-119"/>
          <p:cNvSpPr txBox="1"/>
          <p:nvPr/>
        </p:nvSpPr>
        <p:spPr>
          <a:xfrm>
            <a:off x="548640" y="4169664"/>
            <a:ext cx="329184" cy="32918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120"/>
          <p:cNvSpPr txBox="1"/>
          <p:nvPr/>
        </p:nvSpPr>
        <p:spPr>
          <a:xfrm>
            <a:off x="1005840" y="4142232"/>
            <a:ext cx="4572000" cy="566928"/>
          </a:xfrm>
          <a:prstGeom prst="rect">
            <a:avLst/>
          </a:prstGeom>
          <a:noFill/>
          <a:ln/>
        </p:spPr>
        <p:txBody>
          <a:bodyPr wrap="square" lIns="0" tIns="0" rIns="0" bIns="0" rtlCol="0" anchor="t"/>
          <a:lstStyle/>
          <a:p>
            <a:pPr indent="0" marL="0">
              <a:buNone/>
            </a:pPr>
            <a:r>
              <a:rPr lang="en-US" sz="1400" dirty="0">
                <a:solidFill>
                  <a:schemeClr val="tx1"/>
                </a:solidFill>
              </a:rPr>
              <a:t>Find the active fact with the same key (subject and predicate).</a:t>
            </a:r>
            <a:endParaRPr lang="en-US" sz="1400" dirty="0"/>
          </a:p>
        </p:txBody>
      </p:sp>
      <p:sp>
        <p:nvSpPr>
          <p:cNvPr id="17" name="dot-121"/>
          <p:cNvSpPr txBox="1"/>
          <p:nvPr/>
        </p:nvSpPr>
        <p:spPr>
          <a:xfrm>
            <a:off x="548640" y="4773168"/>
            <a:ext cx="329184" cy="32918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122"/>
          <p:cNvSpPr txBox="1"/>
          <p:nvPr/>
        </p:nvSpPr>
        <p:spPr>
          <a:xfrm>
            <a:off x="1005840" y="4745736"/>
            <a:ext cx="4572000" cy="566928"/>
          </a:xfrm>
          <a:prstGeom prst="rect">
            <a:avLst/>
          </a:prstGeom>
          <a:noFill/>
          <a:ln/>
        </p:spPr>
        <p:txBody>
          <a:bodyPr wrap="square" lIns="0" tIns="0" rIns="0" bIns="0" rtlCol="0" anchor="t"/>
          <a:lstStyle/>
          <a:p>
            <a:pPr indent="0" marL="0">
              <a:buNone/>
            </a:pPr>
            <a:r>
              <a:rPr lang="en-US" sz="1400" dirty="0">
                <a:solidFill>
                  <a:schemeClr val="tx1"/>
                </a:solidFill>
              </a:rPr>
              <a:t>Follow SUPERSEDES back from it to the baseline, up to 24 hops.</a:t>
            </a:r>
            <a:endParaRPr lang="en-US" sz="1400" dirty="0"/>
          </a:p>
        </p:txBody>
      </p:sp>
      <p:sp>
        <p:nvSpPr>
          <p:cNvPr id="19" name="dot-123"/>
          <p:cNvSpPr txBox="1"/>
          <p:nvPr/>
        </p:nvSpPr>
        <p:spPr>
          <a:xfrm>
            <a:off x="548640" y="5376672"/>
            <a:ext cx="329184" cy="32918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0" name="text-124"/>
          <p:cNvSpPr txBox="1"/>
          <p:nvPr/>
        </p:nvSpPr>
        <p:spPr>
          <a:xfrm>
            <a:off x="1005840" y="5349240"/>
            <a:ext cx="4572000" cy="566928"/>
          </a:xfrm>
          <a:prstGeom prst="rect">
            <a:avLst/>
          </a:prstGeom>
          <a:noFill/>
          <a:ln/>
        </p:spPr>
        <p:txBody>
          <a:bodyPr wrap="square" lIns="0" tIns="0" rIns="0" bIns="0" rtlCol="0" anchor="t"/>
          <a:lstStyle/>
          <a:p>
            <a:pPr indent="0" marL="0">
              <a:buNone/>
            </a:pPr>
            <a:r>
              <a:rPr lang="en-US" sz="1400" dirty="0">
                <a:solidFill>
                  <a:schemeClr val="tx1"/>
                </a:solidFill>
              </a:rPr>
              <a:t>Open work, a path and a changed value: needs review. Same value: aligned. Completed: closed.</a:t>
            </a:r>
            <a:endParaRPr lang="en-US" sz="1400" dirty="0"/>
          </a:p>
        </p:txBody>
      </p:sp>
      <p:sp>
        <p:nvSpPr>
          <p:cNvPr id="21" name="text-125"/>
          <p:cNvSpPr txBox="1"/>
          <p:nvPr/>
        </p:nvSpPr>
        <p:spPr>
          <a:xfrm>
            <a:off x="548640" y="5989320"/>
            <a:ext cx="5120640" cy="274320"/>
          </a:xfrm>
          <a:prstGeom prst="rect">
            <a:avLst/>
          </a:prstGeom>
          <a:noFill/>
          <a:ln/>
        </p:spPr>
        <p:txBody>
          <a:bodyPr wrap="square" lIns="0" tIns="0" rIns="0" bIns="0" rtlCol="0" anchor="t"/>
          <a:lstStyle/>
          <a:p>
            <a:pPr indent="0" marL="0">
              <a:buNone/>
            </a:pPr>
            <a:r>
              <a:rPr lang="en-US" sz="1300" b="1" dirty="0">
                <a:solidFill>
                  <a:schemeClr val="accent1"/>
                </a:solidFill>
              </a:rPr>
              <a:t>Orbit: 5 tracked · 3 need review · 1 aligned · 1 closed</a:t>
            </a:r>
            <a:endParaRPr lang="en-US" sz="1300" dirty="0"/>
          </a:p>
        </p:txBody>
      </p:sp>
      <p:sp>
        <p:nvSpPr>
          <p:cNvPr id="22" name="text-126"/>
          <p:cNvSpPr txBox="1"/>
          <p:nvPr/>
        </p:nvSpPr>
        <p:spPr>
          <a:xfrm>
            <a:off x="5943600" y="3200400"/>
            <a:ext cx="5669280" cy="274320"/>
          </a:xfrm>
          <a:prstGeom prst="rect">
            <a:avLst/>
          </a:prstGeom>
          <a:noFill/>
          <a:ln/>
        </p:spPr>
        <p:txBody>
          <a:bodyPr wrap="square" lIns="0" tIns="0" rIns="0" bIns="0" rtlCol="0" anchor="t"/>
          <a:lstStyle/>
          <a:p>
            <a:pPr indent="0" marL="0">
              <a:buNone/>
            </a:pPr>
            <a:r>
              <a:rPr lang="en-US" sz="1100" b="1" spc="100" kern="0" dirty="0">
                <a:solidFill>
                  <a:schemeClr val="tx2"/>
                </a:solidFill>
              </a:rPr>
              <a:t>CYPHER/81_WORK_IMPACTS (EXCERPT)</a:t>
            </a:r>
            <a:endParaRPr lang="en-US" sz="1100" dirty="0"/>
          </a:p>
        </p:txBody>
      </p:sp>
      <p:sp>
        <p:nvSpPr>
          <p:cNvPr id="23" name="code-127"/>
          <p:cNvSpPr txBox="1"/>
          <p:nvPr/>
        </p:nvSpPr>
        <p:spPr>
          <a:xfrm>
            <a:off x="5943600" y="3520440"/>
            <a:ext cx="5669280" cy="2286000"/>
          </a:xfrm>
          <a:prstGeom prst="roundRect">
            <a:avLst>
              <a:gd name="adj" fmla="val 3200"/>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MATCH (w:WorkItem)-[:DEPENDS_ON]-&gt;(baseline:Fact)</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OPTIONAL MATCH (w)-[:OWNED_BY]-&gt;(owner:Person)</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WITH w, baseline, owner</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MATCH (w)-[:DOCUMENTED_IN]-&gt;(doc:Document)</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WITH w, baseline, owner, doc</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OPTIONAL MATCH (current:Fact {status: 'active'})</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WHERE current.key = baseline.key</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WITH w, baseline, owner, doc, current</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OPTIONAL MATCH</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  path=(current)-[:SUPERSEDES*0..24]-&gt;(baseline)</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Every answer shows its work</a:t>
            </a:r>
            <a:endParaRPr lang="en-US" sz="3400" dirty="0"/>
          </a:p>
        </p:txBody>
      </p:sp>
      <p:sp>
        <p:nvSpPr>
          <p:cNvPr id="3" name="card-128"/>
          <p:cNvSpPr/>
          <p:nvPr/>
        </p:nvSpPr>
        <p:spPr>
          <a:xfrm>
            <a:off x="548640" y="1371600"/>
            <a:ext cx="6858000" cy="4800600"/>
          </a:xfrm>
          <a:prstGeom prst="roundRect">
            <a:avLst>
              <a:gd name="adj" fmla="val 1905"/>
            </a:avLst>
          </a:prstGeom>
          <a:solidFill>
            <a:schemeClr val="bg1"/>
          </a:solidFill>
          <a:ln w="12700">
            <a:solidFill>
              <a:schemeClr val="accent4"/>
            </a:solidFill>
            <a:prstDash val="solid"/>
          </a:ln>
        </p:spPr>
      </p:sp>
      <p:sp>
        <p:nvSpPr>
          <p:cNvPr id="4" name="text-129"/>
          <p:cNvSpPr txBox="1"/>
          <p:nvPr/>
        </p:nvSpPr>
        <p:spPr>
          <a:xfrm>
            <a:off x="822960" y="1554480"/>
            <a:ext cx="6400800" cy="365760"/>
          </a:xfrm>
          <a:prstGeom prst="rect">
            <a:avLst/>
          </a:prstGeom>
          <a:noFill/>
          <a:ln/>
        </p:spPr>
        <p:txBody>
          <a:bodyPr wrap="square" lIns="0" tIns="0" rIns="0" bIns="0" rtlCol="0" anchor="t"/>
          <a:lstStyle/>
          <a:p>
            <a:pPr indent="0" marL="0">
              <a:buNone/>
            </a:pPr>
            <a:r>
              <a:rPr lang="en-US" sz="1600" b="1" dirty="0">
                <a:solidFill>
                  <a:schemeClr val="accent1"/>
                </a:solidFill>
              </a:rPr>
              <a:t>Q  </a:t>
            </a:r>
            <a:pPr indent="0" marL="0">
              <a:buNone/>
            </a:pPr>
            <a:r>
              <a:rPr lang="en-US" sz="1600" b="1" dirty="0">
                <a:solidFill>
                  <a:schemeClr val="tx1"/>
                </a:solidFill>
              </a:rPr>
              <a:t>Who owns the decision log?</a:t>
            </a:r>
            <a:endParaRPr lang="en-US" sz="1600" dirty="0"/>
          </a:p>
        </p:txBody>
      </p:sp>
      <p:sp>
        <p:nvSpPr>
          <p:cNvPr id="5" name="text-130"/>
          <p:cNvSpPr txBox="1"/>
          <p:nvPr/>
        </p:nvSpPr>
        <p:spPr>
          <a:xfrm>
            <a:off x="822960" y="1965960"/>
            <a:ext cx="6400800" cy="777240"/>
          </a:xfrm>
          <a:prstGeom prst="rect">
            <a:avLst/>
          </a:prstGeom>
          <a:noFill/>
          <a:ln/>
        </p:spPr>
        <p:txBody>
          <a:bodyPr wrap="square" lIns="0" tIns="0" rIns="0" bIns="0" rtlCol="0" anchor="t"/>
          <a:lstStyle/>
          <a:p>
            <a:pPr indent="0" marL="0">
              <a:buNone/>
            </a:pPr>
            <a:r>
              <a:rPr lang="en-US" sz="1400" dirty="0">
                <a:solidFill>
                  <a:schemeClr val="tx1"/>
                </a:solidFill>
              </a:rPr>
              <a:t>Rahul. Aditya assigned it in the email “Retro prep and action item: decision log (issue #42)” (Sept 29), due Fri Oct 2.</a:t>
            </a:r>
            <a:endParaRPr lang="en-US" sz="1400" dirty="0"/>
          </a:p>
        </p:txBody>
      </p:sp>
      <p:sp>
        <p:nvSpPr>
          <p:cNvPr id="6" name="text-131"/>
          <p:cNvSpPr txBox="1"/>
          <p:nvPr/>
        </p:nvSpPr>
        <p:spPr>
          <a:xfrm>
            <a:off x="822960" y="2834640"/>
            <a:ext cx="2743200" cy="274320"/>
          </a:xfrm>
          <a:prstGeom prst="rect">
            <a:avLst/>
          </a:prstGeom>
          <a:noFill/>
          <a:ln/>
        </p:spPr>
        <p:txBody>
          <a:bodyPr wrap="square" lIns="0" tIns="0" rIns="0" bIns="0" rtlCol="0" anchor="t"/>
          <a:lstStyle/>
          <a:p>
            <a:pPr indent="0" marL="0">
              <a:buNone/>
            </a:pPr>
            <a:r>
              <a:rPr lang="en-US" sz="1100" b="1" spc="100" kern="0" dirty="0">
                <a:solidFill>
                  <a:schemeClr val="tx2"/>
                </a:solidFill>
              </a:rPr>
              <a:t>ROUTER DECISION</a:t>
            </a:r>
            <a:endParaRPr lang="en-US" sz="1100" dirty="0"/>
          </a:p>
        </p:txBody>
      </p:sp>
      <p:sp>
        <p:nvSpPr>
          <p:cNvPr id="7" name="text-132"/>
          <p:cNvSpPr txBox="1"/>
          <p:nvPr/>
        </p:nvSpPr>
        <p:spPr>
          <a:xfrm>
            <a:off x="822960" y="3108960"/>
            <a:ext cx="6400800"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intent ownership · route template · cypher/54_owners.cypher</a:t>
            </a:r>
            <a:endParaRPr lang="en-US" sz="1200" dirty="0"/>
          </a:p>
        </p:txBody>
      </p:sp>
      <p:sp>
        <p:nvSpPr>
          <p:cNvPr id="8" name="text-133"/>
          <p:cNvSpPr txBox="1"/>
          <p:nvPr/>
        </p:nvSpPr>
        <p:spPr>
          <a:xfrm>
            <a:off x="822960" y="3520440"/>
            <a:ext cx="2743200" cy="274320"/>
          </a:xfrm>
          <a:prstGeom prst="rect">
            <a:avLst/>
          </a:prstGeom>
          <a:noFill/>
          <a:ln/>
        </p:spPr>
        <p:txBody>
          <a:bodyPr wrap="square" lIns="0" tIns="0" rIns="0" bIns="0" rtlCol="0" anchor="t"/>
          <a:lstStyle/>
          <a:p>
            <a:pPr indent="0" marL="0">
              <a:buNone/>
            </a:pPr>
            <a:r>
              <a:rPr lang="en-US" sz="1100" b="1" spc="100" kern="0" dirty="0">
                <a:solidFill>
                  <a:schemeClr val="tx2"/>
                </a:solidFill>
              </a:rPr>
              <a:t>CYPHER THAT RAN</a:t>
            </a:r>
            <a:endParaRPr lang="en-US" sz="1100" dirty="0"/>
          </a:p>
        </p:txBody>
      </p:sp>
      <p:sp>
        <p:nvSpPr>
          <p:cNvPr id="9" name="code-134"/>
          <p:cNvSpPr txBox="1"/>
          <p:nvPr/>
        </p:nvSpPr>
        <p:spPr>
          <a:xfrm>
            <a:off x="822960" y="3794760"/>
            <a:ext cx="6309360" cy="685800"/>
          </a:xfrm>
          <a:prstGeom prst="roundRect">
            <a:avLst>
              <a:gd name="adj" fmla="val 10667"/>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WITH facts, [f IN facts WHERE f.predicate = 'owner']</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  AS assignments  // explicit assignment first …</a:t>
            </a:r>
            <a:endParaRPr lang="en-US" sz="1100" dirty="0"/>
          </a:p>
        </p:txBody>
      </p:sp>
      <p:sp>
        <p:nvSpPr>
          <p:cNvPr id="10" name="text-135"/>
          <p:cNvSpPr txBox="1"/>
          <p:nvPr/>
        </p:nvSpPr>
        <p:spPr>
          <a:xfrm>
            <a:off x="822960" y="4617720"/>
            <a:ext cx="2743200" cy="274320"/>
          </a:xfrm>
          <a:prstGeom prst="rect">
            <a:avLst/>
          </a:prstGeom>
          <a:noFill/>
          <a:ln/>
        </p:spPr>
        <p:txBody>
          <a:bodyPr wrap="square" lIns="0" tIns="0" rIns="0" bIns="0" rtlCol="0" anchor="t"/>
          <a:lstStyle/>
          <a:p>
            <a:pPr indent="0" marL="0">
              <a:buNone/>
            </a:pPr>
            <a:r>
              <a:rPr lang="en-US" sz="1100" b="1" spc="100" kern="0" dirty="0">
                <a:solidFill>
                  <a:schemeClr val="tx2"/>
                </a:solidFill>
              </a:rPr>
              <a:t>SOURCES</a:t>
            </a:r>
            <a:endParaRPr lang="en-US" sz="1100" dirty="0"/>
          </a:p>
        </p:txBody>
      </p:sp>
      <p:sp>
        <p:nvSpPr>
          <p:cNvPr id="11" name="text-136"/>
          <p:cNvSpPr txBox="1"/>
          <p:nvPr/>
        </p:nvSpPr>
        <p:spPr>
          <a:xfrm>
            <a:off x="822960" y="5010912"/>
            <a:ext cx="4663440" cy="320040"/>
          </a:xfrm>
          <a:prstGeom prst="rect">
            <a:avLst/>
          </a:prstGeom>
          <a:noFill/>
          <a:ln/>
        </p:spPr>
        <p:txBody>
          <a:bodyPr wrap="square" lIns="0" tIns="0" rIns="0" bIns="0" rtlCol="0" anchor="t"/>
          <a:lstStyle/>
          <a:p>
            <a:pPr indent="0" marL="0">
              <a:buNone/>
            </a:pPr>
            <a:r>
              <a:rPr lang="en-US" sz="1300" dirty="0">
                <a:solidFill>
                  <a:schemeClr val="tx1"/>
                </a:solidFill>
              </a:rPr>
              <a:t>Email · Aditya · Retro prep, issue #42 · Sept 29, 09:20</a:t>
            </a:r>
            <a:endParaRPr lang="en-US" sz="1300" dirty="0"/>
          </a:p>
        </p:txBody>
      </p:sp>
      <p:sp>
        <p:nvSpPr>
          <p:cNvPr id="12" name="node-137"/>
          <p:cNvSpPr txBox="1"/>
          <p:nvPr/>
        </p:nvSpPr>
        <p:spPr>
          <a:xfrm>
            <a:off x="5623560" y="4937760"/>
            <a:ext cx="1508760" cy="411480"/>
          </a:xfrm>
          <a:prstGeom prst="roundRect">
            <a:avLst>
              <a:gd name="adj" fmla="val 26667"/>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Open email</a:t>
            </a:r>
            <a:endParaRPr lang="en-US" sz="1200" dirty="0"/>
          </a:p>
        </p:txBody>
      </p:sp>
      <p:sp>
        <p:nvSpPr>
          <p:cNvPr id="13" name="text-138"/>
          <p:cNvSpPr txBox="1"/>
          <p:nvPr/>
        </p:nvSpPr>
        <p:spPr>
          <a:xfrm>
            <a:off x="822960" y="5559552"/>
            <a:ext cx="4663440" cy="320040"/>
          </a:xfrm>
          <a:prstGeom prst="rect">
            <a:avLst/>
          </a:prstGeom>
          <a:noFill/>
          <a:ln/>
        </p:spPr>
        <p:txBody>
          <a:bodyPr wrap="square" lIns="0" tIns="0" rIns="0" bIns="0" rtlCol="0" anchor="t"/>
          <a:lstStyle/>
          <a:p>
            <a:pPr indent="0" marL="0">
              <a:buNone/>
            </a:pPr>
            <a:r>
              <a:rPr lang="en-US" sz="1300" dirty="0">
                <a:solidFill>
                  <a:schemeClr val="tx1"/>
                </a:solidFill>
              </a:rPr>
              <a:t>Meeting · Orbit standup 1 · Priya · 0:38</a:t>
            </a:r>
            <a:endParaRPr lang="en-US" sz="1300" dirty="0"/>
          </a:p>
        </p:txBody>
      </p:sp>
      <p:sp>
        <p:nvSpPr>
          <p:cNvPr id="14" name="node-139"/>
          <p:cNvSpPr txBox="1"/>
          <p:nvPr/>
        </p:nvSpPr>
        <p:spPr>
          <a:xfrm>
            <a:off x="5623560" y="5486400"/>
            <a:ext cx="1508760" cy="411480"/>
          </a:xfrm>
          <a:prstGeom prst="roundRect">
            <a:avLst>
              <a:gd name="adj" fmla="val 26667"/>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Transcript line</a:t>
            </a:r>
            <a:endParaRPr lang="en-US" sz="1200" dirty="0"/>
          </a:p>
        </p:txBody>
      </p:sp>
      <p:sp>
        <p:nvSpPr>
          <p:cNvPr id="15" name="dot-140"/>
          <p:cNvSpPr txBox="1"/>
          <p:nvPr/>
        </p:nvSpPr>
        <p:spPr>
          <a:xfrm>
            <a:off x="7772400" y="146304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6" name="text-141"/>
          <p:cNvSpPr txBox="1"/>
          <p:nvPr/>
        </p:nvSpPr>
        <p:spPr>
          <a:xfrm>
            <a:off x="8366760" y="14447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The Cypher that ran</a:t>
            </a:r>
            <a:endParaRPr lang="en-US" sz="1800" dirty="0"/>
          </a:p>
        </p:txBody>
      </p:sp>
      <p:sp>
        <p:nvSpPr>
          <p:cNvPr id="17" name="text-142"/>
          <p:cNvSpPr txBox="1"/>
          <p:nvPr/>
        </p:nvSpPr>
        <p:spPr>
          <a:xfrm>
            <a:off x="8366760" y="1847088"/>
            <a:ext cx="3291840" cy="822960"/>
          </a:xfrm>
          <a:prstGeom prst="rect">
            <a:avLst/>
          </a:prstGeom>
          <a:noFill/>
          <a:ln/>
        </p:spPr>
        <p:txBody>
          <a:bodyPr wrap="square" lIns="0" tIns="0" rIns="0" bIns="0" rtlCol="0" anchor="t"/>
          <a:lstStyle/>
          <a:p>
            <a:pPr indent="0" marL="0">
              <a:buNone/>
            </a:pPr>
            <a:r>
              <a:rPr lang="en-US" sz="1400" dirty="0">
                <a:solidFill>
                  <a:schemeClr val="tx2"/>
                </a:solidFill>
              </a:rPr>
              <a:t>Every answer returns its queries, taken from the numbered files in cypher/.</a:t>
            </a:r>
            <a:endParaRPr lang="en-US" sz="1400" dirty="0"/>
          </a:p>
        </p:txBody>
      </p:sp>
      <p:sp>
        <p:nvSpPr>
          <p:cNvPr id="18" name="dot-143"/>
          <p:cNvSpPr txBox="1"/>
          <p:nvPr/>
        </p:nvSpPr>
        <p:spPr>
          <a:xfrm>
            <a:off x="7772400" y="288036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9" name="text-144"/>
          <p:cNvSpPr txBox="1"/>
          <p:nvPr/>
        </p:nvSpPr>
        <p:spPr>
          <a:xfrm>
            <a:off x="8366760" y="28620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The router decision</a:t>
            </a:r>
            <a:endParaRPr lang="en-US" sz="1800" dirty="0"/>
          </a:p>
        </p:txBody>
      </p:sp>
      <p:sp>
        <p:nvSpPr>
          <p:cNvPr id="20" name="text-145"/>
          <p:cNvSpPr txBox="1"/>
          <p:nvPr/>
        </p:nvSpPr>
        <p:spPr>
          <a:xfrm>
            <a:off x="8366760" y="3264408"/>
            <a:ext cx="3291840" cy="822960"/>
          </a:xfrm>
          <a:prstGeom prst="rect">
            <a:avLst/>
          </a:prstGeom>
          <a:noFill/>
          <a:ln/>
        </p:spPr>
        <p:txBody>
          <a:bodyPr wrap="square" lIns="0" tIns="0" rIns="0" bIns="0" rtlCol="0" anchor="t"/>
          <a:lstStyle/>
          <a:p>
            <a:pPr indent="0" marL="0">
              <a:buNone/>
            </a:pPr>
            <a:r>
              <a:rPr lang="en-US" sz="1400" dirty="0">
                <a:solidFill>
                  <a:schemeClr val="tx2"/>
                </a:solidFill>
              </a:rPr>
              <a:t>Intent and route: a template, a graph traversal or vector recall.</a:t>
            </a:r>
            <a:endParaRPr lang="en-US" sz="1400" dirty="0"/>
          </a:p>
        </p:txBody>
      </p:sp>
      <p:sp>
        <p:nvSpPr>
          <p:cNvPr id="21" name="dot-146"/>
          <p:cNvSpPr txBox="1"/>
          <p:nvPr/>
        </p:nvSpPr>
        <p:spPr>
          <a:xfrm>
            <a:off x="7772400" y="4297680"/>
            <a:ext cx="420624" cy="420624"/>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2" name="text-147"/>
          <p:cNvSpPr txBox="1"/>
          <p:nvPr/>
        </p:nvSpPr>
        <p:spPr>
          <a:xfrm>
            <a:off x="8366760" y="4279392"/>
            <a:ext cx="3291840" cy="365760"/>
          </a:xfrm>
          <a:prstGeom prst="rect">
            <a:avLst/>
          </a:prstGeom>
          <a:noFill/>
          <a:ln/>
        </p:spPr>
        <p:txBody>
          <a:bodyPr wrap="square" lIns="0" tIns="0" rIns="0" bIns="0" rtlCol="0" anchor="t"/>
          <a:lstStyle/>
          <a:p>
            <a:pPr indent="0" marL="0">
              <a:buNone/>
            </a:pPr>
            <a:r>
              <a:rPr lang="en-US" sz="1800" b="1" dirty="0">
                <a:solidFill>
                  <a:schemeClr val="tx1"/>
                </a:solidFill>
              </a:rPr>
              <a:t>Owner, not announcer</a:t>
            </a:r>
            <a:endParaRPr lang="en-US" sz="1800" dirty="0"/>
          </a:p>
        </p:txBody>
      </p:sp>
      <p:sp>
        <p:nvSpPr>
          <p:cNvPr id="23" name="text-148"/>
          <p:cNvSpPr txBox="1"/>
          <p:nvPr/>
        </p:nvSpPr>
        <p:spPr>
          <a:xfrm>
            <a:off x="8366760" y="4681728"/>
            <a:ext cx="3291840" cy="822960"/>
          </a:xfrm>
          <a:prstGeom prst="rect">
            <a:avLst/>
          </a:prstGeom>
          <a:noFill/>
          <a:ln/>
        </p:spPr>
        <p:txBody>
          <a:bodyPr wrap="square" lIns="0" tIns="0" rIns="0" bIns="0" rtlCol="0" anchor="t"/>
          <a:lstStyle/>
          <a:p>
            <a:pPr indent="0" marL="0">
              <a:buNone/>
            </a:pPr>
            <a:r>
              <a:rPr lang="en-US" sz="1400" dirty="0">
                <a:solidFill>
                  <a:schemeClr val="tx2"/>
                </a:solidFill>
              </a:rPr>
              <a:t>Aditya announced the work; Rahul owns it. An explicit assignment beats the speaker.</a:t>
            </a:r>
            <a:endParaRPr lang="en-US" sz="1400" dirty="0"/>
          </a:p>
        </p:txBody>
      </p:sp>
      <p:sp>
        <p:nvSpPr>
          <p:cNvPr id="24" name="text-149"/>
          <p:cNvSpPr txBox="1"/>
          <p:nvPr/>
        </p:nvSpPr>
        <p:spPr>
          <a:xfrm>
            <a:off x="7772400" y="5669280"/>
            <a:ext cx="3840480" cy="502920"/>
          </a:xfrm>
          <a:prstGeom prst="rect">
            <a:avLst/>
          </a:prstGeom>
          <a:noFill/>
          <a:ln/>
        </p:spPr>
        <p:txBody>
          <a:bodyPr wrap="square" lIns="0" tIns="0" rIns="0" bIns="0" rtlCol="0" anchor="t"/>
          <a:lstStyle/>
          <a:p>
            <a:pPr indent="0" marL="0">
              <a:buNone/>
            </a:pPr>
            <a:r>
              <a:rPr lang="en-US" sz="1100" i="1" dirty="0">
                <a:solidFill>
                  <a:schemeClr val="tx2"/>
                </a:solidFill>
              </a:rPr>
              <a:t>Schematic of the Why panel. Section names match the app; the second source belongs to the UPI answer.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One fact, three versions, two sources</a:t>
            </a:r>
            <a:endParaRPr lang="en-US" sz="3400" dirty="0"/>
          </a:p>
        </p:txBody>
      </p:sp>
      <p:sp>
        <p:nvSpPr>
          <p:cNvPr id="3" name="card-150"/>
          <p:cNvSpPr/>
          <p:nvPr/>
        </p:nvSpPr>
        <p:spPr>
          <a:xfrm>
            <a:off x="548640" y="1371600"/>
            <a:ext cx="3337560" cy="1783080"/>
          </a:xfrm>
          <a:prstGeom prst="roundRect">
            <a:avLst>
              <a:gd name="adj" fmla="val 5128"/>
            </a:avLst>
          </a:prstGeom>
          <a:solidFill>
            <a:schemeClr val="bg2"/>
          </a:solidFill>
          <a:ln w="12700">
            <a:solidFill>
              <a:schemeClr val="accent4"/>
            </a:solidFill>
            <a:prstDash val="solid"/>
          </a:ln>
        </p:spPr>
      </p:sp>
      <p:sp>
        <p:nvSpPr>
          <p:cNvPr id="4" name="text-151"/>
          <p:cNvSpPr txBox="1"/>
          <p:nvPr/>
        </p:nvSpPr>
        <p:spPr>
          <a:xfrm>
            <a:off x="777240" y="1508760"/>
            <a:ext cx="2926080" cy="457200"/>
          </a:xfrm>
          <a:prstGeom prst="rect">
            <a:avLst/>
          </a:prstGeom>
          <a:noFill/>
          <a:ln/>
        </p:spPr>
        <p:txBody>
          <a:bodyPr wrap="square" lIns="0" tIns="0" rIns="0" bIns="0" rtlCol="0" anchor="t"/>
          <a:lstStyle/>
          <a:p>
            <a:pPr indent="0" marL="0">
              <a:buNone/>
            </a:pPr>
            <a:r>
              <a:rPr lang="en-US" sz="2400" b="1" dirty="0">
                <a:solidFill>
                  <a:schemeClr val="accent3"/>
                </a:solidFill>
              </a:rPr>
              <a:t>Due Sept 24</a:t>
            </a:r>
            <a:endParaRPr lang="en-US" sz="2400" dirty="0"/>
          </a:p>
        </p:txBody>
      </p:sp>
      <p:sp>
        <p:nvSpPr>
          <p:cNvPr id="5" name="text-152"/>
          <p:cNvSpPr txBox="1"/>
          <p:nvPr/>
        </p:nvSpPr>
        <p:spPr>
          <a:xfrm>
            <a:off x="777240" y="2011680"/>
            <a:ext cx="2926080" cy="365760"/>
          </a:xfrm>
          <a:prstGeom prst="rect">
            <a:avLst/>
          </a:prstGeom>
          <a:noFill/>
          <a:ln/>
        </p:spPr>
        <p:txBody>
          <a:bodyPr wrap="square" lIns="0" tIns="0" rIns="0" bIns="0" rtlCol="0" anchor="t"/>
          <a:lstStyle/>
          <a:p>
            <a:pPr indent="0" marL="0">
              <a:buNone/>
            </a:pPr>
            <a:r>
              <a:rPr lang="en-US" sz="1500" b="1" dirty="0">
                <a:solidFill>
                  <a:schemeClr val="tx1"/>
                </a:solidFill>
              </a:rPr>
              <a:t>Sept 7 · Kickoff (speech)</a:t>
            </a:r>
            <a:endParaRPr lang="en-US" sz="1500" dirty="0"/>
          </a:p>
        </p:txBody>
      </p:sp>
      <p:sp>
        <p:nvSpPr>
          <p:cNvPr id="6" name="text-153"/>
          <p:cNvSpPr txBox="1"/>
          <p:nvPr/>
        </p:nvSpPr>
        <p:spPr>
          <a:xfrm>
            <a:off x="777240" y="2377440"/>
            <a:ext cx="2926080" cy="640080"/>
          </a:xfrm>
          <a:prstGeom prst="rect">
            <a:avLst/>
          </a:prstGeom>
          <a:noFill/>
          <a:ln/>
        </p:spPr>
        <p:txBody>
          <a:bodyPr wrap="square" lIns="0" tIns="0" rIns="0" bIns="0" rtlCol="0" anchor="t"/>
          <a:lstStyle/>
          <a:p>
            <a:pPr indent="0" marL="0">
              <a:buNone/>
            </a:pPr>
            <a:r>
              <a:rPr lang="en-US" sz="1400" dirty="0">
                <a:solidFill>
                  <a:schemeClr val="tx2"/>
                </a:solidFill>
              </a:rPr>
              <a:t>Priya at 2:35: the original commitment</a:t>
            </a:r>
            <a:endParaRPr lang="en-US" sz="1400" dirty="0"/>
          </a:p>
        </p:txBody>
      </p:sp>
      <p:sp>
        <p:nvSpPr>
          <p:cNvPr id="7" name="card-154"/>
          <p:cNvSpPr/>
          <p:nvPr/>
        </p:nvSpPr>
        <p:spPr>
          <a:xfrm>
            <a:off x="4343400" y="1371600"/>
            <a:ext cx="3337560" cy="1783080"/>
          </a:xfrm>
          <a:prstGeom prst="roundRect">
            <a:avLst>
              <a:gd name="adj" fmla="val 5128"/>
            </a:avLst>
          </a:prstGeom>
          <a:solidFill>
            <a:schemeClr val="bg2"/>
          </a:solidFill>
          <a:ln w="12700">
            <a:solidFill>
              <a:schemeClr val="accent4"/>
            </a:solidFill>
            <a:prstDash val="solid"/>
          </a:ln>
        </p:spPr>
      </p:sp>
      <p:sp>
        <p:nvSpPr>
          <p:cNvPr id="8" name="text-155"/>
          <p:cNvSpPr txBox="1"/>
          <p:nvPr/>
        </p:nvSpPr>
        <p:spPr>
          <a:xfrm>
            <a:off x="4572000" y="1508760"/>
            <a:ext cx="2926080" cy="457200"/>
          </a:xfrm>
          <a:prstGeom prst="rect">
            <a:avLst/>
          </a:prstGeom>
          <a:noFill/>
          <a:ln/>
        </p:spPr>
        <p:txBody>
          <a:bodyPr wrap="square" lIns="0" tIns="0" rIns="0" bIns="0" rtlCol="0" anchor="t"/>
          <a:lstStyle/>
          <a:p>
            <a:pPr indent="0" marL="0">
              <a:buNone/>
            </a:pPr>
            <a:r>
              <a:rPr lang="en-US" sz="2400" b="1" dirty="0">
                <a:solidFill>
                  <a:schemeClr val="accent3"/>
                </a:solidFill>
              </a:rPr>
              <a:t>Due Sept 25</a:t>
            </a:r>
            <a:endParaRPr lang="en-US" sz="2400" dirty="0"/>
          </a:p>
        </p:txBody>
      </p:sp>
      <p:sp>
        <p:nvSpPr>
          <p:cNvPr id="9" name="text-156"/>
          <p:cNvSpPr txBox="1"/>
          <p:nvPr/>
        </p:nvSpPr>
        <p:spPr>
          <a:xfrm>
            <a:off x="4572000" y="2011680"/>
            <a:ext cx="2926080" cy="365760"/>
          </a:xfrm>
          <a:prstGeom prst="rect">
            <a:avLst/>
          </a:prstGeom>
          <a:noFill/>
          <a:ln/>
        </p:spPr>
        <p:txBody>
          <a:bodyPr wrap="square" lIns="0" tIns="0" rIns="0" bIns="0" rtlCol="0" anchor="t"/>
          <a:lstStyle/>
          <a:p>
            <a:pPr indent="0" marL="0">
              <a:buNone/>
            </a:pPr>
            <a:r>
              <a:rPr lang="en-US" sz="1500" b="1" dirty="0">
                <a:solidFill>
                  <a:schemeClr val="tx1"/>
                </a:solidFill>
              </a:rPr>
              <a:t>Sept 14 · Standup 1 (speech)</a:t>
            </a:r>
            <a:endParaRPr lang="en-US" sz="1500" dirty="0"/>
          </a:p>
        </p:txBody>
      </p:sp>
      <p:sp>
        <p:nvSpPr>
          <p:cNvPr id="10" name="text-157"/>
          <p:cNvSpPr txBox="1"/>
          <p:nvPr/>
        </p:nvSpPr>
        <p:spPr>
          <a:xfrm>
            <a:off x="4572000" y="2377440"/>
            <a:ext cx="2926080" cy="640080"/>
          </a:xfrm>
          <a:prstGeom prst="rect">
            <a:avLst/>
          </a:prstGeom>
          <a:noFill/>
          <a:ln/>
        </p:spPr>
        <p:txBody>
          <a:bodyPr wrap="square" lIns="0" tIns="0" rIns="0" bIns="0" rtlCol="0" anchor="t"/>
          <a:lstStyle/>
          <a:p>
            <a:pPr indent="0" marL="0">
              <a:buNone/>
            </a:pPr>
            <a:r>
              <a:rPr lang="en-US" sz="1400" dirty="0">
                <a:solidFill>
                  <a:schemeClr val="tx2"/>
                </a:solidFill>
              </a:rPr>
              <a:t>Priya at 0:38: “move it to Friday”</a:t>
            </a:r>
            <a:endParaRPr lang="en-US" sz="1400" dirty="0"/>
          </a:p>
        </p:txBody>
      </p:sp>
      <p:sp>
        <p:nvSpPr>
          <p:cNvPr id="11" name="edge-158"/>
          <p:cNvSpPr/>
          <p:nvPr/>
        </p:nvSpPr>
        <p:spPr>
          <a:xfrm flipH="1">
            <a:off x="3931920" y="2258568"/>
            <a:ext cx="365760" cy="0"/>
          </a:xfrm>
          <a:prstGeom prst="line">
            <a:avLst/>
          </a:prstGeom>
          <a:noFill/>
          <a:ln w="25400">
            <a:solidFill>
              <a:schemeClr val="accent1"/>
            </a:solidFill>
            <a:prstDash val="solid"/>
            <a:tailEnd type="triangle"/>
          </a:ln>
        </p:spPr>
      </p:sp>
      <p:sp>
        <p:nvSpPr>
          <p:cNvPr id="12" name="card-159"/>
          <p:cNvSpPr/>
          <p:nvPr/>
        </p:nvSpPr>
        <p:spPr>
          <a:xfrm>
            <a:off x="8138160" y="1371600"/>
            <a:ext cx="3337560" cy="1783080"/>
          </a:xfrm>
          <a:prstGeom prst="roundRect">
            <a:avLst>
              <a:gd name="adj" fmla="val 5128"/>
            </a:avLst>
          </a:prstGeom>
          <a:solidFill>
            <a:schemeClr val="bg1"/>
          </a:solidFill>
          <a:ln w="22225">
            <a:solidFill>
              <a:schemeClr val="accent1"/>
            </a:solidFill>
            <a:prstDash val="solid"/>
          </a:ln>
        </p:spPr>
      </p:sp>
      <p:sp>
        <p:nvSpPr>
          <p:cNvPr id="13" name="text-160"/>
          <p:cNvSpPr txBox="1"/>
          <p:nvPr/>
        </p:nvSpPr>
        <p:spPr>
          <a:xfrm>
            <a:off x="8366760" y="1508760"/>
            <a:ext cx="2926080" cy="457200"/>
          </a:xfrm>
          <a:prstGeom prst="rect">
            <a:avLst/>
          </a:prstGeom>
          <a:noFill/>
          <a:ln/>
        </p:spPr>
        <p:txBody>
          <a:bodyPr wrap="square" lIns="0" tIns="0" rIns="0" bIns="0" rtlCol="0" anchor="t"/>
          <a:lstStyle/>
          <a:p>
            <a:pPr indent="0" marL="0">
              <a:buNone/>
            </a:pPr>
            <a:r>
              <a:rPr lang="en-US" sz="2400" b="1" dirty="0">
                <a:solidFill>
                  <a:schemeClr val="accent1"/>
                </a:solidFill>
              </a:rPr>
              <a:t>Due Sept 28</a:t>
            </a:r>
            <a:endParaRPr lang="en-US" sz="2400" dirty="0"/>
          </a:p>
        </p:txBody>
      </p:sp>
      <p:sp>
        <p:nvSpPr>
          <p:cNvPr id="14" name="text-161"/>
          <p:cNvSpPr txBox="1"/>
          <p:nvPr/>
        </p:nvSpPr>
        <p:spPr>
          <a:xfrm>
            <a:off x="8366760" y="2011680"/>
            <a:ext cx="2926080" cy="365760"/>
          </a:xfrm>
          <a:prstGeom prst="rect">
            <a:avLst/>
          </a:prstGeom>
          <a:noFill/>
          <a:ln/>
        </p:spPr>
        <p:txBody>
          <a:bodyPr wrap="square" lIns="0" tIns="0" rIns="0" bIns="0" rtlCol="0" anchor="t"/>
          <a:lstStyle/>
          <a:p>
            <a:pPr indent="0" marL="0">
              <a:buNone/>
            </a:pPr>
            <a:r>
              <a:rPr lang="en-US" sz="1500" b="1" dirty="0">
                <a:solidFill>
                  <a:schemeClr val="tx1"/>
                </a:solidFill>
              </a:rPr>
              <a:t>Sept 17 · Email from Priya</a:t>
            </a:r>
            <a:endParaRPr lang="en-US" sz="1500" dirty="0"/>
          </a:p>
        </p:txBody>
      </p:sp>
      <p:sp>
        <p:nvSpPr>
          <p:cNvPr id="15" name="text-162"/>
          <p:cNvSpPr txBox="1"/>
          <p:nvPr/>
        </p:nvSpPr>
        <p:spPr>
          <a:xfrm>
            <a:off x="8366760" y="2377440"/>
            <a:ext cx="2926080" cy="640080"/>
          </a:xfrm>
          <a:prstGeom prst="rect">
            <a:avLst/>
          </a:prstGeom>
          <a:noFill/>
          <a:ln/>
        </p:spPr>
        <p:txBody>
          <a:bodyPr wrap="square" lIns="0" tIns="0" rIns="0" bIns="0" rtlCol="0" anchor="t"/>
          <a:lstStyle/>
          <a:p>
            <a:pPr indent="0" marL="0">
              <a:buNone/>
            </a:pPr>
            <a:r>
              <a:rPr lang="en-US" sz="1400" dirty="0">
                <a:solidFill>
                  <a:schemeClr val="tx2"/>
                </a:solidFill>
              </a:rPr>
              <a:t>“UPI flow: moving to Monday the 28th”</a:t>
            </a:r>
            <a:endParaRPr lang="en-US" sz="1400" dirty="0"/>
          </a:p>
        </p:txBody>
      </p:sp>
      <p:sp>
        <p:nvSpPr>
          <p:cNvPr id="16" name="edge-163"/>
          <p:cNvSpPr/>
          <p:nvPr/>
        </p:nvSpPr>
        <p:spPr>
          <a:xfrm flipH="1">
            <a:off x="7726680" y="2258568"/>
            <a:ext cx="365760" cy="0"/>
          </a:xfrm>
          <a:prstGeom prst="line">
            <a:avLst/>
          </a:prstGeom>
          <a:noFill/>
          <a:ln w="25400">
            <a:solidFill>
              <a:schemeClr val="accent1"/>
            </a:solidFill>
            <a:prstDash val="solid"/>
            <a:tailEnd type="triangle"/>
          </a:ln>
        </p:spPr>
      </p:sp>
      <p:sp>
        <p:nvSpPr>
          <p:cNvPr id="17" name="edge-label-164"/>
          <p:cNvSpPr txBox="1"/>
          <p:nvPr/>
        </p:nvSpPr>
        <p:spPr>
          <a:xfrm>
            <a:off x="3703320" y="3246120"/>
            <a:ext cx="1371600" cy="237744"/>
          </a:xfrm>
          <a:prstGeom prst="rect">
            <a:avLst/>
          </a:prstGeom>
          <a:solidFill>
            <a:schemeClr val="bg1"/>
          </a:solidFill>
          <a:ln/>
        </p:spPr>
        <p:txBody>
          <a:bodyPr wrap="square" lIns="0" tIns="0" rIns="0" bIns="0" rtlCol="0" anchor="ctr"/>
          <a:lstStyle/>
          <a:p>
            <a:pPr algn="ctr" indent="0" marL="0">
              <a:buNone/>
            </a:pPr>
            <a:r>
              <a:rPr lang="en-US" sz="1000" b="1" dirty="0">
                <a:solidFill>
                  <a:schemeClr val="accent1"/>
                </a:solidFill>
                <a:latin typeface="Courier New" pitchFamily="34" charset="0"/>
                <a:ea typeface="Courier New" pitchFamily="34" charset="-122"/>
                <a:cs typeface="Courier New" pitchFamily="34" charset="-120"/>
              </a:rPr>
              <a:t>SUPERSEDES</a:t>
            </a:r>
            <a:endParaRPr lang="en-US" sz="1000" dirty="0"/>
          </a:p>
        </p:txBody>
      </p:sp>
      <p:sp>
        <p:nvSpPr>
          <p:cNvPr id="18" name="edge-label-165"/>
          <p:cNvSpPr txBox="1"/>
          <p:nvPr/>
        </p:nvSpPr>
        <p:spPr>
          <a:xfrm>
            <a:off x="7498080" y="3246120"/>
            <a:ext cx="1371600" cy="237744"/>
          </a:xfrm>
          <a:prstGeom prst="rect">
            <a:avLst/>
          </a:prstGeom>
          <a:solidFill>
            <a:schemeClr val="bg1"/>
          </a:solidFill>
          <a:ln/>
        </p:spPr>
        <p:txBody>
          <a:bodyPr wrap="square" lIns="0" tIns="0" rIns="0" bIns="0" rtlCol="0" anchor="ctr"/>
          <a:lstStyle/>
          <a:p>
            <a:pPr algn="ctr" indent="0" marL="0">
              <a:buNone/>
            </a:pPr>
            <a:r>
              <a:rPr lang="en-US" sz="1000" b="1" dirty="0">
                <a:solidFill>
                  <a:schemeClr val="accent1"/>
                </a:solidFill>
                <a:latin typeface="Courier New" pitchFamily="34" charset="0"/>
                <a:ea typeface="Courier New" pitchFamily="34" charset="-122"/>
                <a:cs typeface="Courier New" pitchFamily="34" charset="-120"/>
              </a:rPr>
              <a:t>SUPERSEDES</a:t>
            </a:r>
            <a:endParaRPr lang="en-US" sz="1000" dirty="0"/>
          </a:p>
        </p:txBody>
      </p:sp>
      <p:sp>
        <p:nvSpPr>
          <p:cNvPr id="19" name="text-166"/>
          <p:cNvSpPr txBox="1"/>
          <p:nvPr/>
        </p:nvSpPr>
        <p:spPr>
          <a:xfrm>
            <a:off x="548640" y="3611880"/>
            <a:ext cx="11064240" cy="320040"/>
          </a:xfrm>
          <a:prstGeom prst="rect">
            <a:avLst/>
          </a:prstGeom>
          <a:noFill/>
          <a:ln/>
        </p:spPr>
        <p:txBody>
          <a:bodyPr wrap="square" lIns="0" tIns="0" rIns="0" bIns="0" rtlCol="0" anchor="t"/>
          <a:lstStyle/>
          <a:p>
            <a:pPr indent="0" marL="0">
              <a:buNone/>
            </a:pPr>
            <a:r>
              <a:rPr lang="en-US" sz="1400" dirty="0">
                <a:solidFill>
                  <a:schemeClr val="tx2"/>
                </a:solidFill>
              </a:rPr>
              <a:t>Standup 2 (Sept 21) confirms the 28th in speech: no new edge. The flow was completed on Mon Sept 28.</a:t>
            </a:r>
            <a:endParaRPr lang="en-US" sz="1400" dirty="0"/>
          </a:p>
        </p:txBody>
      </p:sp>
      <p:sp>
        <p:nvSpPr>
          <p:cNvPr id="20" name="text-167"/>
          <p:cNvSpPr txBox="1"/>
          <p:nvPr/>
        </p:nvSpPr>
        <p:spPr>
          <a:xfrm>
            <a:off x="548640" y="4114800"/>
            <a:ext cx="5486400" cy="274320"/>
          </a:xfrm>
          <a:prstGeom prst="rect">
            <a:avLst/>
          </a:prstGeom>
          <a:noFill/>
          <a:ln/>
        </p:spPr>
        <p:txBody>
          <a:bodyPr wrap="square" lIns="0" tIns="0" rIns="0" bIns="0" rtlCol="0" anchor="t"/>
          <a:lstStyle/>
          <a:p>
            <a:pPr indent="0" marL="0">
              <a:buNone/>
            </a:pPr>
            <a:r>
              <a:rPr lang="en-US" sz="1100" b="1" spc="100" kern="0" dirty="0">
                <a:solidFill>
                  <a:schemeClr val="tx2"/>
                </a:solidFill>
              </a:rPr>
              <a:t>CYPHER/31_BELIEF_AT_TIME (EXCERPT)</a:t>
            </a:r>
            <a:endParaRPr lang="en-US" sz="1100" dirty="0"/>
          </a:p>
        </p:txBody>
      </p:sp>
      <p:sp>
        <p:nvSpPr>
          <p:cNvPr id="21" name="code-168"/>
          <p:cNvSpPr txBox="1"/>
          <p:nvPr/>
        </p:nvSpPr>
        <p:spPr>
          <a:xfrm>
            <a:off x="548640" y="4434840"/>
            <a:ext cx="6035040" cy="1691640"/>
          </a:xfrm>
          <a:prstGeom prst="roundRect">
            <a:avLst>
              <a:gd name="adj" fmla="val 4324"/>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MATCH (f:Fact)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WHERE f.status &lt;&gt; 'retracted'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AND f.valid_from &lt;= $t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AND (f.valid_to IS NULL OR f.valid_to &gt; $t)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AND ($known_by IS NULL OR f.created_at &lt;= $known_by)</a:t>
            </a:r>
            <a:endParaRPr lang="en-US" sz="1200" dirty="0"/>
          </a:p>
        </p:txBody>
      </p:sp>
      <p:sp>
        <p:nvSpPr>
          <p:cNvPr id="22" name="text-169"/>
          <p:cNvSpPr txBox="1"/>
          <p:nvPr/>
        </p:nvSpPr>
        <p:spPr>
          <a:xfrm>
            <a:off x="6949440" y="4114800"/>
            <a:ext cx="4663440" cy="274320"/>
          </a:xfrm>
          <a:prstGeom prst="rect">
            <a:avLst/>
          </a:prstGeom>
          <a:noFill/>
          <a:ln/>
        </p:spPr>
        <p:txBody>
          <a:bodyPr wrap="square" lIns="0" tIns="0" rIns="0" bIns="0" rtlCol="0" anchor="t"/>
          <a:lstStyle/>
          <a:p>
            <a:pPr indent="0" marL="0">
              <a:buNone/>
            </a:pPr>
            <a:r>
              <a:rPr lang="en-US" sz="1100" b="1" spc="100" kern="0" dirty="0">
                <a:solidFill>
                  <a:schemeClr val="tx2"/>
                </a:solidFill>
              </a:rPr>
              <a:t>WHAT WE BELIEVED</a:t>
            </a:r>
            <a:endParaRPr lang="en-US" sz="1100" dirty="0"/>
          </a:p>
        </p:txBody>
      </p:sp>
      <p:graphicFrame>
        <p:nvGraphicFramePr>
          <p:cNvPr id="8" name="table-170"/>
          <p:cNvGraphicFramePr>
            <a:graphicFrameLocks noGrp="1"/>
          </p:cNvGraphicFramePr>
          <p:nvPr>
            <p:extLst>
              <p:ext uri="{D42A27DB-BD31-4B8C-83A1-F6EECF244321}">
                <p14:modId xmlns:p14="http://schemas.microsoft.com/office/powerpoint/2010/main" val="1579011935"/>
              </p:ext>
            </p:extLst>
          </p:nvPr>
        </p:nvGraphicFramePr>
        <p:xfrm>
          <a:off x="6949440" y="4434840"/>
          <a:ext cx="4663440" cy="914400"/>
        </p:xfrm>
        <a:graphic>
          <a:graphicData uri="http://schemas.openxmlformats.org/drawingml/2006/table">
            <a:tbl>
              <a:tblPr/>
              <a:tblGrid>
                <a:gridCol w="1463040"/>
                <a:gridCol w="1600200"/>
                <a:gridCol w="1600200"/>
              </a:tblGrid>
              <a:tr h="384048">
                <a:tc>
                  <a:txBody>
                    <a:bodyPr/>
                    <a:lstStyle/>
                    <a:p>
                      <a:pPr indent="0" marL="0">
                        <a:buNone/>
                      </a:pPr>
                      <a:r>
                        <a:rPr lang="en-US" sz="1500" b="1" dirty="0">
                          <a:solidFill>
                            <a:schemeClr val="tx2"/>
                          </a:solidFill>
                        </a:rPr>
                        <a:t>Belief at</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2"/>
                          </a:solidFill>
                        </a:rPr>
                        <a:t>UPI flow due</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2"/>
                          </a:solidFill>
                        </a:rPr>
                        <a:t>Vendor</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r>
              <a:tr h="384048">
                <a:tc>
                  <a:txBody>
                    <a:bodyPr/>
                    <a:lstStyle/>
                    <a:p>
                      <a:pPr indent="0" marL="0">
                        <a:buNone/>
                      </a:pPr>
                      <a:r>
                        <a:rPr lang="en-US" sz="1500" dirty="0">
                          <a:solidFill>
                            <a:schemeClr val="tx1"/>
                          </a:solidFill>
                        </a:rPr>
                        <a:t>Sept 10</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Sept 24</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Razorpay</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r>
              <a:tr h="384048">
                <a:tc>
                  <a:txBody>
                    <a:bodyPr/>
                    <a:lstStyle/>
                    <a:p>
                      <a:pPr indent="0" marL="0">
                        <a:buNone/>
                      </a:pPr>
                      <a:r>
                        <a:rPr lang="en-US" sz="1500" b="1" dirty="0">
                          <a:solidFill>
                            <a:schemeClr val="tx1"/>
                          </a:solidFill>
                        </a:rPr>
                        <a:t>Sept 16</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Sept 25</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tx1"/>
                          </a:solidFill>
                        </a:rPr>
                        <a:t>Razorpay</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r>
              <a:tr h="384048">
                <a:tc>
                  <a:txBody>
                    <a:bodyPr/>
                    <a:lstStyle/>
                    <a:p>
                      <a:pPr indent="0" marL="0">
                        <a:buNone/>
                      </a:pPr>
                      <a:r>
                        <a:rPr lang="en-US" sz="1500" dirty="0">
                          <a:solidFill>
                            <a:schemeClr val="tx1"/>
                          </a:solidFill>
                        </a:rPr>
                        <a:t>Sept 25</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Sept 28</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PayU</a:t>
                      </a:r>
                      <a:endParaRPr lang="en-US" sz="1500" dirty="0"/>
                    </a:p>
                  </a:txBody>
                  <a:tcPr marL="109728" marR="109728"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Coordination: claim, hand off, follow up</a:t>
            </a:r>
            <a:endParaRPr lang="en-US" sz="3400" dirty="0"/>
          </a:p>
        </p:txBody>
      </p:sp>
      <p:sp>
        <p:nvSpPr>
          <p:cNvPr id="3" name="text-171"/>
          <p:cNvSpPr txBox="1"/>
          <p:nvPr/>
        </p:nvSpPr>
        <p:spPr>
          <a:xfrm>
            <a:off x="548640" y="1325880"/>
            <a:ext cx="5486400" cy="274320"/>
          </a:xfrm>
          <a:prstGeom prst="rect">
            <a:avLst/>
          </a:prstGeom>
          <a:noFill/>
          <a:ln/>
        </p:spPr>
        <p:txBody>
          <a:bodyPr wrap="square" lIns="0" tIns="0" rIns="0" bIns="0" rtlCol="0" anchor="t"/>
          <a:lstStyle/>
          <a:p>
            <a:pPr indent="0" marL="0">
              <a:buNone/>
            </a:pPr>
            <a:r>
              <a:rPr lang="en-US" sz="1100" b="1" spc="100" kern="0" dirty="0">
                <a:solidFill>
                  <a:schemeClr val="tx2"/>
                </a:solidFill>
              </a:rPr>
              <a:t>CYPHER/20_CLAIM_TASK</a:t>
            </a:r>
            <a:endParaRPr lang="en-US" sz="1100" dirty="0"/>
          </a:p>
        </p:txBody>
      </p:sp>
      <p:sp>
        <p:nvSpPr>
          <p:cNvPr id="4" name="code-172"/>
          <p:cNvSpPr txBox="1"/>
          <p:nvPr/>
        </p:nvSpPr>
        <p:spPr>
          <a:xfrm>
            <a:off x="548640" y="1645920"/>
            <a:ext cx="5669280" cy="1828800"/>
          </a:xfrm>
          <a:prstGeom prst="roundRect">
            <a:avLst>
              <a:gd name="adj" fmla="val 4000"/>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MATCH (t:Task {id: $id, status: 'submitted',</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version: $v})</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MATCH (a:Agent {id: $agent})</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SET t.status = 'working', t.version = $v + 1,</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t.owner_agent = $agent, t.updated_at = $now</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CREATE (t)-[:CLAIMED_BY {at: $now}]-&gt;(a)</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RETURN t.version AS version</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zero rows: another agent won</a:t>
            </a:r>
            <a:endParaRPr lang="en-US" sz="1200" dirty="0"/>
          </a:p>
        </p:txBody>
      </p:sp>
      <p:sp>
        <p:nvSpPr>
          <p:cNvPr id="5" name="text-173"/>
          <p:cNvSpPr txBox="1"/>
          <p:nvPr/>
        </p:nvSpPr>
        <p:spPr>
          <a:xfrm>
            <a:off x="6492240" y="1325880"/>
            <a:ext cx="5120640" cy="274320"/>
          </a:xfrm>
          <a:prstGeom prst="rect">
            <a:avLst/>
          </a:prstGeom>
          <a:noFill/>
          <a:ln/>
        </p:spPr>
        <p:txBody>
          <a:bodyPr wrap="square" lIns="0" tIns="0" rIns="0" bIns="0" rtlCol="0" anchor="t"/>
          <a:lstStyle/>
          <a:p>
            <a:pPr indent="0" marL="0">
              <a:buNone/>
            </a:pPr>
            <a:r>
              <a:rPr lang="en-US" sz="1100" b="1" spc="100" kern="0" dirty="0">
                <a:solidFill>
                  <a:schemeClr val="tx2"/>
                </a:solidFill>
              </a:rPr>
              <a:t>CYPHER/21_HANDOFF_TASK (EXCERPT)</a:t>
            </a:r>
            <a:endParaRPr lang="en-US" sz="1100" dirty="0"/>
          </a:p>
        </p:txBody>
      </p:sp>
      <p:sp>
        <p:nvSpPr>
          <p:cNvPr id="6" name="code-174"/>
          <p:cNvSpPr txBox="1"/>
          <p:nvPr/>
        </p:nvSpPr>
        <p:spPr>
          <a:xfrm>
            <a:off x="6492240" y="1645920"/>
            <a:ext cx="5120640" cy="1828800"/>
          </a:xfrm>
          <a:prstGeom prst="roundRect">
            <a:avLst>
              <a:gd name="adj" fmla="val 4000"/>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200" dirty="0">
                <a:solidFill>
                  <a:schemeClr val="tx1"/>
                </a:solidFill>
                <a:latin typeface="Courier New" pitchFamily="34" charset="0"/>
                <a:ea typeface="Courier New" pitchFamily="34" charset="-122"/>
                <a:cs typeface="Courier New" pitchFamily="34" charset="-120"/>
              </a:rPr>
              <a:t>MATCH (t:Task {id: $id, owner_agent: $from,</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version: $v})</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MATCH (to:Agent {id: $to})</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SET t.owner_agent = $to,</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t.status = 'submitted', t.version = $v + 1</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CREATE (t)-[:HANDED_OFF {at: $now,</a:t>
            </a:r>
            <a:endParaRPr lang="en-US" sz="12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  summary: $summary, subgraph_ids: $ids}]-&gt;(to)</a:t>
            </a:r>
            <a:endParaRPr lang="en-US" sz="1200" dirty="0"/>
          </a:p>
        </p:txBody>
      </p:sp>
      <p:sp>
        <p:nvSpPr>
          <p:cNvPr id="7" name="node-175"/>
          <p:cNvSpPr txBox="1"/>
          <p:nvPr/>
        </p:nvSpPr>
        <p:spPr>
          <a:xfrm>
            <a:off x="548640" y="4023360"/>
            <a:ext cx="1965960" cy="731520"/>
          </a:xfrm>
          <a:prstGeom prst="roundRect">
            <a:avLst>
              <a:gd name="adj" fmla="val 15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“Move it to Friday”</a:t>
            </a:r>
            <a:endParaRPr lang="en-US" sz="1200" dirty="0"/>
          </a:p>
          <a:p>
            <a:pPr algn="ctr" indent="0" marL="0">
              <a:buNone/>
            </a:pPr>
            <a:r>
              <a:rPr lang="en-US" sz="1200" dirty="0">
                <a:solidFill>
                  <a:schemeClr val="tx1"/>
                </a:solidFill>
              </a:rPr>
              <a:t>PayU Oct 1 → Oct 2</a:t>
            </a:r>
            <a:endParaRPr lang="en-US" sz="1200" dirty="0"/>
          </a:p>
        </p:txBody>
      </p:sp>
      <p:sp>
        <p:nvSpPr>
          <p:cNvPr id="8" name="edge-176"/>
          <p:cNvSpPr/>
          <p:nvPr/>
        </p:nvSpPr>
        <p:spPr>
          <a:xfrm>
            <a:off x="2542032" y="4389120"/>
            <a:ext cx="251460" cy="0"/>
          </a:xfrm>
          <a:prstGeom prst="line">
            <a:avLst/>
          </a:prstGeom>
          <a:noFill/>
          <a:ln w="19050">
            <a:solidFill>
              <a:schemeClr val="tx2"/>
            </a:solidFill>
            <a:prstDash val="solid"/>
            <a:tailEnd type="triangle"/>
          </a:ln>
        </p:spPr>
      </p:sp>
      <p:sp>
        <p:nvSpPr>
          <p:cNvPr id="9" name="node-177"/>
          <p:cNvSpPr txBox="1"/>
          <p:nvPr/>
        </p:nvSpPr>
        <p:spPr>
          <a:xfrm>
            <a:off x="2820924" y="4023360"/>
            <a:ext cx="1965960" cy="731520"/>
          </a:xfrm>
          <a:prstGeom prst="roundRect">
            <a:avLst>
              <a:gd name="adj" fmla="val 15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Scheduler claims</a:t>
            </a:r>
            <a:endParaRPr lang="en-US" sz="1200" dirty="0"/>
          </a:p>
        </p:txBody>
      </p:sp>
      <p:sp>
        <p:nvSpPr>
          <p:cNvPr id="10" name="edge-178"/>
          <p:cNvSpPr/>
          <p:nvPr/>
        </p:nvSpPr>
        <p:spPr>
          <a:xfrm>
            <a:off x="4814316" y="4389120"/>
            <a:ext cx="251460" cy="0"/>
          </a:xfrm>
          <a:prstGeom prst="line">
            <a:avLst/>
          </a:prstGeom>
          <a:noFill/>
          <a:ln w="19050">
            <a:solidFill>
              <a:schemeClr val="tx2"/>
            </a:solidFill>
            <a:prstDash val="solid"/>
            <a:tailEnd type="triangle"/>
          </a:ln>
        </p:spPr>
      </p:sp>
      <p:sp>
        <p:nvSpPr>
          <p:cNvPr id="11" name="node-179"/>
          <p:cNvSpPr txBox="1"/>
          <p:nvPr/>
        </p:nvSpPr>
        <p:spPr>
          <a:xfrm>
            <a:off x="5093208" y="4023360"/>
            <a:ext cx="1965960" cy="731520"/>
          </a:xfrm>
          <a:prstGeom prst="roundRect">
            <a:avLst>
              <a:gd name="adj" fmla="val 15000"/>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200" b="1" dirty="0">
                <a:solidFill>
                  <a:schemeClr val="bg1"/>
                </a:solidFill>
              </a:rPr>
              <a:t>HANDED_OFF edge</a:t>
            </a:r>
            <a:endParaRPr lang="en-US" sz="1200" dirty="0"/>
          </a:p>
        </p:txBody>
      </p:sp>
      <p:sp>
        <p:nvSpPr>
          <p:cNvPr id="12" name="edge-180"/>
          <p:cNvSpPr/>
          <p:nvPr/>
        </p:nvSpPr>
        <p:spPr>
          <a:xfrm>
            <a:off x="7086600" y="4389120"/>
            <a:ext cx="251460" cy="0"/>
          </a:xfrm>
          <a:prstGeom prst="line">
            <a:avLst/>
          </a:prstGeom>
          <a:noFill/>
          <a:ln w="19050">
            <a:solidFill>
              <a:schemeClr val="tx2"/>
            </a:solidFill>
            <a:prstDash val="solid"/>
            <a:tailEnd type="triangle"/>
          </a:ln>
        </p:spPr>
      </p:sp>
      <p:sp>
        <p:nvSpPr>
          <p:cNvPr id="13" name="node-181"/>
          <p:cNvSpPr txBox="1"/>
          <p:nvPr/>
        </p:nvSpPr>
        <p:spPr>
          <a:xfrm>
            <a:off x="7365492" y="4023360"/>
            <a:ext cx="1965960" cy="731520"/>
          </a:xfrm>
          <a:prstGeom prst="roundRect">
            <a:avLst>
              <a:gd name="adj" fmla="val 15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FollowUp drafts</a:t>
            </a:r>
            <a:endParaRPr lang="en-US" sz="1200" dirty="0"/>
          </a:p>
        </p:txBody>
      </p:sp>
      <p:sp>
        <p:nvSpPr>
          <p:cNvPr id="14" name="edge-182"/>
          <p:cNvSpPr/>
          <p:nvPr/>
        </p:nvSpPr>
        <p:spPr>
          <a:xfrm>
            <a:off x="9358884" y="4389120"/>
            <a:ext cx="251460" cy="0"/>
          </a:xfrm>
          <a:prstGeom prst="line">
            <a:avLst/>
          </a:prstGeom>
          <a:noFill/>
          <a:ln w="19050">
            <a:solidFill>
              <a:schemeClr val="tx2"/>
            </a:solidFill>
            <a:prstDash val="solid"/>
            <a:tailEnd type="triangle"/>
          </a:ln>
        </p:spPr>
      </p:sp>
      <p:sp>
        <p:nvSpPr>
          <p:cNvPr id="15" name="node-183"/>
          <p:cNvSpPr txBox="1"/>
          <p:nvPr/>
        </p:nvSpPr>
        <p:spPr>
          <a:xfrm>
            <a:off x="9637776" y="4023360"/>
            <a:ext cx="1965960" cy="731520"/>
          </a:xfrm>
          <a:prstGeom prst="roundRect">
            <a:avLst>
              <a:gd name="adj" fmla="val 15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Artifact</a:t>
            </a:r>
            <a:endParaRPr lang="en-US" sz="1200" dirty="0"/>
          </a:p>
          <a:p>
            <a:pPr algn="ctr" indent="0" marL="0">
              <a:buNone/>
            </a:pPr>
            <a:r>
              <a:rPr lang="en-US" sz="1200" b="1" dirty="0">
                <a:solidFill>
                  <a:schemeClr val="tx1"/>
                </a:solidFill>
              </a:rPr>
              <a:t>(simulated issue)</a:t>
            </a:r>
            <a:endParaRPr lang="en-US" sz="1200" dirty="0"/>
          </a:p>
        </p:txBody>
      </p:sp>
      <p:sp>
        <p:nvSpPr>
          <p:cNvPr id="16" name="text-184"/>
          <p:cNvSpPr txBox="1"/>
          <p:nvPr/>
        </p:nvSpPr>
        <p:spPr>
          <a:xfrm>
            <a:off x="548640" y="5120640"/>
            <a:ext cx="6400800" cy="457200"/>
          </a:xfrm>
          <a:prstGeom prst="rect">
            <a:avLst/>
          </a:prstGeom>
          <a:noFill/>
          <a:ln/>
        </p:spPr>
        <p:txBody>
          <a:bodyPr wrap="square" lIns="0" tIns="0" rIns="0" bIns="0" rtlCol="0" anchor="t"/>
          <a:lstStyle/>
          <a:p>
            <a:pPr indent="0" marL="0">
              <a:buNone/>
            </a:pPr>
            <a:r>
              <a:rPr lang="en-US" sz="2400" b="1" dirty="0">
                <a:solidFill>
                  <a:schemeClr val="accent1"/>
                </a:solidFill>
              </a:rPr>
              <a:t>25 agents race · 1 winner · 24 losers</a:t>
            </a:r>
            <a:endParaRPr lang="en-US" sz="1400" dirty="0"/>
          </a:p>
        </p:txBody>
      </p:sp>
      <p:sp>
        <p:nvSpPr>
          <p:cNvPr id="17" name="text-185"/>
          <p:cNvSpPr txBox="1"/>
          <p:nvPr/>
        </p:nvSpPr>
        <p:spPr>
          <a:xfrm>
            <a:off x="7040880" y="5029200"/>
            <a:ext cx="4572000" cy="1005840"/>
          </a:xfrm>
          <a:prstGeom prst="rect">
            <a:avLst/>
          </a:prstGeom>
          <a:noFill/>
          <a:ln/>
        </p:spPr>
        <p:txBody>
          <a:bodyPr wrap="square" lIns="0" tIns="0" rIns="0" bIns="0" rtlCol="0" anchor="t"/>
          <a:lstStyle/>
          <a:p>
            <a:pPr indent="0" marL="0">
              <a:buNone/>
            </a:pPr>
            <a:r>
              <a:rPr lang="en-US" sz="1400" dirty="0">
                <a:solidFill>
                  <a:schemeClr val="tx2"/>
                </a:solidFill>
              </a:rPr>
              <a:t>FalkorDB serialises writes per graph, so exactly one claimant sees the row. The weekly standup is learned as a Skill with ordered Steps and a success rate.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One graph per team, its own ACL users</a:t>
            </a:r>
            <a:endParaRPr lang="en-US" sz="3400" dirty="0"/>
          </a:p>
        </p:txBody>
      </p:sp>
      <p:sp>
        <p:nvSpPr>
          <p:cNvPr id="3" name="card-186"/>
          <p:cNvSpPr/>
          <p:nvPr/>
        </p:nvSpPr>
        <p:spPr>
          <a:xfrm>
            <a:off x="548640" y="1371600"/>
            <a:ext cx="6583680" cy="4754880"/>
          </a:xfrm>
          <a:prstGeom prst="roundRect">
            <a:avLst>
              <a:gd name="adj" fmla="val 1923"/>
            </a:avLst>
          </a:prstGeom>
          <a:solidFill>
            <a:schemeClr val="bg2"/>
          </a:solidFill>
          <a:ln w="12700">
            <a:solidFill>
              <a:schemeClr val="accent4"/>
            </a:solidFill>
            <a:prstDash val="solid"/>
          </a:ln>
        </p:spPr>
      </p:sp>
      <p:sp>
        <p:nvSpPr>
          <p:cNvPr id="4" name="text-187"/>
          <p:cNvSpPr txBox="1"/>
          <p:nvPr/>
        </p:nvSpPr>
        <p:spPr>
          <a:xfrm>
            <a:off x="822960" y="1508760"/>
            <a:ext cx="6035040" cy="365760"/>
          </a:xfrm>
          <a:prstGeom prst="rect">
            <a:avLst/>
          </a:prstGeom>
          <a:noFill/>
          <a:ln/>
        </p:spPr>
        <p:txBody>
          <a:bodyPr wrap="square" lIns="0" tIns="0" rIns="0" bIns="0" rtlCol="0" anchor="t"/>
          <a:lstStyle/>
          <a:p>
            <a:pPr indent="0" marL="0">
              <a:buNone/>
            </a:pPr>
            <a:r>
              <a:rPr lang="en-US" sz="1600" b="1" dirty="0">
                <a:solidFill>
                  <a:schemeClr val="tx1"/>
                </a:solidFill>
              </a:rPr>
              <a:t>FalkorDB 6.0.1, one server</a:t>
            </a:r>
            <a:endParaRPr lang="en-US" sz="1600" dirty="0"/>
          </a:p>
        </p:txBody>
      </p:sp>
      <p:sp>
        <p:nvSpPr>
          <p:cNvPr id="5" name="node-188"/>
          <p:cNvSpPr txBox="1"/>
          <p:nvPr/>
        </p:nvSpPr>
        <p:spPr>
          <a:xfrm>
            <a:off x="914400" y="2148840"/>
            <a:ext cx="201168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team_orbit_rw</a:t>
            </a:r>
            <a:endParaRPr lang="en-US" sz="1200" dirty="0"/>
          </a:p>
        </p:txBody>
      </p:sp>
      <p:sp>
        <p:nvSpPr>
          <p:cNvPr id="6" name="node-189"/>
          <p:cNvSpPr txBox="1"/>
          <p:nvPr/>
        </p:nvSpPr>
        <p:spPr>
          <a:xfrm>
            <a:off x="3291840" y="2148840"/>
            <a:ext cx="2011680" cy="502920"/>
          </a:xfrm>
          <a:prstGeom prst="roundRect">
            <a:avLst>
              <a:gd name="adj" fmla="val 218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team_orbit_ro</a:t>
            </a:r>
            <a:endParaRPr lang="en-US" sz="1200" dirty="0"/>
          </a:p>
        </p:txBody>
      </p:sp>
      <p:sp>
        <p:nvSpPr>
          <p:cNvPr id="7" name="text-190"/>
          <p:cNvSpPr txBox="1"/>
          <p:nvPr/>
        </p:nvSpPr>
        <p:spPr>
          <a:xfrm>
            <a:off x="5486400" y="2267712"/>
            <a:ext cx="1463040" cy="274320"/>
          </a:xfrm>
          <a:prstGeom prst="rect">
            <a:avLst/>
          </a:prstGeom>
          <a:noFill/>
          <a:ln/>
        </p:spPr>
        <p:txBody>
          <a:bodyPr wrap="square" lIns="0" tIns="0" rIns="0" bIns="0" rtlCol="0" anchor="t"/>
          <a:lstStyle/>
          <a:p>
            <a:pPr indent="0" marL="0">
              <a:buNone/>
            </a:pPr>
            <a:r>
              <a:rPr lang="en-US" sz="1200" dirty="0">
                <a:solidFill>
                  <a:schemeClr val="tx2"/>
                </a:solidFill>
              </a:rPr>
              <a:t>ACL users</a:t>
            </a:r>
            <a:endParaRPr lang="en-US" sz="1200" dirty="0"/>
          </a:p>
        </p:txBody>
      </p:sp>
      <p:sp>
        <p:nvSpPr>
          <p:cNvPr id="8" name="node-191"/>
          <p:cNvSpPr txBox="1"/>
          <p:nvPr/>
        </p:nvSpPr>
        <p:spPr>
          <a:xfrm>
            <a:off x="822960" y="3931920"/>
            <a:ext cx="1371600" cy="548640"/>
          </a:xfrm>
          <a:prstGeom prst="roundRect">
            <a:avLst>
              <a:gd name="adj" fmla="val 20000"/>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200" b="1" dirty="0">
                <a:solidFill>
                  <a:schemeClr val="bg1"/>
                </a:solidFill>
              </a:rPr>
              <a:t>team_orbit</a:t>
            </a:r>
            <a:endParaRPr lang="en-US" sz="1200" dirty="0"/>
          </a:p>
        </p:txBody>
      </p:sp>
      <p:sp>
        <p:nvSpPr>
          <p:cNvPr id="9" name="node-192"/>
          <p:cNvSpPr txBox="1"/>
          <p:nvPr/>
        </p:nvSpPr>
        <p:spPr>
          <a:xfrm>
            <a:off x="2377440" y="3931920"/>
            <a:ext cx="1371600" cy="548640"/>
          </a:xfrm>
          <a:prstGeom prst="roundRect">
            <a:avLst>
              <a:gd name="adj" fmla="val 20000"/>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200" b="1" dirty="0">
                <a:solidFill>
                  <a:schemeClr val="tx1"/>
                </a:solidFill>
              </a:rPr>
              <a:t>commons</a:t>
            </a:r>
            <a:endParaRPr lang="en-US" sz="1200" dirty="0"/>
          </a:p>
        </p:txBody>
      </p:sp>
      <p:sp>
        <p:nvSpPr>
          <p:cNvPr id="10" name="node-193"/>
          <p:cNvSpPr txBox="1"/>
          <p:nvPr/>
        </p:nvSpPr>
        <p:spPr>
          <a:xfrm>
            <a:off x="3931920" y="3931920"/>
            <a:ext cx="1371600" cy="548640"/>
          </a:xfrm>
          <a:prstGeom prst="roundRect">
            <a:avLst>
              <a:gd name="adj" fmla="val 20000"/>
            </a:avLst>
          </a:prstGeom>
          <a:solidFill>
            <a:schemeClr val="bg2"/>
          </a:solidFill>
          <a:ln w="15875">
            <a:solidFill>
              <a:schemeClr val="accent3"/>
            </a:solidFill>
          </a:ln>
        </p:spPr>
        <p:txBody>
          <a:bodyPr wrap="square" lIns="25400" tIns="25400" rIns="25400" bIns="25400" rtlCol="0" anchor="ctr"/>
          <a:lstStyle/>
          <a:p>
            <a:pPr algn="ctr" indent="0" marL="0">
              <a:buNone/>
            </a:pPr>
            <a:r>
              <a:rPr lang="en-US" sz="1200" dirty="0">
                <a:solidFill>
                  <a:schemeClr val="tx2"/>
                </a:solidFill>
              </a:rPr>
              <a:t>team_nimbus</a:t>
            </a:r>
            <a:endParaRPr lang="en-US" sz="1200" dirty="0"/>
          </a:p>
        </p:txBody>
      </p:sp>
      <p:sp>
        <p:nvSpPr>
          <p:cNvPr id="11" name="node-194"/>
          <p:cNvSpPr txBox="1"/>
          <p:nvPr/>
        </p:nvSpPr>
        <p:spPr>
          <a:xfrm>
            <a:off x="5486400" y="3931920"/>
            <a:ext cx="1371600" cy="548640"/>
          </a:xfrm>
          <a:prstGeom prst="roundRect">
            <a:avLst>
              <a:gd name="adj" fmla="val 20000"/>
            </a:avLst>
          </a:prstGeom>
          <a:solidFill>
            <a:schemeClr val="bg2"/>
          </a:solidFill>
          <a:ln w="15875">
            <a:solidFill>
              <a:schemeClr val="accent3"/>
            </a:solidFill>
          </a:ln>
        </p:spPr>
        <p:txBody>
          <a:bodyPr wrap="square" lIns="25400" tIns="25400" rIns="25400" bIns="25400" rtlCol="0" anchor="ctr"/>
          <a:lstStyle/>
          <a:p>
            <a:pPr algn="ctr" indent="0" marL="0">
              <a:buNone/>
            </a:pPr>
            <a:r>
              <a:rPr lang="en-US" sz="1200" dirty="0">
                <a:solidFill>
                  <a:schemeClr val="tx2"/>
                </a:solidFill>
              </a:rPr>
              <a:t>team_quill</a:t>
            </a:r>
            <a:endParaRPr lang="en-US" sz="1200" dirty="0"/>
          </a:p>
        </p:txBody>
      </p:sp>
      <p:sp>
        <p:nvSpPr>
          <p:cNvPr id="12" name="text-195"/>
          <p:cNvSpPr txBox="1"/>
          <p:nvPr/>
        </p:nvSpPr>
        <p:spPr>
          <a:xfrm>
            <a:off x="5486400" y="4617720"/>
            <a:ext cx="1463040" cy="274320"/>
          </a:xfrm>
          <a:prstGeom prst="rect">
            <a:avLst/>
          </a:prstGeom>
          <a:noFill/>
          <a:ln/>
        </p:spPr>
        <p:txBody>
          <a:bodyPr wrap="square" lIns="0" tIns="0" rIns="0" bIns="0" rtlCol="0" anchor="t"/>
          <a:lstStyle/>
          <a:p>
            <a:pPr indent="0" marL="0">
              <a:buNone/>
            </a:pPr>
            <a:r>
              <a:rPr lang="en-US" sz="1200" dirty="0">
                <a:solidFill>
                  <a:schemeClr val="tx2"/>
                </a:solidFill>
              </a:rPr>
              <a:t>Graphs</a:t>
            </a:r>
            <a:endParaRPr lang="en-US" sz="1200" dirty="0"/>
          </a:p>
        </p:txBody>
      </p:sp>
      <p:sp>
        <p:nvSpPr>
          <p:cNvPr id="13" name="edge-196"/>
          <p:cNvSpPr/>
          <p:nvPr/>
        </p:nvSpPr>
        <p:spPr>
          <a:xfrm flipH="1">
            <a:off x="1508760" y="2651760"/>
            <a:ext cx="228600" cy="1280160"/>
          </a:xfrm>
          <a:prstGeom prst="line">
            <a:avLst/>
          </a:prstGeom>
          <a:noFill/>
          <a:ln w="19050">
            <a:solidFill>
              <a:schemeClr val="accent1"/>
            </a:solidFill>
            <a:prstDash val="solid"/>
            <a:tailEnd type="triangle"/>
          </a:ln>
        </p:spPr>
      </p:sp>
      <p:sp>
        <p:nvSpPr>
          <p:cNvPr id="14" name="edge-197"/>
          <p:cNvSpPr/>
          <p:nvPr/>
        </p:nvSpPr>
        <p:spPr>
          <a:xfrm>
            <a:off x="2103120" y="2651760"/>
            <a:ext cx="960120" cy="1280160"/>
          </a:xfrm>
          <a:prstGeom prst="line">
            <a:avLst/>
          </a:prstGeom>
          <a:noFill/>
          <a:ln w="19050">
            <a:solidFill>
              <a:schemeClr val="accent1"/>
            </a:solidFill>
            <a:prstDash val="solid"/>
            <a:tailEnd type="triangle"/>
          </a:ln>
        </p:spPr>
      </p:sp>
      <p:sp>
        <p:nvSpPr>
          <p:cNvPr id="15" name="edge-198"/>
          <p:cNvSpPr/>
          <p:nvPr/>
        </p:nvSpPr>
        <p:spPr>
          <a:xfrm flipH="1">
            <a:off x="1783080" y="2651760"/>
            <a:ext cx="2148840" cy="1280160"/>
          </a:xfrm>
          <a:prstGeom prst="line">
            <a:avLst/>
          </a:prstGeom>
          <a:noFill/>
          <a:ln w="19050">
            <a:solidFill>
              <a:schemeClr val="accent1"/>
            </a:solidFill>
            <a:prstDash val="solid"/>
            <a:tailEnd type="triangle"/>
          </a:ln>
        </p:spPr>
      </p:sp>
      <p:sp>
        <p:nvSpPr>
          <p:cNvPr id="16" name="edge-199"/>
          <p:cNvSpPr/>
          <p:nvPr/>
        </p:nvSpPr>
        <p:spPr>
          <a:xfrm flipH="1">
            <a:off x="3337560" y="2651760"/>
            <a:ext cx="960120" cy="1280160"/>
          </a:xfrm>
          <a:prstGeom prst="line">
            <a:avLst/>
          </a:prstGeom>
          <a:noFill/>
          <a:ln w="19050">
            <a:solidFill>
              <a:schemeClr val="accent1"/>
            </a:solidFill>
            <a:prstDash val="solid"/>
            <a:tailEnd type="triangle"/>
          </a:ln>
        </p:spPr>
      </p:sp>
      <p:sp>
        <p:nvSpPr>
          <p:cNvPr id="17" name="edge-200"/>
          <p:cNvSpPr/>
          <p:nvPr/>
        </p:nvSpPr>
        <p:spPr>
          <a:xfrm flipH="1">
            <a:off x="4572000" y="2651760"/>
            <a:ext cx="274320" cy="1280160"/>
          </a:xfrm>
          <a:prstGeom prst="line">
            <a:avLst/>
          </a:prstGeom>
          <a:noFill/>
          <a:ln w="19050">
            <a:solidFill>
              <a:schemeClr val="accent3"/>
            </a:solidFill>
            <a:prstDash val="dash"/>
            <a:tailEnd type="triangle"/>
          </a:ln>
        </p:spPr>
      </p:sp>
      <p:sp>
        <p:nvSpPr>
          <p:cNvPr id="18" name="edge-label-201"/>
          <p:cNvSpPr txBox="1"/>
          <p:nvPr/>
        </p:nvSpPr>
        <p:spPr>
          <a:xfrm>
            <a:off x="4709160" y="3154680"/>
            <a:ext cx="822960" cy="237744"/>
          </a:xfrm>
          <a:prstGeom prst="rect">
            <a:avLst/>
          </a:prstGeom>
          <a:solidFill>
            <a:schemeClr val="bg1"/>
          </a:solidFill>
          <a:ln/>
        </p:spPr>
        <p:txBody>
          <a:bodyPr wrap="square" lIns="0" tIns="0" rIns="0" bIns="0" rtlCol="0" anchor="ctr"/>
          <a:lstStyle/>
          <a:p>
            <a:pPr algn="ctr" indent="0" marL="0">
              <a:buNone/>
            </a:pPr>
            <a:r>
              <a:rPr lang="en-US" sz="1000" b="1" dirty="0">
                <a:solidFill>
                  <a:schemeClr val="tx1"/>
                </a:solidFill>
                <a:latin typeface="Courier New" pitchFamily="34" charset="0"/>
                <a:ea typeface="Courier New" pitchFamily="34" charset="-122"/>
                <a:cs typeface="Courier New" pitchFamily="34" charset="-120"/>
              </a:rPr>
              <a:t>NOPERM</a:t>
            </a:r>
            <a:endParaRPr lang="en-US" sz="1000" dirty="0"/>
          </a:p>
        </p:txBody>
      </p:sp>
      <p:sp>
        <p:nvSpPr>
          <p:cNvPr id="19" name="text-202"/>
          <p:cNvSpPr txBox="1"/>
          <p:nvPr/>
        </p:nvSpPr>
        <p:spPr>
          <a:xfrm>
            <a:off x="822960" y="5120640"/>
            <a:ext cx="6035040" cy="731520"/>
          </a:xfrm>
          <a:prstGeom prst="rect">
            <a:avLst/>
          </a:prstGeom>
          <a:noFill/>
          <a:ln/>
        </p:spPr>
        <p:txBody>
          <a:bodyPr wrap="square" lIns="0" tIns="0" rIns="0" bIns="0" rtlCol="0" anchor="t"/>
          <a:lstStyle/>
          <a:p>
            <a:pPr indent="0" marL="0">
              <a:buNone/>
            </a:pPr>
            <a:r>
              <a:rPr lang="en-US" sz="1400" dirty="0">
                <a:solidFill>
                  <a:schemeClr val="tx2"/>
                </a:solidFill>
              </a:rPr>
              <a:t>Orbit's read-only user is refused on team_nimbus. Orbit records never appear in another team's graph.</a:t>
            </a:r>
            <a:endParaRPr lang="en-US" sz="1400" dirty="0"/>
          </a:p>
        </p:txBody>
      </p:sp>
      <p:sp>
        <p:nvSpPr>
          <p:cNvPr id="20" name="text-203"/>
          <p:cNvSpPr txBox="1"/>
          <p:nvPr/>
        </p:nvSpPr>
        <p:spPr>
          <a:xfrm>
            <a:off x="7498080" y="1371600"/>
            <a:ext cx="4114800" cy="274320"/>
          </a:xfrm>
          <a:prstGeom prst="rect">
            <a:avLst/>
          </a:prstGeom>
          <a:noFill/>
          <a:ln/>
        </p:spPr>
        <p:txBody>
          <a:bodyPr wrap="square" lIns="0" tIns="0" rIns="0" bIns="0" rtlCol="0" anchor="t"/>
          <a:lstStyle/>
          <a:p>
            <a:pPr indent="0" marL="0">
              <a:buNone/>
            </a:pPr>
            <a:r>
              <a:rPr lang="en-US" sz="1100" b="1" spc="100" kern="0" dirty="0">
                <a:solidFill>
                  <a:schemeClr val="tx2"/>
                </a:solidFill>
              </a:rPr>
              <a:t>READ-ONLY USER (TENANCY.PY)</a:t>
            </a:r>
            <a:endParaRPr lang="en-US" sz="1100" dirty="0"/>
          </a:p>
        </p:txBody>
      </p:sp>
      <p:sp>
        <p:nvSpPr>
          <p:cNvPr id="21" name="code-204"/>
          <p:cNvSpPr txBox="1"/>
          <p:nvPr/>
        </p:nvSpPr>
        <p:spPr>
          <a:xfrm>
            <a:off x="7498080" y="1691640"/>
            <a:ext cx="4114800" cy="1417320"/>
          </a:xfrm>
          <a:prstGeom prst="roundRect">
            <a:avLst>
              <a:gd name="adj" fmla="val 5161"/>
            </a:avLst>
          </a:prstGeom>
          <a:solidFill>
            <a:schemeClr val="bg2"/>
          </a:solidFill>
          <a:ln w="12700">
            <a:solidFill>
              <a:schemeClr val="accent4"/>
            </a:solidFill>
          </a:ln>
        </p:spPr>
        <p:txBody>
          <a:bodyPr wrap="square" lIns="127000" tIns="152400" rIns="152400" bIns="127000" rtlCol="0" anchor="t"/>
          <a:lstStyle/>
          <a:p>
            <a:pPr algn="l" indent="0" marL="0">
              <a:buNone/>
            </a:pPr>
            <a:r>
              <a:rPr lang="en-US" sz="1100" dirty="0">
                <a:solidFill>
                  <a:schemeClr val="tx1"/>
                </a:solidFill>
                <a:latin typeface="Courier New" pitchFamily="34" charset="0"/>
                <a:ea typeface="Courier New" pitchFamily="34" charset="-122"/>
                <a:cs typeface="Courier New" pitchFamily="34" charset="-120"/>
              </a:rPr>
              <a:t>ACL SETUSER team_&lt;slug&gt;_ro reset on</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  &gt;&lt;pw&gt; +INFO +PING +CLIENT|SETINFO</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  +GRAPH.RO_QUERY +GRAPH.EXPLAIN</a:t>
            </a:r>
            <a:endParaRPr lang="en-US" sz="11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  ~team_&lt;slug&gt; ~commons</a:t>
            </a:r>
            <a:endParaRPr lang="en-US" sz="1100" dirty="0"/>
          </a:p>
        </p:txBody>
      </p:sp>
      <p:sp>
        <p:nvSpPr>
          <p:cNvPr id="22" name="text-205"/>
          <p:cNvSpPr txBox="1"/>
          <p:nvPr/>
        </p:nvSpPr>
        <p:spPr>
          <a:xfrm>
            <a:off x="7498080" y="3337560"/>
            <a:ext cx="4114800" cy="27889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Key patterns isolate team graphs; read-only is enforced per command, because %R~ rejects GRAPH.RO_QUERY.</a:t>
            </a:r>
            <a:endParaRPr lang="en-US" sz="1400" dirty="0"/>
          </a:p>
          <a:p>
            <a:pPr marL="342900" indent="-342900">
              <a:spcAft>
                <a:spcPts val="800"/>
              </a:spcAft>
              <a:buSzPct val="100000"/>
              <a:buChar char="•"/>
            </a:pPr>
            <a:r>
              <a:rPr lang="en-US" sz="1400" dirty="0">
                <a:solidFill>
                  <a:schemeClr val="tx1"/>
                </a:solidFill>
              </a:rPr>
              <a:t>Per-team graphs keep writes cheap: 100 agents on one graph push write p50 to 260-360 ms, against 12-16 ms over 4 graphs.</a:t>
            </a:r>
            <a:endParaRPr lang="en-US" sz="1400" dirty="0"/>
          </a:p>
          <a:p>
            <a:pPr marL="342900" indent="-342900">
              <a:spcAft>
                <a:spcPts val="800"/>
              </a:spcAft>
              <a:buSzPct val="100000"/>
              <a:buChar char="•"/>
            </a:pPr>
            <a:r>
              <a:rPr lang="en-US" sz="1400" dirty="0">
                <a:solidFill>
                  <a:schemeClr val="tx1"/>
                </a:solidFill>
              </a:rPr>
              <a:t>Not yet: HTTP user auth and tenant membership. The shared commons graph is writable by each team's rw user.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Benchmarks on one laptop</a:t>
            </a:r>
            <a:endParaRPr lang="en-US" sz="3400" dirty="0"/>
          </a:p>
        </p:txBody>
      </p:sp>
      <p:sp>
        <p:nvSpPr>
          <p:cNvPr id="3" name="card-206"/>
          <p:cNvSpPr/>
          <p:nvPr/>
        </p:nvSpPr>
        <p:spPr>
          <a:xfrm>
            <a:off x="548640" y="1325880"/>
            <a:ext cx="3429000" cy="1463040"/>
          </a:xfrm>
          <a:prstGeom prst="roundRect">
            <a:avLst>
              <a:gd name="adj" fmla="val 6250"/>
            </a:avLst>
          </a:prstGeom>
          <a:solidFill>
            <a:schemeClr val="bg2"/>
          </a:solidFill>
          <a:ln w="12700">
            <a:solidFill>
              <a:schemeClr val="accent4"/>
            </a:solidFill>
            <a:prstDash val="solid"/>
          </a:ln>
        </p:spPr>
      </p:sp>
      <p:sp>
        <p:nvSpPr>
          <p:cNvPr id="4" name="text-207"/>
          <p:cNvSpPr txBox="1"/>
          <p:nvPr/>
        </p:nvSpPr>
        <p:spPr>
          <a:xfrm>
            <a:off x="777240" y="141732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+30%</a:t>
            </a:r>
            <a:endParaRPr lang="en-US" sz="4000" dirty="0"/>
          </a:p>
        </p:txBody>
      </p:sp>
      <p:sp>
        <p:nvSpPr>
          <p:cNvPr id="5" name="text-208"/>
          <p:cNvSpPr txBox="1"/>
          <p:nvPr/>
        </p:nvSpPr>
        <p:spPr>
          <a:xfrm>
            <a:off x="777240" y="2103120"/>
            <a:ext cx="3017520" cy="640080"/>
          </a:xfrm>
          <a:prstGeom prst="rect">
            <a:avLst/>
          </a:prstGeom>
          <a:noFill/>
          <a:ln/>
        </p:spPr>
        <p:txBody>
          <a:bodyPr wrap="square" lIns="0" tIns="0" rIns="0" bIns="0" rtlCol="0" anchor="t"/>
          <a:lstStyle/>
          <a:p>
            <a:pPr indent="0" marL="0">
              <a:buNone/>
            </a:pPr>
            <a:r>
              <a:rPr lang="en-US" sz="1300" dirty="0">
                <a:solidFill>
                  <a:schemeClr val="tx2"/>
                </a:solidFill>
              </a:rPr>
              <a:t>ops/s on 6.0.1 vs 4.22.0: about 1,800 vs 1,360 (20 agents, 4 graphs)</a:t>
            </a:r>
            <a:endParaRPr lang="en-US" sz="1300" dirty="0"/>
          </a:p>
        </p:txBody>
      </p:sp>
      <p:sp>
        <p:nvSpPr>
          <p:cNvPr id="6" name="card-209"/>
          <p:cNvSpPr/>
          <p:nvPr/>
        </p:nvSpPr>
        <p:spPr>
          <a:xfrm>
            <a:off x="4343400" y="1325880"/>
            <a:ext cx="3429000" cy="1463040"/>
          </a:xfrm>
          <a:prstGeom prst="roundRect">
            <a:avLst>
              <a:gd name="adj" fmla="val 6250"/>
            </a:avLst>
          </a:prstGeom>
          <a:solidFill>
            <a:schemeClr val="bg2"/>
          </a:solidFill>
          <a:ln w="12700">
            <a:solidFill>
              <a:schemeClr val="accent4"/>
            </a:solidFill>
            <a:prstDash val="solid"/>
          </a:ln>
        </p:spPr>
      </p:sp>
      <p:sp>
        <p:nvSpPr>
          <p:cNvPr id="7" name="text-210"/>
          <p:cNvSpPr txBox="1"/>
          <p:nvPr/>
        </p:nvSpPr>
        <p:spPr>
          <a:xfrm>
            <a:off x="4572000" y="141732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2,608</a:t>
            </a:r>
            <a:endParaRPr lang="en-US" sz="4000" dirty="0"/>
          </a:p>
        </p:txBody>
      </p:sp>
      <p:sp>
        <p:nvSpPr>
          <p:cNvPr id="8" name="text-211"/>
          <p:cNvSpPr txBox="1"/>
          <p:nvPr/>
        </p:nvSpPr>
        <p:spPr>
          <a:xfrm>
            <a:off x="4572000" y="2103120"/>
            <a:ext cx="3017520" cy="640080"/>
          </a:xfrm>
          <a:prstGeom prst="rect">
            <a:avLst/>
          </a:prstGeom>
          <a:noFill/>
          <a:ln/>
        </p:spPr>
        <p:txBody>
          <a:bodyPr wrap="square" lIns="0" tIns="0" rIns="0" bIns="0" rtlCol="0" anchor="t"/>
          <a:lstStyle/>
          <a:p>
            <a:pPr indent="0" marL="0">
              <a:buNone/>
            </a:pPr>
            <a:r>
              <a:rPr lang="en-US" sz="1300" dirty="0">
                <a:solidFill>
                  <a:schemeClr val="tx2"/>
                </a:solidFill>
              </a:rPr>
              <a:t>ops/s with 200 agents over 20 graphs, zero errors</a:t>
            </a:r>
            <a:endParaRPr lang="en-US" sz="1300" dirty="0"/>
          </a:p>
        </p:txBody>
      </p:sp>
      <p:sp>
        <p:nvSpPr>
          <p:cNvPr id="9" name="card-212"/>
          <p:cNvSpPr/>
          <p:nvPr/>
        </p:nvSpPr>
        <p:spPr>
          <a:xfrm>
            <a:off x="8138160" y="1325880"/>
            <a:ext cx="3429000" cy="1463040"/>
          </a:xfrm>
          <a:prstGeom prst="roundRect">
            <a:avLst>
              <a:gd name="adj" fmla="val 6250"/>
            </a:avLst>
          </a:prstGeom>
          <a:solidFill>
            <a:schemeClr val="bg2"/>
          </a:solidFill>
          <a:ln w="12700">
            <a:solidFill>
              <a:schemeClr val="accent4"/>
            </a:solidFill>
            <a:prstDash val="solid"/>
          </a:ln>
        </p:spPr>
      </p:sp>
      <p:sp>
        <p:nvSpPr>
          <p:cNvPr id="10" name="text-213"/>
          <p:cNvSpPr txBox="1"/>
          <p:nvPr/>
        </p:nvSpPr>
        <p:spPr>
          <a:xfrm>
            <a:off x="8366760" y="1417320"/>
            <a:ext cx="3017520" cy="685800"/>
          </a:xfrm>
          <a:prstGeom prst="rect">
            <a:avLst/>
          </a:prstGeom>
          <a:noFill/>
          <a:ln/>
        </p:spPr>
        <p:txBody>
          <a:bodyPr wrap="square" lIns="0" tIns="0" rIns="0" bIns="0" rtlCol="0" anchor="t"/>
          <a:lstStyle/>
          <a:p>
            <a:pPr indent="0" marL="0">
              <a:buNone/>
            </a:pPr>
            <a:r>
              <a:rPr lang="en-US" sz="4000" b="1" dirty="0">
                <a:solidFill>
                  <a:schemeClr val="accent1"/>
                </a:solidFill>
              </a:rPr>
              <a:t>20 / 20</a:t>
            </a:r>
            <a:endParaRPr lang="en-US" sz="4000" dirty="0"/>
          </a:p>
        </p:txBody>
      </p:sp>
      <p:sp>
        <p:nvSpPr>
          <p:cNvPr id="11" name="text-214"/>
          <p:cNvSpPr txBox="1"/>
          <p:nvPr/>
        </p:nvSpPr>
        <p:spPr>
          <a:xfrm>
            <a:off x="8366760" y="2103120"/>
            <a:ext cx="3017520" cy="640080"/>
          </a:xfrm>
          <a:prstGeom prst="rect">
            <a:avLst/>
          </a:prstGeom>
          <a:noFill/>
          <a:ln/>
        </p:spPr>
        <p:txBody>
          <a:bodyPr wrap="square" lIns="0" tIns="0" rIns="0" bIns="0" rtlCol="0" anchor="t"/>
          <a:lstStyle/>
          <a:p>
            <a:pPr indent="0" marL="0">
              <a:buNone/>
            </a:pPr>
            <a:r>
              <a:rPr lang="en-US" sz="1300" dirty="0">
                <a:solidFill>
                  <a:schemeClr val="tx2"/>
                </a:solidFill>
              </a:rPr>
              <a:t>compare-and-set races with exactly one winner</a:t>
            </a:r>
            <a:endParaRPr lang="en-US" sz="1300" dirty="0"/>
          </a:p>
        </p:txBody>
      </p:sp>
      <p:graphicFrame>
        <p:nvGraphicFramePr>
          <p:cNvPr id="11" name="table-215"/>
          <p:cNvGraphicFramePr>
            <a:graphicFrameLocks noGrp="1"/>
          </p:cNvGraphicFramePr>
          <p:nvPr>
            <p:extLst>
              <p:ext uri="{D42A27DB-BD31-4B8C-83A1-F6EECF244321}">
                <p14:modId xmlns:p14="http://schemas.microsoft.com/office/powerpoint/2010/main" val="1579011935"/>
              </p:ext>
            </p:extLst>
          </p:nvPr>
        </p:nvGraphicFramePr>
        <p:xfrm>
          <a:off x="548640" y="3017520"/>
          <a:ext cx="11064240" cy="914400"/>
        </p:xfrm>
        <a:graphic>
          <a:graphicData uri="http://schemas.openxmlformats.org/drawingml/2006/table">
            <a:tbl>
              <a:tblPr/>
              <a:tblGrid>
                <a:gridCol w="1920240"/>
                <a:gridCol w="1463040"/>
                <a:gridCol w="1737360"/>
                <a:gridCol w="1828800"/>
                <a:gridCol w="1097280"/>
                <a:gridCol w="914400"/>
                <a:gridCol w="2103120"/>
              </a:tblGrid>
              <a:tr h="365760">
                <a:tc>
                  <a:txBody>
                    <a:bodyPr/>
                    <a:lstStyle/>
                    <a:p>
                      <a:pPr indent="0" marL="0">
                        <a:buNone/>
                      </a:pPr>
                      <a:r>
                        <a:rPr lang="en-US" sz="1300" b="1" dirty="0">
                          <a:solidFill>
                            <a:schemeClr val="tx2"/>
                          </a:solidFill>
                        </a:rPr>
                        <a:t>Engine</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Agents × graphs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Read p50 / p95 (ms)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Write p50 / p95 (ms)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Ops/s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Errors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CAS winners / attempts</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4.22.0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20 × 4</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11.0 / 29.0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15.1 / 51.1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1,379</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4 / 100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r>
              <a:tr h="365760">
                <a:tc>
                  <a:txBody>
                    <a:bodyPr/>
                    <a:lstStyle/>
                    <a:p>
                      <a:pPr indent="0" marL="0">
                        <a:buNone/>
                      </a:pPr>
                      <a:r>
                        <a:rPr lang="en-US" sz="1300" dirty="0">
                          <a:solidFill>
                            <a:schemeClr val="tx1"/>
                          </a:solidFill>
                        </a:rPr>
                        <a:t>6.0.1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20 × 4</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8.5 / 20.3</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11.9 / 39.4</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1,794</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4 / 100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r>
              <a:tr h="365760">
                <a:tc>
                  <a:txBody>
                    <a:bodyPr/>
                    <a:lstStyle/>
                    <a:p>
                      <a:pPr indent="0" marL="0">
                        <a:buNone/>
                      </a:pPr>
                      <a:r>
                        <a:rPr lang="en-US" sz="1300" dirty="0">
                          <a:solidFill>
                            <a:schemeClr val="tx1"/>
                          </a:solidFill>
                        </a:rPr>
                        <a:t>4.22.0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100 × 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21.4 / 52.7</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321.9 / 767.8</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1,092</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 / 25</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r>
              <a:tr h="365760">
                <a:tc>
                  <a:txBody>
                    <a:bodyPr/>
                    <a:lstStyle/>
                    <a:p>
                      <a:pPr indent="0" marL="0">
                        <a:buNone/>
                      </a:pPr>
                      <a:r>
                        <a:rPr lang="en-US" sz="1300" dirty="0">
                          <a:solidFill>
                            <a:schemeClr val="tx1"/>
                          </a:solidFill>
                        </a:rPr>
                        <a:t>6.0.1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100 × 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7.1 / 28.1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272.3 / 640.2</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1,560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1 / 25</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r>
              <a:tr h="365760">
                <a:tc>
                  <a:txBody>
                    <a:bodyPr/>
                    <a:lstStyle/>
                    <a:p>
                      <a:pPr indent="0" marL="0">
                        <a:buNone/>
                      </a:pPr>
                      <a:r>
                        <a:rPr lang="en-US" sz="1300" dirty="0">
                          <a:solidFill>
                            <a:schemeClr val="tx1"/>
                          </a:solidFill>
                        </a:rPr>
                        <a:t>6.0.1, queue 1000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200 × 20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52.0 / 135.1</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88.6 / 262.8</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2,608</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c>
                  <a:txBody>
                    <a:bodyPr/>
                    <a:lstStyle/>
                    <a:p>
                      <a:pPr indent="0" marL="0">
                        <a:buNone/>
                      </a:pPr>
                      <a:r>
                        <a:rPr lang="en-US" sz="1300" dirty="0">
                          <a:solidFill>
                            <a:schemeClr val="tx1"/>
                          </a:solidFill>
                        </a:rPr>
                        <a:t>20 / 500</a:t>
                      </a:r>
                      <a:endParaRPr lang="en-US" sz="1300" dirty="0"/>
                    </a:p>
                  </a:txBody>
                  <a:tcPr marL="91440" marR="91440" marT="27432" marB="27432" anchor="ctr">
                    <a:lnL w="9525" cap="flat" cmpd="sng" algn="ctr">
                      <a:solidFill>
                        <a:srgbClr val="E3E7EF"/>
                      </a:solidFill>
                      <a:prstDash val="solid"/>
                      <a:round/>
                      <a:headEnd type="none" w="med" len="med"/>
                      <a:tailEnd type="none" w="med" len="med"/>
                    </a:lnL>
                    <a:lnR w="9525" cap="flat" cmpd="sng" algn="ctr">
                      <a:solidFill>
                        <a:srgbClr val="E3E7EF"/>
                      </a:solidFill>
                      <a:prstDash val="solid"/>
                      <a:round/>
                      <a:headEnd type="none" w="med" len="med"/>
                      <a:tailEnd type="none" w="med" len="med"/>
                    </a:lnR>
                    <a:lnT w="9525" cap="flat" cmpd="sng" algn="ctr">
                      <a:solidFill>
                        <a:srgbClr val="E3E7EF"/>
                      </a:solidFill>
                      <a:prstDash val="solid"/>
                      <a:round/>
                      <a:headEnd type="none" w="med" len="med"/>
                      <a:tailEnd type="none" w="med" len="med"/>
                    </a:lnT>
                    <a:lnB w="9525" cap="flat" cmpd="sng" algn="ctr">
                      <a:solidFill>
                        <a:srgbClr val="E3E7EF"/>
                      </a:solidFill>
                      <a:prstDash val="solid"/>
                      <a:round/>
                      <a:headEnd type="none" w="med" len="med"/>
                      <a:tailEnd type="none" w="med" len="med"/>
                    </a:lnB>
                  </a:tcPr>
                </a:tc>
              </a:tr>
            </a:tbl>
          </a:graphicData>
        </a:graphic>
      </p:graphicFrame>
      <p:sp>
        <p:nvSpPr>
          <p:cNvPr id="13" name="text-216"/>
          <p:cNvSpPr txBox="1"/>
          <p:nvPr/>
        </p:nvSpPr>
        <p:spPr>
          <a:xfrm>
            <a:off x="548640" y="5349240"/>
            <a:ext cx="11064240" cy="777240"/>
          </a:xfrm>
          <a:prstGeom prst="rect">
            <a:avLst/>
          </a:prstGeom>
          <a:noFill/>
          <a:ln/>
        </p:spPr>
        <p:txBody>
          <a:bodyPr wrap="square" lIns="0" tIns="0" rIns="0" bIns="0" rtlCol="0" anchor="t"/>
          <a:lstStyle/>
          <a:p>
            <a:pPr indent="0" marL="0">
              <a:buNone/>
            </a:pPr>
            <a:r>
              <a:rPr lang="en-US" sz="1200" dirty="0">
                <a:solidFill>
                  <a:schemeClr val="tx2"/>
                </a:solidFill>
              </a:rPr>
              <a:t>i9-13900HX laptop, 48 GB, Docker Desktop on WSL2; client on the same host with 4 to 8 processes; 80% reads, 20% writes. Repeat 20 × 4 runs: 1,347 and 1,801 ops/s. With the default MAX_QUEUED_QUERIES of 25, 18% of the 200 × 20 requests were rejected. These are not server-capacity figures.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Honest limits and what's next</a:t>
            </a:r>
            <a:endParaRPr lang="en-US" sz="3400" dirty="0"/>
          </a:p>
        </p:txBody>
      </p:sp>
      <p:sp>
        <p:nvSpPr>
          <p:cNvPr id="3" name="text-217"/>
          <p:cNvSpPr txBox="1"/>
          <p:nvPr/>
        </p:nvSpPr>
        <p:spPr>
          <a:xfrm>
            <a:off x="548640" y="1325880"/>
            <a:ext cx="5486400" cy="274320"/>
          </a:xfrm>
          <a:prstGeom prst="rect">
            <a:avLst/>
          </a:prstGeom>
          <a:noFill/>
          <a:ln/>
        </p:spPr>
        <p:txBody>
          <a:bodyPr wrap="square" lIns="0" tIns="0" rIns="0" bIns="0" rtlCol="0" anchor="t"/>
          <a:lstStyle/>
          <a:p>
            <a:pPr indent="0" marL="0">
              <a:buNone/>
            </a:pPr>
            <a:r>
              <a:rPr lang="en-US" sz="1100" b="1" spc="100" kern="0" dirty="0">
                <a:solidFill>
                  <a:schemeClr val="tx2"/>
                </a:solidFill>
              </a:rPr>
              <a:t>LIMITS TODAY</a:t>
            </a:r>
            <a:endParaRPr lang="en-US" sz="1100" dirty="0"/>
          </a:p>
        </p:txBody>
      </p:sp>
      <p:sp>
        <p:nvSpPr>
          <p:cNvPr id="4" name="text-218"/>
          <p:cNvSpPr txBox="1"/>
          <p:nvPr/>
        </p:nvSpPr>
        <p:spPr>
          <a:xfrm>
            <a:off x="548640" y="1645920"/>
            <a:ext cx="576072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Synthetic data in a real FalkorDB. The demo graph replays reviewed labels; one live import is shown.</a:t>
            </a:r>
            <a:endParaRPr lang="en-US" sz="1400" dirty="0"/>
          </a:p>
          <a:p>
            <a:pPr marL="342900" indent="-342900">
              <a:spcAft>
                <a:spcPts val="600"/>
              </a:spcAft>
              <a:buSzPct val="100000"/>
              <a:buChar char="•"/>
            </a:pPr>
            <a:r>
              <a:rPr lang="en-US" sz="1400" dirty="0">
                <a:solidFill>
                  <a:schemeClr val="tx1"/>
                </a:solidFill>
              </a:rPr>
              <a:t>Live extraction with Gemma 4 26B: P 0.42 / R 0.59 strict (F1 0.49).</a:t>
            </a:r>
            <a:endParaRPr lang="en-US" sz="1400" dirty="0"/>
          </a:p>
          <a:p>
            <a:pPr marL="342900" indent="-342900">
              <a:spcAft>
                <a:spcPts val="600"/>
              </a:spcAft>
              <a:buSzPct val="100000"/>
              <a:buChar char="•"/>
            </a:pPr>
            <a:r>
              <a:rPr lang="en-US" sz="1400" dirty="0">
                <a:solidFill>
                  <a:schemeClr val="tx1"/>
                </a:solidFill>
              </a:rPr>
              <a:t>Demo answers are scripted graph templates, labelled on screen; Gemma answers take 7 to 17 s.</a:t>
            </a:r>
            <a:endParaRPr lang="en-US" sz="1400" dirty="0"/>
          </a:p>
          <a:p>
            <a:pPr marL="342900" indent="-342900">
              <a:spcAft>
                <a:spcPts val="600"/>
              </a:spcAft>
              <a:buSzPct val="100000"/>
              <a:buChar char="•"/>
            </a:pPr>
            <a:r>
              <a:rPr lang="en-US" sz="1400" dirty="0">
                <a:solidFill>
                  <a:schemeClr val="tx1"/>
                </a:solidFill>
              </a:rPr>
              <a:t>Work dependencies are authored, one per work item; none are inferred.</a:t>
            </a:r>
            <a:endParaRPr lang="en-US" sz="1400" dirty="0"/>
          </a:p>
          <a:p>
            <a:pPr marL="342900" indent="-342900">
              <a:spcAft>
                <a:spcPts val="600"/>
              </a:spcAft>
              <a:buSzPct val="100000"/>
              <a:buChar char="•"/>
            </a:pPr>
            <a:r>
              <a:rPr lang="en-US" sz="1400" dirty="0">
                <a:solidFill>
                  <a:schemeClr val="tx1"/>
                </a:solidFill>
              </a:rPr>
              <a:t>No HTTP user auth yet. GitHub issues are simulated; follow-up drafts stay local.</a:t>
            </a:r>
            <a:endParaRPr lang="en-US" sz="1400" dirty="0"/>
          </a:p>
        </p:txBody>
      </p:sp>
      <p:graphicFrame>
        <p:nvGraphicFramePr>
          <p:cNvPr id="5" name="chart-219" descr=""/>
          <p:cNvGraphicFramePr/>
          <p:nvPr/>
        </p:nvGraphicFramePr>
        <p:xfrm>
          <a:off x="6583680" y="1280160"/>
          <a:ext cx="5029200" cy="3108960"/>
        </p:xfrm>
        <a:graphic xmlns:a="http://schemas.openxmlformats.org/drawingml/2006/main">
          <a:graphicData uri="http://schemas.openxmlformats.org/drawingml/2006/chart">
            <c:chart xmlns:c="http://schemas.openxmlformats.org/drawingml/2006/chart" r:id="rId1"/>
          </a:graphicData>
        </a:graphic>
      </p:graphicFrame>
      <p:sp>
        <p:nvSpPr>
          <p:cNvPr id="6" name="text-220"/>
          <p:cNvSpPr txBox="1"/>
          <p:nvPr/>
        </p:nvSpPr>
        <p:spPr>
          <a:xfrm>
            <a:off x="548640" y="4800600"/>
            <a:ext cx="5486400" cy="274320"/>
          </a:xfrm>
          <a:prstGeom prst="rect">
            <a:avLst/>
          </a:prstGeom>
          <a:noFill/>
          <a:ln/>
        </p:spPr>
        <p:txBody>
          <a:bodyPr wrap="square" lIns="0" tIns="0" rIns="0" bIns="0" rtlCol="0" anchor="t"/>
          <a:lstStyle/>
          <a:p>
            <a:pPr indent="0" marL="0">
              <a:buNone/>
            </a:pPr>
            <a:r>
              <a:rPr lang="en-US" sz="1100" b="1" spc="100" kern="0" dirty="0">
                <a:solidFill>
                  <a:schemeClr val="tx2"/>
                </a:solidFill>
              </a:rPr>
              <a:t>NEXT</a:t>
            </a:r>
            <a:endParaRPr lang="en-US" sz="1100" dirty="0"/>
          </a:p>
        </p:txBody>
      </p:sp>
      <p:sp>
        <p:nvSpPr>
          <p:cNvPr id="7" name="node-221"/>
          <p:cNvSpPr txBox="1"/>
          <p:nvPr/>
        </p:nvSpPr>
        <p:spPr>
          <a:xfrm>
            <a:off x="548640" y="5120640"/>
            <a:ext cx="2606040" cy="868680"/>
          </a:xfrm>
          <a:prstGeom prst="roundRect">
            <a:avLst>
              <a:gd name="adj" fmla="val 12632"/>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300" b="1" dirty="0">
                <a:solidFill>
                  <a:schemeClr val="bg1"/>
                </a:solidFill>
              </a:rPr>
              <a:t>Per-team API key and an admin token</a:t>
            </a:r>
            <a:endParaRPr lang="en-US" sz="1300" dirty="0"/>
          </a:p>
        </p:txBody>
      </p:sp>
      <p:sp>
        <p:nvSpPr>
          <p:cNvPr id="8" name="node-222"/>
          <p:cNvSpPr txBox="1"/>
          <p:nvPr/>
        </p:nvSpPr>
        <p:spPr>
          <a:xfrm>
            <a:off x="3346704" y="5120640"/>
            <a:ext cx="2606040" cy="868680"/>
          </a:xfrm>
          <a:prstGeom prst="roundRect">
            <a:avLst>
              <a:gd name="adj" fmla="val 12632"/>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Unseen meeting and email test set, labels frozen</a:t>
            </a:r>
            <a:endParaRPr lang="en-US" sz="1300" dirty="0"/>
          </a:p>
        </p:txBody>
      </p:sp>
      <p:sp>
        <p:nvSpPr>
          <p:cNvPr id="9" name="node-223"/>
          <p:cNvSpPr txBox="1"/>
          <p:nvPr/>
        </p:nvSpPr>
        <p:spPr>
          <a:xfrm>
            <a:off x="6144768" y="5120640"/>
            <a:ext cx="2606040" cy="868680"/>
          </a:xfrm>
          <a:prstGeom prst="roundRect">
            <a:avLst>
              <a:gd name="adj" fmla="val 12632"/>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Task lease and reaper for the agents</a:t>
            </a:r>
            <a:endParaRPr lang="en-US" sz="1300" dirty="0"/>
          </a:p>
        </p:txBody>
      </p:sp>
      <p:sp>
        <p:nvSpPr>
          <p:cNvPr id="10" name="node-224"/>
          <p:cNvSpPr txBox="1"/>
          <p:nvPr/>
        </p:nvSpPr>
        <p:spPr>
          <a:xfrm>
            <a:off x="8942832" y="5120640"/>
            <a:ext cx="2606040" cy="868680"/>
          </a:xfrm>
          <a:prstGeom prst="roundRect">
            <a:avLst>
              <a:gd name="adj" fmla="val 12632"/>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File the three FalkorDB 6.0.1 findings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Tracks, stack, links and team</a:t>
            </a:r>
            <a:endParaRPr lang="en-US" sz="3400" dirty="0"/>
          </a:p>
        </p:txBody>
      </p:sp>
      <p:sp>
        <p:nvSpPr>
          <p:cNvPr id="3" name="text-225"/>
          <p:cNvSpPr txBox="1"/>
          <p:nvPr/>
        </p:nvSpPr>
        <p:spPr>
          <a:xfrm>
            <a:off x="548640" y="1325880"/>
            <a:ext cx="3291840" cy="274320"/>
          </a:xfrm>
          <a:prstGeom prst="rect">
            <a:avLst/>
          </a:prstGeom>
          <a:noFill/>
          <a:ln/>
        </p:spPr>
        <p:txBody>
          <a:bodyPr wrap="square" lIns="0" tIns="0" rIns="0" bIns="0" rtlCol="0" anchor="t"/>
          <a:lstStyle/>
          <a:p>
            <a:pPr indent="0" marL="0">
              <a:buNone/>
            </a:pPr>
            <a:r>
              <a:rPr lang="en-US" sz="1100" b="1" spc="100" kern="0" dirty="0">
                <a:solidFill>
                  <a:schemeClr val="tx2"/>
                </a:solidFill>
              </a:rPr>
              <a:t>TRACKS</a:t>
            </a:r>
            <a:endParaRPr lang="en-US" sz="1100" dirty="0"/>
          </a:p>
        </p:txBody>
      </p:sp>
      <p:sp>
        <p:nvSpPr>
          <p:cNvPr id="4" name="node-226"/>
          <p:cNvSpPr txBox="1"/>
          <p:nvPr/>
        </p:nvSpPr>
        <p:spPr>
          <a:xfrm>
            <a:off x="548640" y="1691640"/>
            <a:ext cx="3291840" cy="777240"/>
          </a:xfrm>
          <a:prstGeom prst="roundRect">
            <a:avLst>
              <a:gd name="adj" fmla="val 14118"/>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300" b="1" dirty="0">
                <a:solidFill>
                  <a:schemeClr val="bg1"/>
                </a:solidFill>
              </a:rPr>
              <a:t>Track 3 (primary)</a:t>
            </a:r>
            <a:endParaRPr lang="en-US" sz="1300" dirty="0"/>
          </a:p>
          <a:p>
            <a:pPr algn="ctr" indent="0" marL="0">
              <a:buNone/>
            </a:pPr>
            <a:r>
              <a:rPr lang="en-US" sz="1300" b="1" dirty="0">
                <a:solidFill>
                  <a:schemeClr val="bg1"/>
                </a:solidFill>
              </a:rPr>
              <a:t>Company Brain</a:t>
            </a:r>
            <a:endParaRPr lang="en-US" sz="1300" dirty="0"/>
          </a:p>
        </p:txBody>
      </p:sp>
      <p:sp>
        <p:nvSpPr>
          <p:cNvPr id="5" name="node-227"/>
          <p:cNvSpPr txBox="1"/>
          <p:nvPr/>
        </p:nvSpPr>
        <p:spPr>
          <a:xfrm>
            <a:off x="548640" y="2651760"/>
            <a:ext cx="3291840" cy="777240"/>
          </a:xfrm>
          <a:prstGeom prst="roundRect">
            <a:avLst>
              <a:gd name="adj" fmla="val 14118"/>
            </a:avLst>
          </a:prstGeom>
          <a:solidFill>
            <a:schemeClr val="bg1"/>
          </a:solidFill>
          <a:ln w="15875">
            <a:solidFill>
              <a:schemeClr val="accent1"/>
            </a:solidFill>
          </a:ln>
        </p:spPr>
        <p:txBody>
          <a:bodyPr wrap="square" lIns="25400" tIns="25400" rIns="25400" bIns="25400" rtlCol="0" anchor="ctr"/>
          <a:lstStyle/>
          <a:p>
            <a:pPr algn="ctr" indent="0" marL="0">
              <a:buNone/>
            </a:pPr>
            <a:r>
              <a:rPr lang="en-US" sz="1300" b="1" dirty="0">
                <a:solidFill>
                  <a:schemeClr val="tx1"/>
                </a:solidFill>
              </a:rPr>
              <a:t>Track 2</a:t>
            </a:r>
            <a:endParaRPr lang="en-US" sz="1300" dirty="0"/>
          </a:p>
          <a:p>
            <a:pPr algn="ctr" indent="0" marL="0">
              <a:buNone/>
            </a:pPr>
            <a:r>
              <a:rPr lang="en-US" sz="1300" b="1" dirty="0">
                <a:solidFill>
                  <a:schemeClr val="tx1"/>
                </a:solidFill>
              </a:rPr>
              <a:t>Agent Memory and Coordination</a:t>
            </a:r>
            <a:endParaRPr lang="en-US" sz="1300" dirty="0"/>
          </a:p>
        </p:txBody>
      </p:sp>
      <p:sp>
        <p:nvSpPr>
          <p:cNvPr id="6" name="text-228"/>
          <p:cNvSpPr txBox="1"/>
          <p:nvPr/>
        </p:nvSpPr>
        <p:spPr>
          <a:xfrm>
            <a:off x="4251960" y="1325880"/>
            <a:ext cx="3840480" cy="274320"/>
          </a:xfrm>
          <a:prstGeom prst="rect">
            <a:avLst/>
          </a:prstGeom>
          <a:noFill/>
          <a:ln/>
        </p:spPr>
        <p:txBody>
          <a:bodyPr wrap="square" lIns="0" tIns="0" rIns="0" bIns="0" rtlCol="0" anchor="t"/>
          <a:lstStyle/>
          <a:p>
            <a:pPr indent="0" marL="0">
              <a:buNone/>
            </a:pPr>
            <a:r>
              <a:rPr lang="en-US" sz="1100" b="1" spc="100" kern="0" dirty="0">
                <a:solidFill>
                  <a:schemeClr val="tx2"/>
                </a:solidFill>
              </a:rPr>
              <a:t>STACK: OPEN MODELS, OPEN-SOURCE GRAPH DB</a:t>
            </a:r>
            <a:endParaRPr lang="en-US" sz="1100" dirty="0"/>
          </a:p>
        </p:txBody>
      </p:sp>
      <p:sp>
        <p:nvSpPr>
          <p:cNvPr id="7" name="node-229"/>
          <p:cNvSpPr txBox="1"/>
          <p:nvPr/>
        </p:nvSpPr>
        <p:spPr>
          <a:xfrm>
            <a:off x="4251960" y="1691640"/>
            <a:ext cx="1828800" cy="457200"/>
          </a:xfrm>
          <a:prstGeom prst="roundRect">
            <a:avLst>
              <a:gd name="adj" fmla="val 24000"/>
            </a:avLst>
          </a:prstGeom>
          <a:solidFill>
            <a:schemeClr val="accent1"/>
          </a:solidFill>
          <a:ln w="15875">
            <a:solidFill>
              <a:schemeClr val="accent1"/>
            </a:solidFill>
          </a:ln>
        </p:spPr>
        <p:txBody>
          <a:bodyPr wrap="square" lIns="25400" tIns="25400" rIns="25400" bIns="25400" rtlCol="0" anchor="ctr"/>
          <a:lstStyle/>
          <a:p>
            <a:pPr algn="ctr" indent="0" marL="0">
              <a:buNone/>
            </a:pPr>
            <a:r>
              <a:rPr lang="en-US" sz="1200" b="1" dirty="0">
                <a:solidFill>
                  <a:schemeClr val="bg1"/>
                </a:solidFill>
              </a:rPr>
              <a:t>FalkorDB 6.0.1</a:t>
            </a:r>
            <a:endParaRPr lang="en-US" sz="1200" dirty="0"/>
          </a:p>
        </p:txBody>
      </p:sp>
      <p:sp>
        <p:nvSpPr>
          <p:cNvPr id="8" name="node-230"/>
          <p:cNvSpPr txBox="1"/>
          <p:nvPr/>
        </p:nvSpPr>
        <p:spPr>
          <a:xfrm>
            <a:off x="6217920" y="1691640"/>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Redis pub/sub</a:t>
            </a:r>
            <a:endParaRPr lang="en-US" sz="1200" dirty="0"/>
          </a:p>
        </p:txBody>
      </p:sp>
      <p:sp>
        <p:nvSpPr>
          <p:cNvPr id="9" name="node-231"/>
          <p:cNvSpPr txBox="1"/>
          <p:nvPr/>
        </p:nvSpPr>
        <p:spPr>
          <a:xfrm>
            <a:off x="4251960" y="2258568"/>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Gemma 4 26B (Gemini API)</a:t>
            </a:r>
            <a:endParaRPr lang="en-US" sz="1200" dirty="0"/>
          </a:p>
        </p:txBody>
      </p:sp>
      <p:sp>
        <p:nvSpPr>
          <p:cNvPr id="10" name="node-232"/>
          <p:cNvSpPr txBox="1"/>
          <p:nvPr/>
        </p:nvSpPr>
        <p:spPr>
          <a:xfrm>
            <a:off x="6217920" y="2258568"/>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EmbeddingGemma (CPU)</a:t>
            </a:r>
            <a:endParaRPr lang="en-US" sz="1200" dirty="0"/>
          </a:p>
        </p:txBody>
      </p:sp>
      <p:sp>
        <p:nvSpPr>
          <p:cNvPr id="11" name="node-233"/>
          <p:cNvSpPr txBox="1"/>
          <p:nvPr/>
        </p:nvSpPr>
        <p:spPr>
          <a:xfrm>
            <a:off x="4251960" y="2825496"/>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JavaScript UDF</a:t>
            </a:r>
            <a:endParaRPr lang="en-US" sz="1200" dirty="0"/>
          </a:p>
        </p:txBody>
      </p:sp>
      <p:sp>
        <p:nvSpPr>
          <p:cNvPr id="12" name="node-234"/>
          <p:cNvSpPr txBox="1"/>
          <p:nvPr/>
        </p:nvSpPr>
        <p:spPr>
          <a:xfrm>
            <a:off x="6217920" y="2825496"/>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FastAPI, Python</a:t>
            </a:r>
            <a:endParaRPr lang="en-US" sz="1200" dirty="0"/>
          </a:p>
        </p:txBody>
      </p:sp>
      <p:sp>
        <p:nvSpPr>
          <p:cNvPr id="13" name="node-235"/>
          <p:cNvSpPr txBox="1"/>
          <p:nvPr/>
        </p:nvSpPr>
        <p:spPr>
          <a:xfrm>
            <a:off x="4251960" y="3392424"/>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Next.js</a:t>
            </a:r>
            <a:endParaRPr lang="en-US" sz="1200" dirty="0"/>
          </a:p>
        </p:txBody>
      </p:sp>
      <p:sp>
        <p:nvSpPr>
          <p:cNvPr id="14" name="node-236"/>
          <p:cNvSpPr txBox="1"/>
          <p:nvPr/>
        </p:nvSpPr>
        <p:spPr>
          <a:xfrm>
            <a:off x="6217920" y="3392424"/>
            <a:ext cx="1828800" cy="457200"/>
          </a:xfrm>
          <a:prstGeom prst="roundRect">
            <a:avLst>
              <a:gd name="adj" fmla="val 24000"/>
            </a:avLst>
          </a:prstGeom>
          <a:solidFill>
            <a:schemeClr val="accent2"/>
          </a:solidFill>
          <a:ln w="15875">
            <a:solidFill>
              <a:schemeClr val="accent2"/>
            </a:solidFill>
          </a:ln>
        </p:spPr>
        <p:txBody>
          <a:bodyPr wrap="square" lIns="25400" tIns="25400" rIns="25400" bIns="25400" rtlCol="0" anchor="ctr"/>
          <a:lstStyle/>
          <a:p>
            <a:pPr algn="ctr" indent="0" marL="0">
              <a:buNone/>
            </a:pPr>
            <a:r>
              <a:rPr lang="en-US" sz="1200" dirty="0">
                <a:solidFill>
                  <a:schemeClr val="tx1"/>
                </a:solidFill>
              </a:rPr>
              <a:t>MCP server</a:t>
            </a:r>
            <a:endParaRPr lang="en-US" sz="1200" dirty="0"/>
          </a:p>
        </p:txBody>
      </p:sp>
      <p:sp>
        <p:nvSpPr>
          <p:cNvPr id="15" name="text-237"/>
          <p:cNvSpPr txBox="1"/>
          <p:nvPr/>
        </p:nvSpPr>
        <p:spPr>
          <a:xfrm>
            <a:off x="8503920" y="1325880"/>
            <a:ext cx="3108960" cy="274320"/>
          </a:xfrm>
          <a:prstGeom prst="rect">
            <a:avLst/>
          </a:prstGeom>
          <a:noFill/>
          <a:ln/>
        </p:spPr>
        <p:txBody>
          <a:bodyPr wrap="square" lIns="0" tIns="0" rIns="0" bIns="0" rtlCol="0" anchor="t"/>
          <a:lstStyle/>
          <a:p>
            <a:pPr indent="0" marL="0">
              <a:buNone/>
            </a:pPr>
            <a:r>
              <a:rPr lang="en-US" sz="1100" b="1" spc="100" kern="0" dirty="0">
                <a:solidFill>
                  <a:schemeClr val="tx2"/>
                </a:solidFill>
              </a:rPr>
              <a:t>TEAM VULCAN</a:t>
            </a:r>
            <a:endParaRPr lang="en-US" sz="1100" dirty="0"/>
          </a:p>
        </p:txBody>
      </p:sp>
      <p:sp>
        <p:nvSpPr>
          <p:cNvPr id="16" name="text-238"/>
          <p:cNvSpPr txBox="1"/>
          <p:nvPr/>
        </p:nvSpPr>
        <p:spPr>
          <a:xfrm>
            <a:off x="8503920" y="1691640"/>
            <a:ext cx="3108960" cy="2926080"/>
          </a:xfrm>
          <a:prstGeom prst="rect">
            <a:avLst/>
          </a:prstGeom>
          <a:noFill/>
          <a:ln/>
        </p:spPr>
        <p:txBody>
          <a:bodyPr wrap="square" lIns="0" tIns="0" rIns="0" bIns="0" rtlCol="0" anchor="t"/>
          <a:lstStyle/>
          <a:p>
            <a:pPr indent="0" marL="0">
              <a:buNone/>
            </a:pPr>
            <a:r>
              <a:rPr lang="en-US" sz="1500" b="1" dirty="0">
                <a:solidFill>
                  <a:schemeClr val="tx1"/>
                </a:solidFill>
              </a:rPr>
              <a:t>Pallab Das</a:t>
            </a:r>
            <a:endParaRPr lang="en-US" sz="1500" dirty="0"/>
          </a:p>
          <a:p>
            <a:pPr indent="0" marL="0">
              <a:buNone/>
            </a:pPr>
            <a:r>
              <a:rPr lang="en-US" sz="1500" dirty="0">
                <a:solidFill>
                  <a:schemeClr val="tx2"/>
                </a:solidFill>
              </a:rPr>
              <a:t>@PDGamerSG</a:t>
            </a:r>
            <a:endParaRPr lang="en-US" sz="1500" dirty="0"/>
          </a:p>
          <a:p>
            <a:pPr indent="0" marL="0">
              <a:buNone/>
            </a:pPr>
            <a:r>
              <a:rPr lang="en-US" sz="1500" b="1" dirty="0">
                <a:solidFill>
                  <a:schemeClr val="tx1"/>
                </a:solidFill>
              </a:rPr>
              <a:t>Yuvraj Singh</a:t>
            </a:r>
            <a:endParaRPr lang="en-US" sz="1500" dirty="0"/>
          </a:p>
          <a:p>
            <a:pPr indent="0" marL="0">
              <a:buNone/>
            </a:pPr>
            <a:r>
              <a:rPr lang="en-US" sz="1500" dirty="0">
                <a:solidFill>
                  <a:schemeClr val="tx2"/>
                </a:solidFill>
              </a:rPr>
              <a:t>@Yuvraj-025</a:t>
            </a:r>
            <a:endParaRPr lang="en-US" sz="1500" dirty="0"/>
          </a:p>
          <a:p>
            <a:pPr indent="0" marL="0">
              <a:buNone/>
            </a:pPr>
            <a:r>
              <a:rPr lang="en-US" sz="1500" b="1" dirty="0">
                <a:solidFill>
                  <a:schemeClr val="tx1"/>
                </a:solidFill>
              </a:rPr>
              <a:t>Rudra Pratap</a:t>
            </a:r>
            <a:endParaRPr lang="en-US" sz="1500" dirty="0"/>
          </a:p>
          <a:p>
            <a:pPr indent="0" marL="0">
              <a:buNone/>
            </a:pPr>
            <a:r>
              <a:rPr lang="en-US" sz="1500" dirty="0">
                <a:solidFill>
                  <a:schemeClr val="tx2"/>
                </a:solidFill>
              </a:rPr>
              <a:t>@rpratap2111</a:t>
            </a:r>
            <a:endParaRPr lang="en-US" sz="1500" dirty="0"/>
          </a:p>
          <a:p>
            <a:pPr indent="0" marL="0">
              <a:buNone/>
            </a:pPr>
            <a:r>
              <a:rPr lang="en-US" sz="1500" b="1" dirty="0">
                <a:solidFill>
                  <a:schemeClr val="tx1"/>
                </a:solidFill>
              </a:rPr>
              <a:t>Aditya Arnav</a:t>
            </a:r>
            <a:endParaRPr lang="en-US" sz="1500" dirty="0"/>
          </a:p>
          <a:p>
            <a:pPr indent="0" marL="0">
              <a:buNone/>
            </a:pPr>
            <a:r>
              <a:rPr lang="en-US" sz="1500" dirty="0">
                <a:solidFill>
                  <a:schemeClr val="tx2"/>
                </a:solidFill>
              </a:rPr>
              <a:t>@Hydra-Of-Malice</a:t>
            </a:r>
            <a:endParaRPr lang="en-US" sz="1500" dirty="0"/>
          </a:p>
        </p:txBody>
      </p:sp>
      <p:sp>
        <p:nvSpPr>
          <p:cNvPr id="17" name="card-239"/>
          <p:cNvSpPr/>
          <p:nvPr/>
        </p:nvSpPr>
        <p:spPr>
          <a:xfrm>
            <a:off x="548640" y="4160520"/>
            <a:ext cx="11064240" cy="960120"/>
          </a:xfrm>
          <a:prstGeom prst="roundRect">
            <a:avLst>
              <a:gd name="adj" fmla="val 9524"/>
            </a:avLst>
          </a:prstGeom>
          <a:solidFill>
            <a:schemeClr val="bg1"/>
          </a:solidFill>
          <a:ln w="22225">
            <a:solidFill>
              <a:schemeClr val="accent1"/>
            </a:solidFill>
            <a:prstDash val="solid"/>
          </a:ln>
        </p:spPr>
      </p:sp>
      <p:sp>
        <p:nvSpPr>
          <p:cNvPr id="18" name="text-240"/>
          <p:cNvSpPr txBox="1"/>
          <p:nvPr/>
        </p:nvSpPr>
        <p:spPr>
          <a:xfrm>
            <a:off x="822960" y="4297680"/>
            <a:ext cx="10515600" cy="8686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Repo  </a:t>
            </a:r>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github.com/Hydra-Of-Malice/FalkorDB</a:t>
            </a:r>
            <a:endParaRPr lang="en-US" sz="1600" dirty="0"/>
          </a:p>
          <a:p>
            <a:pPr indent="0" marL="0">
              <a:spcAft>
                <a:spcPts val="400"/>
              </a:spcAft>
              <a:buNone/>
            </a:pPr>
            <a:r>
              <a:rPr lang="en-US" sz="1600" dirty="0">
                <a:solidFill>
                  <a:schemeClr val="tx2"/>
                </a:solidFill>
              </a:rPr>
              <a:t>Video, key Cypher, setup and the AI-assistance disclosure are linked from the README.</a:t>
            </a:r>
            <a:endParaRPr lang="en-US" sz="1600" dirty="0"/>
          </a:p>
        </p:txBody>
      </p:sp>
      <p:sp>
        <p:nvSpPr>
          <p:cNvPr id="19" name="text-241"/>
          <p:cNvSpPr txBox="1"/>
          <p:nvPr/>
        </p:nvSpPr>
        <p:spPr>
          <a:xfrm>
            <a:off x="548640" y="5440680"/>
            <a:ext cx="11064240" cy="411480"/>
          </a:xfrm>
          <a:prstGeom prst="rect">
            <a:avLst/>
          </a:prstGeom>
          <a:noFill/>
          <a:ln/>
        </p:spPr>
        <p:txBody>
          <a:bodyPr wrap="square" lIns="0" tIns="0" rIns="0" bIns="0" rtlCol="0" anchor="t"/>
          <a:lstStyle/>
          <a:p>
            <a:pPr indent="0" marL="0">
              <a:buNone/>
            </a:pPr>
            <a:r>
              <a:rPr lang="en-US" sz="1800" i="1" dirty="0">
                <a:solidFill>
                  <a:schemeClr val="accent1"/>
                </a:solidFill>
              </a:rPr>
              <a:t>Who owns the work, why it changed, and what the change affects.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inutes">
  <a:themeElements>
    <a:clrScheme name="Minutes">
      <a:dk1>
        <a:srgbClr val="182138"/>
      </a:dk1>
      <a:lt1>
        <a:srgbClr val="FFFFFF"/>
      </a:lt1>
      <a:dk2>
        <a:srgbClr val="566079"/>
      </a:dk2>
      <a:lt2>
        <a:srgbClr val="F2F5FF"/>
      </a:lt2>
      <a:accent1>
        <a:srgbClr val="3155ED"/>
      </a:accent1>
      <a:accent2>
        <a:srgbClr val="DCE3FD"/>
      </a:accent2>
      <a:accent3>
        <a:srgbClr val="8C95A8"/>
      </a:accent3>
      <a:accent4>
        <a:srgbClr val="E3E7EF"/>
      </a:accent4>
      <a:accent5>
        <a:srgbClr val="0F1A3A"/>
      </a:accent5>
      <a:accent6>
        <a:srgbClr val="B8C6FA"/>
      </a:accent6>
      <a:hlink>
        <a:srgbClr val="3155ED"/>
      </a:hlink>
      <a:folHlink>
        <a:srgbClr val="566079"/>
      </a:folHlink>
    </a:clrScheme>
    <a:fontScheme name="Minut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Team Vulcan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Minutes: pitch deck (Track 3 and Track 2)</dc:title>
  <dc:subject>PptxGenJS Presentation</dc:subject>
  <dc:creator>Team Vulcan</dc:creator>
  <cp:lastModifiedBy>Team Vulcan</cp:lastModifiedBy>
  <cp:revision>1</cp:revision>
  <dcterms:created xsi:type="dcterms:W3CDTF">2026-10-11T22:24:26Z</dcterms:created>
  <dcterms:modified xsi:type="dcterms:W3CDTF">2026-10-11T22:24:26Z</dcterms:modified>
</cp:coreProperties>
</file>